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hxTD5rSNsS42FdriaCJPa7MCmi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a4a40d2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2a4a40d2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2a4a40d27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aff4d1434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2aff4d1434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aff4d1434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2aff4d1434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aff4d143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2aff4d143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aff4d1434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2aff4d1434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aff4d1434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2aff4d1434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ff4d1434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2aff4d1434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aff4d1434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2aff4d1434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aff4d1434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2aff4d1434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aff4d1434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2aff4d1434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aff4d1434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2aff4d1434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aff4d1434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2aff4d1434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ee55a65f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2ee55a65f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aff4d1434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2aff4d1434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2ee55a65f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2ee55a65f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2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2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2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26" name="Google Shape;26;p32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2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40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3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3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Dr. Mian M. Hamayun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mian.hamayun@seecs.edu.pk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http://seecs.nust.edu.pk/faculty/mianhamayun.html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&gt;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−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9BA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31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yesha.kanwal@seecs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5287538/how-can-i-get-the-user-input-in-java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a4a40d278_0_0"/>
          <p:cNvSpPr txBox="1">
            <a:spLocks noGrp="1"/>
          </p:cNvSpPr>
          <p:nvPr>
            <p:ph type="ctrTitle"/>
          </p:nvPr>
        </p:nvSpPr>
        <p:spPr>
          <a:xfrm>
            <a:off x="990600" y="6858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C00000"/>
                </a:solidFill>
              </a:rPr>
              <a:t>CS212: Object-Oriented Programming</a:t>
            </a:r>
            <a:endParaRPr/>
          </a:p>
        </p:txBody>
      </p:sp>
      <p:sp>
        <p:nvSpPr>
          <p:cNvPr id="104" name="Google Shape;104;g32a4a40d278_0_0"/>
          <p:cNvSpPr txBox="1">
            <a:spLocks noGrp="1"/>
          </p:cNvSpPr>
          <p:nvPr>
            <p:ph type="subTitle" idx="1"/>
          </p:nvPr>
        </p:nvSpPr>
        <p:spPr>
          <a:xfrm>
            <a:off x="990600" y="1752600"/>
            <a:ext cx="6781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5" name="Google Shape;105;g32a4a40d278_0_0"/>
          <p:cNvSpPr txBox="1"/>
          <p:nvPr/>
        </p:nvSpPr>
        <p:spPr>
          <a:xfrm>
            <a:off x="990600" y="5105400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714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4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Ayesha Kanwal</a:t>
            </a:r>
            <a:endParaRPr sz="3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Ayesha.kanwal@seecs.edu.pk</a:t>
            </a:r>
            <a:endParaRPr sz="2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Slides Courtesy (Dr Nazia </a:t>
            </a:r>
            <a:r>
              <a:rPr lang="en-US" sz="2400" dirty="0" err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Perwaiz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SEECS)</a:t>
            </a: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2a4a40d278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8450" y="5019675"/>
            <a:ext cx="24955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98075" y="1722175"/>
            <a:ext cx="8226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object-oriented programming basics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 Object-oriented analysis-and-design (OOAD) process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a typical Java program development environment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simple Java applications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aff4d1434_1_11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9" name="Google Shape;119;g32aff4d1434_1_119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Paradigms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2aff4d1434_1_119" descr="Difference Between OOP and POP (with Comparison Chart) - Tech Differenc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985" y="2164103"/>
            <a:ext cx="6488085" cy="3763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aff4d1434_1_2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6" name="Google Shape;126;g32aff4d1434_1_21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Paradigms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g32aff4d1434_1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425" y="2057400"/>
            <a:ext cx="865995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aff4d1434_1_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Core Concepts of OOP</a:t>
            </a:r>
            <a:endParaRPr/>
          </a:p>
        </p:txBody>
      </p:sp>
      <p:sp>
        <p:nvSpPr>
          <p:cNvPr id="133" name="Google Shape;133;g32aff4d1434_1_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4" name="Google Shape;134;g32aff4d1434_1_0" descr="12 Difference Between Procedural And Object Oriented Programming With  Examples - Viva Differenc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219200"/>
            <a:ext cx="6400800" cy="5131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aff4d1434_1_4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Class/ Object</a:t>
            </a:r>
            <a:endParaRPr/>
          </a:p>
        </p:txBody>
      </p:sp>
      <p:sp>
        <p:nvSpPr>
          <p:cNvPr id="140" name="Google Shape;140;g32aff4d1434_1_4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1" name="Google Shape;141;g32aff4d1434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693850"/>
            <a:ext cx="8395950" cy="413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2aff4d1434_1_43"/>
          <p:cNvSpPr txBox="1"/>
          <p:nvPr/>
        </p:nvSpPr>
        <p:spPr>
          <a:xfrm>
            <a:off x="998000" y="62060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 task: Section 1.5.1 to 1.5.8</a:t>
            </a:r>
            <a:endParaRPr sz="18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aff4d1434_1_4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object-oriented analysis-and-design (OOAD) process</a:t>
            </a:r>
            <a:endParaRPr/>
          </a:p>
        </p:txBody>
      </p:sp>
      <p:sp>
        <p:nvSpPr>
          <p:cNvPr id="148" name="Google Shape;148;g32aff4d1434_1_4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9" name="Google Shape;149;g32aff4d1434_1_49"/>
          <p:cNvSpPr txBox="1"/>
          <p:nvPr/>
        </p:nvSpPr>
        <p:spPr>
          <a:xfrm>
            <a:off x="369050" y="1537675"/>
            <a:ext cx="79635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analysis process for determining your project’s requirements (i.e., defining </a:t>
            </a:r>
            <a:r>
              <a:rPr lang="en-US" sz="24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what the system is supposed to do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Developing a design that satisfies them (i.e., specifying </a:t>
            </a:r>
            <a:r>
              <a:rPr lang="en-US" sz="24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how the system should do it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g32aff4d1434_1_49"/>
          <p:cNvGrpSpPr/>
          <p:nvPr/>
        </p:nvGrpSpPr>
        <p:grpSpPr>
          <a:xfrm>
            <a:off x="4642250" y="4560750"/>
            <a:ext cx="2828400" cy="1940400"/>
            <a:chOff x="4642250" y="4560750"/>
            <a:chExt cx="2828400" cy="1940400"/>
          </a:xfrm>
        </p:grpSpPr>
        <p:sp>
          <p:nvSpPr>
            <p:cNvPr id="151" name="Google Shape;151;g32aff4d1434_1_49"/>
            <p:cNvSpPr/>
            <p:nvPr/>
          </p:nvSpPr>
          <p:spPr>
            <a:xfrm>
              <a:off x="4642250" y="4560750"/>
              <a:ext cx="2828400" cy="1940400"/>
            </a:xfrm>
            <a:prstGeom prst="cloudCallout">
              <a:avLst>
                <a:gd name="adj1" fmla="val -68872"/>
                <a:gd name="adj2" fmla="val -57857"/>
              </a:avLst>
            </a:prstGeom>
            <a:solidFill>
              <a:srgbClr val="FF7605"/>
            </a:solidFill>
            <a:ln w="15875" cap="flat" cmpd="sng">
              <a:solidFill>
                <a:srgbClr val="BA56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g32aff4d1434_1_49"/>
            <p:cNvSpPr txBox="1"/>
            <p:nvPr/>
          </p:nvSpPr>
          <p:spPr>
            <a:xfrm>
              <a:off x="5085925" y="5027146"/>
              <a:ext cx="21075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262D35"/>
                  </a:solidFill>
                  <a:latin typeface="Calibri"/>
                  <a:ea typeface="Calibri"/>
                  <a:cs typeface="Calibri"/>
                  <a:sym typeface="Calibri"/>
                </a:rPr>
                <a:t>Standard Tool?</a:t>
              </a:r>
              <a:endParaRPr sz="2800" b="1" dirty="0">
                <a:solidFill>
                  <a:srgbClr val="262D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aff4d1434_1_6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object-oriented analysis-and-design (OOAD) process</a:t>
            </a:r>
            <a:endParaRPr/>
          </a:p>
        </p:txBody>
      </p:sp>
      <p:sp>
        <p:nvSpPr>
          <p:cNvPr id="158" name="Google Shape;158;g32aff4d1434_1_6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9" name="Google Shape;159;g32aff4d1434_1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25" y="3491200"/>
            <a:ext cx="8569924" cy="2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2aff4d1434_1_64"/>
          <p:cNvSpPr txBox="1"/>
          <p:nvPr/>
        </p:nvSpPr>
        <p:spPr>
          <a:xfrm>
            <a:off x="269975" y="1799050"/>
            <a:ext cx="88248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»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UML </a:t>
            </a:r>
            <a:r>
              <a:rPr lang="en-US" sz="24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(Unified Modeling Language)</a:t>
            </a:r>
            <a:endParaRPr sz="2400"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3238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˃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widely used graphical scheme for modeling object oriented systems.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Classes</a:t>
            </a:r>
            <a:endParaRPr sz="360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Include methods that perform tasks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+"/>
            </a:pPr>
            <a:r>
              <a:rPr lang="en-US" sz="2400"/>
              <a:t>Return information after task completion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Used to build Java programs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Java provides class libraries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Known as Java APIs (Application Programming Interfaces) 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Java Class Libraries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4648200"/>
            <a:ext cx="8000999" cy="201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Use a building-block approach to create programs. Avoid reinventing the wheel—use existing pieces wherever possible. Called </a:t>
            </a:r>
            <a:r>
              <a:rPr lang="en-US" sz="2800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software reuse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, this practice is central to object-oriented programming.</a:t>
            </a:r>
            <a:endParaRPr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aff4d1434_1_7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Java programs normally undergo five phases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/>
              <a:t>1.	Edit</a:t>
            </a:r>
            <a:endParaRPr/>
          </a:p>
          <a:p>
            <a:pPr marL="1371600" lvl="2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Programmer writes program/ source code (and stores program on disk)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74" name="Google Shape;174;g32aff4d1434_1_7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Typical Java Development Environment</a:t>
            </a:r>
            <a:endParaRPr/>
          </a:p>
        </p:txBody>
      </p:sp>
      <p:sp>
        <p:nvSpPr>
          <p:cNvPr id="175" name="Google Shape;175;g32aff4d1434_1_7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6" name="Google Shape;176;g32aff4d1434_1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00" y="3886199"/>
            <a:ext cx="8153400" cy="168125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2aff4d1434_1_78"/>
          <p:cNvSpPr txBox="1"/>
          <p:nvPr/>
        </p:nvSpPr>
        <p:spPr>
          <a:xfrm>
            <a:off x="998000" y="64346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ook reading task: Section 1.9</a:t>
            </a:r>
            <a:endParaRPr sz="18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aff4d1434_1_84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Java programs normally undergo five phases</a:t>
            </a:r>
            <a:endParaRPr/>
          </a:p>
          <a:p>
            <a:pPr marL="74295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/>
              <a:t>2.	Compile</a:t>
            </a:r>
            <a:endParaRPr/>
          </a:p>
          <a:p>
            <a:pPr marL="1371600" lvl="2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Compiler creates </a:t>
            </a:r>
            <a:r>
              <a:rPr lang="en-US" sz="2400">
                <a:solidFill>
                  <a:srgbClr val="FF0066"/>
                </a:solidFill>
              </a:rPr>
              <a:t>bytecodes </a:t>
            </a:r>
            <a:r>
              <a:rPr lang="en-US" sz="2400"/>
              <a:t>from source code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83" name="Google Shape;183;g32aff4d1434_1_8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Typical Java Development Environment</a:t>
            </a:r>
            <a:endParaRPr/>
          </a:p>
        </p:txBody>
      </p:sp>
      <p:sp>
        <p:nvSpPr>
          <p:cNvPr id="184" name="Google Shape;184;g32aff4d1434_1_8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85" name="Google Shape;185;g32aff4d1434_1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7" y="3759982"/>
            <a:ext cx="8267900" cy="18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2aff4d1434_1_84"/>
          <p:cNvSpPr txBox="1"/>
          <p:nvPr/>
        </p:nvSpPr>
        <p:spPr>
          <a:xfrm>
            <a:off x="998000" y="64346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ook reading task: Section 1.9</a:t>
            </a:r>
            <a:endParaRPr sz="18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aff4d1434_1_90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15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Java programs normally undergo five phases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/>
              <a:t>3.	Load</a:t>
            </a:r>
            <a:endParaRPr/>
          </a:p>
          <a:p>
            <a:pPr marL="1371600" lvl="2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the JVM places the program in memory to execute it</a:t>
            </a:r>
            <a:endParaRPr/>
          </a:p>
        </p:txBody>
      </p:sp>
      <p:sp>
        <p:nvSpPr>
          <p:cNvPr id="192" name="Google Shape;192;g32aff4d1434_1_9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Typical Java Development Environment</a:t>
            </a:r>
            <a:endParaRPr/>
          </a:p>
        </p:txBody>
      </p:sp>
      <p:sp>
        <p:nvSpPr>
          <p:cNvPr id="193" name="Google Shape;193;g32aff4d1434_1_9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94" name="Google Shape;194;g32aff4d1434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50" y="3429006"/>
            <a:ext cx="7485325" cy="301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2aff4d1434_1_90"/>
          <p:cNvSpPr txBox="1"/>
          <p:nvPr/>
        </p:nvSpPr>
        <p:spPr>
          <a:xfrm>
            <a:off x="998000" y="64346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ook reading task: Section 1.9</a:t>
            </a:r>
            <a:endParaRPr sz="18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aff4d1434_1_9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Java programs normally undergo five phases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/>
              <a:t>4.	Verify</a:t>
            </a:r>
            <a:endParaRPr/>
          </a:p>
          <a:p>
            <a:pPr marL="1371600" lvl="2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Bytecode Verifier confirms bytecodes do not violate security restrictions</a:t>
            </a:r>
            <a:endParaRPr/>
          </a:p>
          <a:p>
            <a:pPr marL="177800" lvl="0" indent="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01" name="Google Shape;201;g32aff4d1434_1_9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Typical Java Development Environment</a:t>
            </a:r>
            <a:endParaRPr/>
          </a:p>
        </p:txBody>
      </p:sp>
      <p:sp>
        <p:nvSpPr>
          <p:cNvPr id="202" name="Google Shape;202;g32aff4d1434_1_9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03" name="Google Shape;203;g32aff4d1434_1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94" y="3675200"/>
            <a:ext cx="7702425" cy="27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2aff4d1434_1_98"/>
          <p:cNvSpPr txBox="1"/>
          <p:nvPr/>
        </p:nvSpPr>
        <p:spPr>
          <a:xfrm>
            <a:off x="998000" y="64346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 task: Section 1.9</a:t>
            </a:r>
            <a:endParaRPr sz="18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aff4d1434_1_106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Java programs normally undergo five phases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/>
              <a:t>5.	Execute</a:t>
            </a:r>
            <a:endParaRPr/>
          </a:p>
          <a:p>
            <a:pPr marL="1371600" lvl="2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JVM translates bytecodes into machine language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10" name="Google Shape;210;g32aff4d1434_1_10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Typical Java Development Environment</a:t>
            </a:r>
            <a:endParaRPr/>
          </a:p>
        </p:txBody>
      </p:sp>
      <p:sp>
        <p:nvSpPr>
          <p:cNvPr id="211" name="Google Shape;211;g32aff4d1434_1_10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12" name="Google Shape;212;g32aff4d1434_1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82" y="3429000"/>
            <a:ext cx="8080237" cy="2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2aff4d1434_1_106"/>
          <p:cNvSpPr txBox="1"/>
          <p:nvPr/>
        </p:nvSpPr>
        <p:spPr>
          <a:xfrm>
            <a:off x="998000" y="6434650"/>
            <a:ext cx="696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 task: Section 1.9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 Program in Java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7"/>
          <p:cNvGraphicFramePr/>
          <p:nvPr/>
        </p:nvGraphicFramePr>
        <p:xfrm>
          <a:off x="457200" y="1066800"/>
          <a:ext cx="6028299" cy="503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028299" imgH="5038724" progId="Word.Document.8">
                  <p:embed/>
                </p:oleObj>
              </mc:Choice>
              <mc:Fallback>
                <p:oleObj r:id="rId3" imgW="6028299" imgH="5038724" progId="Word.Document.8">
                  <p:embed/>
                  <p:pic>
                    <p:nvPicPr>
                      <p:cNvPr id="219" name="Google Shape;219;p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1066800"/>
                        <a:ext cx="6028299" cy="5038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Google Shape;220;p7"/>
          <p:cNvSpPr txBox="1"/>
          <p:nvPr/>
        </p:nvSpPr>
        <p:spPr>
          <a:xfrm>
            <a:off x="6705600" y="609600"/>
            <a:ext cx="24384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lang="en-US" sz="2000" b="1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Key Components:</a:t>
            </a:r>
            <a:endParaRPr sz="2000" b="1" u="sng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Line Numbers!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˃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reference only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Keywords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White Space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˃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Readability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File Name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˃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*.java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˃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as public class name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main method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print statement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22" name="Google Shape;22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4863" y="6019800"/>
            <a:ext cx="57245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391700" y="61881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e55a65f6_0_11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 Program in Java – Important Points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2ee55a65f6_0_1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30" name="Google Shape;230;g32ee55a65f6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03400"/>
            <a:ext cx="8153400" cy="365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295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/>
              <a:t>Every Java program has </a:t>
            </a:r>
            <a:r>
              <a:rPr lang="en-US">
                <a:solidFill>
                  <a:srgbClr val="FF0066"/>
                </a:solidFill>
              </a:rPr>
              <a:t>at least one user-defined</a:t>
            </a:r>
            <a:r>
              <a:rPr lang="en-US"/>
              <a:t> class</a:t>
            </a:r>
            <a:endParaRPr/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2956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/>
              <a:t>Keyword: words reserved for use by Java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7431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66"/>
              </a:buClr>
              <a:buSzPct val="100000"/>
              <a:buChar char="˃"/>
            </a:pPr>
            <a:r>
              <a:rPr lang="en-US" sz="2400">
                <a:solidFill>
                  <a:srgbClr val="FF0066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class</a:t>
            </a:r>
            <a:r>
              <a:rPr lang="en-US" sz="2400">
                <a:solidFill>
                  <a:srgbClr val="FF0066"/>
                </a:solidFill>
              </a:rPr>
              <a:t> </a:t>
            </a:r>
            <a:r>
              <a:rPr lang="en-US" sz="2400"/>
              <a:t>keyword followed by class name</a:t>
            </a:r>
            <a:endParaRPr sz="2400"/>
          </a:p>
          <a:p>
            <a:pPr marL="74295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2956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/>
              <a:t>Naming classes: capitalize every word (camel case)</a:t>
            </a:r>
            <a:endParaRPr/>
          </a:p>
          <a:p>
            <a:pPr marL="742950" lvl="1" indent="-27431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SampleClassName</a:t>
            </a:r>
            <a:endParaRPr sz="24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74295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342900" lvl="0" indent="-32956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/>
              <a:t>Java identifiers</a:t>
            </a:r>
            <a:endParaRPr/>
          </a:p>
          <a:p>
            <a:pPr marL="742950" lvl="1" indent="-2762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000"/>
              <a:t>Series of characters consisting of letters, digits,   underscores (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_</a:t>
            </a:r>
            <a:r>
              <a:rPr lang="en-US" sz="2000"/>
              <a:t> ) and dollar signs (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$</a:t>
            </a:r>
            <a:r>
              <a:rPr lang="en-US" sz="2000"/>
              <a:t> )</a:t>
            </a:r>
            <a:endParaRPr/>
          </a:p>
          <a:p>
            <a:pPr marL="742950" lvl="1" indent="-2762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000"/>
              <a:t>Does not begin with a digit, has no spaces</a:t>
            </a:r>
            <a:endParaRPr/>
          </a:p>
          <a:p>
            <a:pPr marL="742950" lvl="1" indent="-2762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000"/>
              <a:t>Examples: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Welcome1</a:t>
            </a:r>
            <a:r>
              <a:rPr lang="en-US" sz="2000"/>
              <a:t>,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$value</a:t>
            </a:r>
            <a:r>
              <a:rPr lang="en-US" sz="2000"/>
              <a:t>,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_value</a:t>
            </a:r>
            <a:r>
              <a:rPr lang="en-US" sz="2000"/>
              <a:t>,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button7</a:t>
            </a:r>
            <a:endParaRPr/>
          </a:p>
          <a:p>
            <a:pPr marL="1143000" lvl="2" indent="-21907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7button</a:t>
            </a:r>
            <a:r>
              <a:rPr lang="en-US" sz="2000"/>
              <a:t> is </a:t>
            </a:r>
            <a:r>
              <a:rPr lang="en-US" sz="2000">
                <a:solidFill>
                  <a:srgbClr val="FF0066"/>
                </a:solidFill>
              </a:rPr>
              <a:t>invalid</a:t>
            </a:r>
            <a:endParaRPr/>
          </a:p>
          <a:p>
            <a:pPr marL="742950" lvl="1" indent="-2762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000"/>
              <a:t>Java is case sensitive (capitalization matters) </a:t>
            </a:r>
            <a:endParaRPr/>
          </a:p>
          <a:p>
            <a:pPr marL="1143000" lvl="2" indent="-21907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a1 and A1 are </a:t>
            </a:r>
            <a:r>
              <a:rPr lang="en-US" sz="2000">
                <a:solidFill>
                  <a:srgbClr val="FF0066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different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 Program in Java – Important Points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aff4d1434_1_2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 Program in Java – Important Points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2aff4d1434_1_2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45" name="Google Shape;245;g32aff4d1434_1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990069"/>
            <a:ext cx="7719666" cy="304853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2aff4d1434_1_28"/>
          <p:cNvSpPr/>
          <p:nvPr/>
        </p:nvSpPr>
        <p:spPr>
          <a:xfrm>
            <a:off x="609600" y="3977650"/>
            <a:ext cx="8077200" cy="26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Now we have t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hree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different kinds of comments:</a:t>
            </a:r>
            <a:endParaRPr sz="1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One is a double slash, that's the example here. It's a </a:t>
            </a:r>
            <a:r>
              <a:rPr lang="en-US" sz="1400" b="1" u="sng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single line comment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// instance variables or // current speed.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AutoNum type="arabicPeriod"/>
            </a:pPr>
            <a:r>
              <a:rPr lang="en-US" sz="1400" b="1" u="sng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Multiple line comments 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start with a slash asterisk and eventually end with an asterisk slash.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That is a special form of multiline comment 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called </a:t>
            </a:r>
            <a:r>
              <a:rPr lang="en-US" sz="1400" b="1" u="sng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javadoc comments, </a:t>
            </a:r>
            <a:r>
              <a:rPr lang="en-US" b="1" u="sng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delimited by       </a:t>
            </a:r>
            <a:r>
              <a:rPr lang="en-US" sz="1400" b="1" u="sng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/** and */.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These 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provide the documentation for that source code. (run this command: javadoc Car.java)</a:t>
            </a:r>
            <a:endParaRPr sz="1400" b="0" i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g32aff4d1434_1_28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Good Programming Practice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38175" y="1447800"/>
            <a:ext cx="80772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295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By convention, always begin a </a:t>
            </a:r>
            <a:r>
              <a:rPr lang="en-US" sz="2800" b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class name’s identifier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with a </a:t>
            </a:r>
            <a:r>
              <a:rPr lang="en-U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capital letter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start each subsequent word in the identifier with a capital letter.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295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Java programmers know that such identifiers normally represent Java classes, so naming your classes in this manner makes your programs </a:t>
            </a:r>
            <a:r>
              <a:rPr lang="en-US" sz="2800" b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more readable.</a:t>
            </a:r>
            <a:endParaRPr sz="2800" b="1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Java is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case sensitive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Not using the proper uppercase and lowercase letters for an identifier normally causes a compilation error. Java is case sensitive. Not using the proper uppercase and lowercase letters for an identifier normally causes a </a:t>
            </a:r>
            <a:r>
              <a:rPr lang="en-US" sz="2800" b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compilation error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 is an error for a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class to have a file name that is not identical to the class name (plus the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.java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extension) in terms of both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spelling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capitalization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 is a syntax error if braces do not occur in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matching pairs.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189600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Error Prevention Tips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295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learning how to program, sometimes it is helpful to “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” a working program so you can familiarize yourself with the compiler's syntax-error messages.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○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These messages do not always state the exact problem in the code. When you encounter such syntax-error messages in the future, you will have an idea of what caused the error.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29565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the compiler reports a syntax error, the error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may not be on the line number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indicated by the error message. First, check the line for which the error was reported. If that line does not contain syntax errors,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check several preceding lines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Compiling &amp; Executing a Java Program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a command prompt window, go to directory where program is stored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Type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javac Welcome1.java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If no syntax errors,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Welcome1.class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is created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bytecodes that represent application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Bytecodes passed to JVM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java Welcome1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Launches JVM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JVM loads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.class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for class Welcome1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.class extension omitted from command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JVM calls method main</a:t>
            </a:r>
            <a:endParaRPr/>
          </a:p>
          <a:p>
            <a:pPr marL="342900" marR="0" lvl="0" indent="-127000" algn="l" rtl="0">
              <a:spcBef>
                <a:spcPts val="68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Modifying the Java Program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>
            <a:spLocks noGrp="1"/>
          </p:cNvSpPr>
          <p:nvPr>
            <p:ph type="sldNum" idx="12"/>
          </p:nvPr>
        </p:nvSpPr>
        <p:spPr>
          <a:xfrm>
            <a:off x="7287418" y="8858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7315200" y="1347788"/>
            <a:ext cx="1828800" cy="42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»"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Welcome2.java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Comments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Blank line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 Begin class Welcome2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3.1 Method  main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 Method System.out.print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4.1 Method System.out.println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5. end main,</a:t>
            </a:r>
            <a: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Welcome2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Program Output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13"/>
          <p:cNvGraphicFramePr/>
          <p:nvPr/>
        </p:nvGraphicFramePr>
        <p:xfrm>
          <a:off x="277018" y="1066800"/>
          <a:ext cx="706596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65963" imgH="5943600" progId="Word.Document.8">
                  <p:embed/>
                </p:oleObj>
              </mc:Choice>
              <mc:Fallback>
                <p:oleObj r:id="rId3" imgW="7065963" imgH="5943600" progId="Word.Document.8">
                  <p:embed/>
                  <p:pic>
                    <p:nvPicPr>
                      <p:cNvPr id="287" name="Google Shape;287;p1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77018" y="1066800"/>
                        <a:ext cx="7065963" cy="594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8" name="Google Shape;288;p13"/>
          <p:cNvGrpSpPr/>
          <p:nvPr/>
        </p:nvGrpSpPr>
        <p:grpSpPr>
          <a:xfrm>
            <a:off x="4038552" y="3200400"/>
            <a:ext cx="3305222" cy="1828800"/>
            <a:chOff x="2648" y="1680"/>
            <a:chExt cx="2968" cy="526"/>
          </a:xfrm>
        </p:grpSpPr>
        <p:sp>
          <p:nvSpPr>
            <p:cNvPr id="289" name="Google Shape;289;p13"/>
            <p:cNvSpPr txBox="1"/>
            <p:nvPr/>
          </p:nvSpPr>
          <p:spPr>
            <a:xfrm>
              <a:off x="3216" y="1680"/>
              <a:ext cx="2400" cy="526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System.out.print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keeps the cursor on the same line, so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System.out.println</a:t>
              </a: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continues on the same line. </a:t>
              </a:r>
              <a:endParaRPr/>
            </a:p>
          </p:txBody>
        </p:sp>
        <p:cxnSp>
          <p:nvCxnSpPr>
            <p:cNvPr id="290" name="Google Shape;290;p13"/>
            <p:cNvCxnSpPr/>
            <p:nvPr/>
          </p:nvCxnSpPr>
          <p:spPr>
            <a:xfrm rot="10800000">
              <a:off x="2648" y="1968"/>
              <a:ext cx="56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91" name="Google Shape;291;p1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sldNum" idx="12"/>
          </p:nvPr>
        </p:nvSpPr>
        <p:spPr>
          <a:xfrm>
            <a:off x="7315200" y="12700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7391400" y="2436813"/>
            <a:ext cx="1828800" cy="341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»"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Welcome3.java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»"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main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System.out.println (uses \n for new line)</a:t>
            </a:r>
            <a:b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»"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Program Output</a:t>
            </a:r>
            <a:br>
              <a:rPr lang="en-US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98" name="Google Shape;298;p14"/>
          <p:cNvGraphicFramePr/>
          <p:nvPr/>
        </p:nvGraphicFramePr>
        <p:xfrm>
          <a:off x="312738" y="1270000"/>
          <a:ext cx="7065962" cy="551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65962" imgH="5511800" progId="Word.Document.8">
                  <p:embed/>
                </p:oleObj>
              </mc:Choice>
              <mc:Fallback>
                <p:oleObj r:id="rId3" imgW="7065962" imgH="5511800" progId="Word.Document.8">
                  <p:embed/>
                  <p:pic>
                    <p:nvPicPr>
                      <p:cNvPr id="298" name="Google Shape;298;p1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12738" y="1270000"/>
                        <a:ext cx="7065962" cy="551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9" name="Google Shape;299;p14"/>
          <p:cNvGrpSpPr/>
          <p:nvPr/>
        </p:nvGrpSpPr>
        <p:grpSpPr>
          <a:xfrm>
            <a:off x="1600994" y="4067175"/>
            <a:ext cx="5754688" cy="1905000"/>
            <a:chOff x="599" y="3072"/>
            <a:chExt cx="3625" cy="1200"/>
          </a:xfrm>
        </p:grpSpPr>
        <p:sp>
          <p:nvSpPr>
            <p:cNvPr id="300" name="Google Shape;300;p14"/>
            <p:cNvSpPr txBox="1"/>
            <p:nvPr/>
          </p:nvSpPr>
          <p:spPr>
            <a:xfrm>
              <a:off x="1692" y="3502"/>
              <a:ext cx="2532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Notice how a new line is output for each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\n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escape sequence.</a:t>
              </a:r>
              <a:endParaRPr/>
            </a:p>
          </p:txBody>
        </p:sp>
        <p:cxnSp>
          <p:nvCxnSpPr>
            <p:cNvPr id="301" name="Google Shape;301;p14"/>
            <p:cNvCxnSpPr/>
            <p:nvPr/>
          </p:nvCxnSpPr>
          <p:spPr>
            <a:xfrm flipH="1">
              <a:off x="599" y="3487"/>
              <a:ext cx="2165" cy="7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2" name="Google Shape;302;p14"/>
            <p:cNvCxnSpPr/>
            <p:nvPr/>
          </p:nvCxnSpPr>
          <p:spPr>
            <a:xfrm rot="10800000">
              <a:off x="2374" y="3072"/>
              <a:ext cx="389" cy="4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03" name="Google Shape;303;p1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Slightly Different Version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Some Common Escape Sequences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p15"/>
          <p:cNvGraphicFramePr/>
          <p:nvPr/>
        </p:nvGraphicFramePr>
        <p:xfrm>
          <a:off x="487362" y="1447800"/>
          <a:ext cx="8199438" cy="437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199438" imgH="4373562" progId="Word.Document.8">
                  <p:embed/>
                </p:oleObj>
              </mc:Choice>
              <mc:Fallback>
                <p:oleObj r:id="rId3" imgW="8199438" imgH="4373562" progId="Word.Document.8">
                  <p:embed/>
                  <p:pic>
                    <p:nvPicPr>
                      <p:cNvPr id="311" name="Google Shape;311;p1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87362" y="1447800"/>
                        <a:ext cx="8199438" cy="437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" name="Google Shape;312;p1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Displaying Text with printf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 txBox="1">
            <a:spLocks noGrp="1"/>
          </p:cNvSpPr>
          <p:nvPr>
            <p:ph type="sldNum" idx="12"/>
          </p:nvPr>
        </p:nvSpPr>
        <p:spPr>
          <a:xfrm>
            <a:off x="7180262" y="1295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7315199" y="1143000"/>
            <a:ext cx="1779587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Welcome4.java</a:t>
            </a:r>
            <a:endParaRPr/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/>
          </a:p>
          <a:p>
            <a:pPr marL="228600" marR="0" lvl="0" indent="-22860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Program output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6"/>
          <p:cNvGraphicFramePr/>
          <p:nvPr/>
        </p:nvGraphicFramePr>
        <p:xfrm>
          <a:off x="266699" y="1135062"/>
          <a:ext cx="7065963" cy="550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65963" imgH="5502275" progId="Word.Document.8">
                  <p:embed/>
                </p:oleObj>
              </mc:Choice>
              <mc:Fallback>
                <p:oleObj r:id="rId3" imgW="7065963" imgH="5502275" progId="Word.Document.8">
                  <p:embed/>
                  <p:pic>
                    <p:nvPicPr>
                      <p:cNvPr id="321" name="Google Shape;321;p1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66699" y="1135062"/>
                        <a:ext cx="7065963" cy="550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2" name="Google Shape;322;p16"/>
          <p:cNvGrpSpPr/>
          <p:nvPr/>
        </p:nvGrpSpPr>
        <p:grpSpPr>
          <a:xfrm>
            <a:off x="3675062" y="3733800"/>
            <a:ext cx="3778250" cy="590550"/>
            <a:chOff x="2208" y="1632"/>
            <a:chExt cx="2380" cy="372"/>
          </a:xfrm>
        </p:grpSpPr>
        <p:sp>
          <p:nvSpPr>
            <p:cNvPr id="323" name="Google Shape;323;p16"/>
            <p:cNvSpPr txBox="1"/>
            <p:nvPr/>
          </p:nvSpPr>
          <p:spPr>
            <a:xfrm>
              <a:off x="2976" y="1632"/>
              <a:ext cx="1612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System.out.printf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displays formatted data. </a:t>
              </a:r>
              <a:endParaRPr/>
            </a:p>
          </p:txBody>
        </p:sp>
        <p:cxnSp>
          <p:nvCxnSpPr>
            <p:cNvPr id="324" name="Google Shape;324;p16"/>
            <p:cNvCxnSpPr/>
            <p:nvPr/>
          </p:nvCxnSpPr>
          <p:spPr>
            <a:xfrm rot="10800000">
              <a:off x="2208" y="1824"/>
              <a:ext cx="76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25" name="Google Shape;325;p1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Another Java Application: Adding Integers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800" dirty="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Scanner</a:t>
            </a: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to read two integers from user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Some other methods to get input from user are: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u="sng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http://stackoverflow.com/questions/5287538/how-can-i-get-the-user-input-in-java</a:t>
            </a: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800" dirty="0" err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to display sum of the two values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packages</a:t>
            </a:r>
            <a:endParaRPr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˃"/>
            </a:pPr>
            <a:r>
              <a:rPr lang="en-US" sz="24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By default, package </a:t>
            </a:r>
            <a:r>
              <a:rPr lang="en-US" sz="2400" b="0" i="0" u="none" strike="noStrike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java.lang</a:t>
            </a:r>
            <a:r>
              <a:rPr lang="en-US" sz="24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is imported in every Java program; thus, </a:t>
            </a:r>
            <a:r>
              <a:rPr lang="en-US" sz="2400" b="0" i="0" u="none" strike="noStrike" cap="none" dirty="0" err="1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java.lang</a:t>
            </a:r>
            <a:r>
              <a:rPr lang="en-US" sz="24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is the only package in the Java API that does not require an </a:t>
            </a:r>
            <a:r>
              <a:rPr lang="en-US" sz="2400" b="0" i="0" u="none" strike="noStrike" cap="none" dirty="0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4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declaration.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27000" algn="l" rtl="0">
              <a:spcBef>
                <a:spcPts val="68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endParaRPr sz="3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230025" y="6492900"/>
            <a:ext cx="282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 reading:Section 2.1 - 2.5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9" name="Google Shape;339;p18"/>
          <p:cNvGraphicFramePr/>
          <p:nvPr/>
        </p:nvGraphicFramePr>
        <p:xfrm>
          <a:off x="457200" y="1295400"/>
          <a:ext cx="7048500" cy="468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48500" imgH="4687888" progId="Word.Document.8">
                  <p:embed/>
                </p:oleObj>
              </mc:Choice>
              <mc:Fallback>
                <p:oleObj r:id="rId3" imgW="7048500" imgH="4687888" progId="Word.Document.8">
                  <p:embed/>
                  <p:pic>
                    <p:nvPicPr>
                      <p:cNvPr id="339" name="Google Shape;339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1295400"/>
                        <a:ext cx="7048500" cy="468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0" name="Google Shape;340;p18"/>
          <p:cNvGrpSpPr/>
          <p:nvPr/>
        </p:nvGrpSpPr>
        <p:grpSpPr>
          <a:xfrm>
            <a:off x="2667241" y="1979971"/>
            <a:ext cx="6076709" cy="1029929"/>
            <a:chOff x="1296" y="385"/>
            <a:chExt cx="4032" cy="419"/>
          </a:xfrm>
        </p:grpSpPr>
        <p:sp>
          <p:nvSpPr>
            <p:cNvPr id="341" name="Google Shape;341;p18"/>
            <p:cNvSpPr txBox="1"/>
            <p:nvPr/>
          </p:nvSpPr>
          <p:spPr>
            <a:xfrm>
              <a:off x="3318" y="432"/>
              <a:ext cx="2010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import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declaration imports class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Scanner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from package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java.util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342" name="Google Shape;342;p18"/>
            <p:cNvCxnSpPr/>
            <p:nvPr/>
          </p:nvCxnSpPr>
          <p:spPr>
            <a:xfrm rot="10800000">
              <a:off x="1296" y="385"/>
              <a:ext cx="2022" cy="23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3" name="Google Shape;343;p18"/>
          <p:cNvGrpSpPr/>
          <p:nvPr/>
        </p:nvGrpSpPr>
        <p:grpSpPr>
          <a:xfrm>
            <a:off x="4724400" y="3352800"/>
            <a:ext cx="4038600" cy="838200"/>
            <a:chOff x="2208" y="1632"/>
            <a:chExt cx="2380" cy="372"/>
          </a:xfrm>
        </p:grpSpPr>
        <p:sp>
          <p:nvSpPr>
            <p:cNvPr id="344" name="Google Shape;344;p18"/>
            <p:cNvSpPr txBox="1"/>
            <p:nvPr/>
          </p:nvSpPr>
          <p:spPr>
            <a:xfrm>
              <a:off x="2976" y="1632"/>
              <a:ext cx="1612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and initialize variable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input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which is a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Scanner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345" name="Google Shape;345;p18"/>
            <p:cNvCxnSpPr/>
            <p:nvPr/>
          </p:nvCxnSpPr>
          <p:spPr>
            <a:xfrm rot="10800000">
              <a:off x="2208" y="1824"/>
              <a:ext cx="76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6" name="Google Shape;346;p18"/>
          <p:cNvGrpSpPr/>
          <p:nvPr/>
        </p:nvGrpSpPr>
        <p:grpSpPr>
          <a:xfrm>
            <a:off x="4267680" y="4343400"/>
            <a:ext cx="4495320" cy="914400"/>
            <a:chOff x="2165" y="1632"/>
            <a:chExt cx="2423" cy="372"/>
          </a:xfrm>
        </p:grpSpPr>
        <p:sp>
          <p:nvSpPr>
            <p:cNvPr id="347" name="Google Shape;347;p18"/>
            <p:cNvSpPr txBox="1"/>
            <p:nvPr/>
          </p:nvSpPr>
          <p:spPr>
            <a:xfrm>
              <a:off x="3114" y="1632"/>
              <a:ext cx="1474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variables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number1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number2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sum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348" name="Google Shape;348;p18"/>
            <p:cNvCxnSpPr/>
            <p:nvPr/>
          </p:nvCxnSpPr>
          <p:spPr>
            <a:xfrm rot="10800000">
              <a:off x="2165" y="1694"/>
              <a:ext cx="949" cy="1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9" name="Google Shape;349;p18"/>
          <p:cNvGrpSpPr/>
          <p:nvPr/>
        </p:nvGrpSpPr>
        <p:grpSpPr>
          <a:xfrm>
            <a:off x="3429000" y="5486400"/>
            <a:ext cx="4495800" cy="1143000"/>
            <a:chOff x="1872" y="2640"/>
            <a:chExt cx="2160" cy="468"/>
          </a:xfrm>
        </p:grpSpPr>
        <p:sp>
          <p:nvSpPr>
            <p:cNvPr id="350" name="Google Shape;350;p18"/>
            <p:cNvSpPr txBox="1"/>
            <p:nvPr/>
          </p:nvSpPr>
          <p:spPr>
            <a:xfrm>
              <a:off x="2635" y="2736"/>
              <a:ext cx="1397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an integer from the user and assign it to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number1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351" name="Google Shape;351;p18"/>
            <p:cNvCxnSpPr/>
            <p:nvPr/>
          </p:nvCxnSpPr>
          <p:spPr>
            <a:xfrm rot="10800000">
              <a:off x="1872" y="2640"/>
              <a:ext cx="762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52" name="Google Shape;352;p1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Another Java Application: Adding Integers</a:t>
            </a:r>
            <a:endParaRPr/>
          </a:p>
        </p:txBody>
      </p:sp>
      <p:sp>
        <p:nvSpPr>
          <p:cNvPr id="353" name="Google Shape;353;p1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Another Java Application: Adding Integers</a:t>
            </a:r>
            <a:endParaRPr/>
          </a:p>
        </p:txBody>
      </p:sp>
      <p:graphicFrame>
        <p:nvGraphicFramePr>
          <p:cNvPr id="359" name="Google Shape;359;p19"/>
          <p:cNvGraphicFramePr/>
          <p:nvPr/>
        </p:nvGraphicFramePr>
        <p:xfrm>
          <a:off x="457200" y="1447800"/>
          <a:ext cx="7029450" cy="359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29450" imgH="3598863" progId="Word.Document.8">
                  <p:embed/>
                </p:oleObj>
              </mc:Choice>
              <mc:Fallback>
                <p:oleObj r:id="rId3" imgW="7029450" imgH="3598863" progId="Word.Document.8">
                  <p:embed/>
                  <p:pic>
                    <p:nvPicPr>
                      <p:cNvPr id="359" name="Google Shape;359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1447800"/>
                        <a:ext cx="7029450" cy="359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" name="Google Shape;360;p19"/>
          <p:cNvSpPr txBox="1"/>
          <p:nvPr/>
        </p:nvSpPr>
        <p:spPr>
          <a:xfrm>
            <a:off x="4930775" y="1981200"/>
            <a:ext cx="2895600" cy="646331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an integer from the user and assign it to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number2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cxnSp>
        <p:nvCxnSpPr>
          <p:cNvPr id="361" name="Google Shape;361;p19"/>
          <p:cNvCxnSpPr/>
          <p:nvPr/>
        </p:nvCxnSpPr>
        <p:spPr>
          <a:xfrm rot="10800000">
            <a:off x="3406775" y="1905000"/>
            <a:ext cx="1522413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19"/>
          <p:cNvSpPr txBox="1"/>
          <p:nvPr/>
        </p:nvSpPr>
        <p:spPr>
          <a:xfrm>
            <a:off x="4911724" y="2743200"/>
            <a:ext cx="3298826" cy="923330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sum of the variables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number1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number2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assign result to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cxnSp>
        <p:nvCxnSpPr>
          <p:cNvPr id="363" name="Google Shape;363;p19"/>
          <p:cNvCxnSpPr/>
          <p:nvPr/>
        </p:nvCxnSpPr>
        <p:spPr>
          <a:xfrm rot="10800000">
            <a:off x="3254375" y="2514600"/>
            <a:ext cx="1662113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19"/>
          <p:cNvSpPr txBox="1"/>
          <p:nvPr/>
        </p:nvSpPr>
        <p:spPr>
          <a:xfrm>
            <a:off x="4930775" y="3886200"/>
            <a:ext cx="2895600" cy="646331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the sum using formatted output. </a:t>
            </a:r>
            <a:endParaRPr/>
          </a:p>
        </p:txBody>
      </p:sp>
      <p:cxnSp>
        <p:nvCxnSpPr>
          <p:cNvPr id="365" name="Google Shape;365;p19"/>
          <p:cNvCxnSpPr/>
          <p:nvPr/>
        </p:nvCxnSpPr>
        <p:spPr>
          <a:xfrm rot="10800000">
            <a:off x="3711575" y="3048000"/>
            <a:ext cx="12954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66" name="Google Shape;366;p19"/>
          <p:cNvGrpSpPr/>
          <p:nvPr/>
        </p:nvGrpSpPr>
        <p:grpSpPr>
          <a:xfrm>
            <a:off x="2590591" y="4419600"/>
            <a:ext cx="4419810" cy="1031875"/>
            <a:chOff x="1531" y="1344"/>
            <a:chExt cx="2501" cy="650"/>
          </a:xfrm>
        </p:grpSpPr>
        <p:sp>
          <p:nvSpPr>
            <p:cNvPr id="367" name="Google Shape;367;p19"/>
            <p:cNvSpPr txBox="1"/>
            <p:nvPr/>
          </p:nvSpPr>
          <p:spPr>
            <a:xfrm>
              <a:off x="2160" y="1776"/>
              <a:ext cx="1872" cy="218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Two integers entered by the user. </a:t>
              </a:r>
              <a:endParaRPr/>
            </a:p>
          </p:txBody>
        </p:sp>
        <p:cxnSp>
          <p:nvCxnSpPr>
            <p:cNvPr id="368" name="Google Shape;368;p19"/>
            <p:cNvCxnSpPr/>
            <p:nvPr/>
          </p:nvCxnSpPr>
          <p:spPr>
            <a:xfrm rot="10800000">
              <a:off x="1531" y="1344"/>
              <a:ext cx="629" cy="52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69" name="Google Shape;369;p1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Import Declarations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declarations are used by compiler to identify and locate classes used in Java programs</a:t>
            </a:r>
            <a:endParaRPr/>
          </a:p>
          <a:p>
            <a:pPr marL="342900" marR="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-US" sz="20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declarations must appear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the first class declaration in the file. Placing an </a:t>
            </a:r>
            <a:r>
              <a:rPr lang="en-US" sz="20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declaration inside a class declaration’s body or after a class declaration is a syntax error.</a:t>
            </a:r>
            <a:endParaRPr/>
          </a:p>
          <a:p>
            <a:pPr marL="342900" marR="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Forgetting to include an </a:t>
            </a:r>
            <a:r>
              <a:rPr lang="en-US" sz="20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declaration for a class used in your program typically results in a compilation error containing a message such as “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cannot resolve symbol.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Arial"/>
              <a:buChar char="˃"/>
            </a:pPr>
            <a:r>
              <a:rPr lang="en-US" sz="2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When this occurs, check that you provided the proper </a:t>
            </a:r>
            <a:r>
              <a:rPr lang="en-US" sz="2400" b="0" i="0" u="none" strike="noStrike" cap="none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declarations and that the names in the </a:t>
            </a:r>
            <a:r>
              <a:rPr lang="en-US" sz="2400" b="0" i="0" u="none" strike="noStrike" cap="none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import</a:t>
            </a:r>
            <a:r>
              <a:rPr lang="en-US" sz="2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declarations are spelled correctly, including proper use of uppercase and lowercase letters.</a:t>
            </a:r>
            <a:endParaRPr/>
          </a:p>
          <a:p>
            <a:pPr marL="342900" marR="0" lvl="0" indent="-1784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784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43192" algn="l" rtl="0">
              <a:spcBef>
                <a:spcPts val="629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784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983575" y="6400800"/>
            <a:ext cx="662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this:	https://www.carbonfootprint.com/calculator.aspx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Good Programming Practice – Tips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Declare each variable on a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separate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This format allows a descriptive comment to be easily inserted next to each declaration.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Choosing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meaningful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names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helps a program to be </a:t>
            </a:r>
            <a:r>
              <a:rPr lang="en-US" sz="2800" i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self-documenting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(i.e., one can understand the program simply by reading it rather than by reading manuals or viewing an excessive number of comments).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By convention, variable-name identifiers begin with a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lowercase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letter, and every word in the name after the first word begins with a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letter. This convention is usually referred as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camel case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27000" algn="l" rtl="0">
              <a:spcBef>
                <a:spcPts val="68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Java Datatypes</a:t>
            </a:r>
            <a:endParaRPr/>
          </a:p>
        </p:txBody>
      </p:sp>
      <p:sp>
        <p:nvSpPr>
          <p:cNvPr id="390" name="Google Shape;390;p2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391" name="Google Shape;3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0" y="1295400"/>
            <a:ext cx="8914850" cy="517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ee55a65f6_0_3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Memory Concepts</a:t>
            </a:r>
            <a:endParaRPr/>
          </a:p>
        </p:txBody>
      </p:sp>
      <p:sp>
        <p:nvSpPr>
          <p:cNvPr id="397" name="Google Shape;397;g32ee55a65f6_0_38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variable has a </a:t>
            </a:r>
            <a:r>
              <a:rPr lang="en-US" sz="24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US" sz="24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US" sz="24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</a:t>
            </a:r>
            <a:r>
              <a:rPr lang="en-US" sz="24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Name corresponds to location in memory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new value is placed into a variable, replaces (and destroys) previous value 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variables from memory does not change them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g32ee55a65f6_0_38" descr="AAEMYQW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287837"/>
            <a:ext cx="8077199" cy="188436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2ee55a65f6_0_3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Primitive Data Types in Java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06" name="Google Shape;40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900" y="1149556"/>
            <a:ext cx="7165500" cy="5556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Arithmetic Operations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 txBox="1"/>
          <p:nvPr/>
        </p:nvSpPr>
        <p:spPr>
          <a:xfrm>
            <a:off x="638175" y="14478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Arithmetic calculations used in most programs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Usage 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multiplication 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division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remainder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division truncates remainder (</a:t>
            </a:r>
            <a:r>
              <a:rPr lang="en-US" sz="2400" b="0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no rounding off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7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5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evaluates to </a:t>
            </a: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Remainder operator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%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returns the remainder 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7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5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evaluates to </a:t>
            </a:r>
            <a:r>
              <a:rPr lang="en-US" sz="2400" b="0" i="0" u="none" strike="noStrike" cap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 Precedence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638175" y="1295400"/>
            <a:ext cx="807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Some arithmetic operators act </a:t>
            </a:r>
            <a:r>
              <a:rPr lang="en-US" sz="2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others (i.e., multiplication before addition)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parenthesis when needed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»"/>
            </a:pP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Find the average of three variables</a:t>
            </a:r>
            <a:r>
              <a:rPr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use:   a + b + c / 3 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˃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Use:  ( a + b + c ) / 3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»"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Question: How the following expression will be evaluated?</a:t>
            </a: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 = 2 * 5 * 5 + 3 * 5 + 7;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 Precedence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427" name="Google Shape;427;p26" descr="AAEMYQZ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371600"/>
            <a:ext cx="6934200" cy="4691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 Precedence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graphicFrame>
        <p:nvGraphicFramePr>
          <p:cNvPr id="434" name="Google Shape;434;p27"/>
          <p:cNvGraphicFramePr/>
          <p:nvPr/>
        </p:nvGraphicFramePr>
        <p:xfrm>
          <a:off x="1219200" y="1362075"/>
          <a:ext cx="7115175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115175" imgH="3362325" progId="Word.Document.8">
                  <p:embed/>
                </p:oleObj>
              </mc:Choice>
              <mc:Fallback>
                <p:oleObj r:id="rId3" imgW="7115175" imgH="3362325" progId="Word.Document.8">
                  <p:embed/>
                  <p:pic>
                    <p:nvPicPr>
                      <p:cNvPr id="434" name="Google Shape;434;p2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219200" y="1362075"/>
                        <a:ext cx="7115175" cy="336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" name="Google Shape;435;p27"/>
          <p:cNvSpPr txBox="1"/>
          <p:nvPr/>
        </p:nvSpPr>
        <p:spPr>
          <a:xfrm>
            <a:off x="685800" y="4648200"/>
            <a:ext cx="76962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</a:pPr>
            <a:r>
              <a:rPr lang="en-U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Using parentheses for complex arithmetic expressions, even when the parentheses are not necessary, can make the arithmetic expressions easier to read.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/>
          <p:nvPr/>
        </p:nvSpPr>
        <p:spPr>
          <a:xfrm rot="-5400000">
            <a:off x="-2514600" y="3124200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 Precedence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442" name="Google Shape;4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0"/>
            <a:ext cx="684942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 txBox="1"/>
          <p:nvPr/>
        </p:nvSpPr>
        <p:spPr>
          <a:xfrm rot="-5400000">
            <a:off x="-2514600" y="3124200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 Precedence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49" name="Google Shape;44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167643"/>
            <a:ext cx="6849427" cy="452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/>
          <p:nvPr/>
        </p:nvSpPr>
        <p:spPr>
          <a:xfrm>
            <a:off x="638175" y="2286000"/>
            <a:ext cx="8077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Questions/Answers &amp;</a:t>
            </a:r>
            <a:endParaRPr/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40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1819</Words>
  <Application>Microsoft Office PowerPoint</Application>
  <PresentationFormat>On-screen Show (4:3)</PresentationFormat>
  <Paragraphs>274</Paragraphs>
  <Slides>41</Slides>
  <Notes>41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Open Sans</vt:lpstr>
      <vt:lpstr>Droid Sans Mono</vt:lpstr>
      <vt:lpstr>Courier New</vt:lpstr>
      <vt:lpstr>Times New Roman</vt:lpstr>
      <vt:lpstr>Calibri</vt:lpstr>
      <vt:lpstr>Arial</vt:lpstr>
      <vt:lpstr>Noto Sans Symbols</vt:lpstr>
      <vt:lpstr>Thermal</vt:lpstr>
      <vt:lpstr>Microsoft Word 97 - 2003 Document</vt:lpstr>
      <vt:lpstr>CS212: Object-Oriented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Mian M. Hamayun</dc:creator>
  <cp:lastModifiedBy>Ayesha Kanwal</cp:lastModifiedBy>
  <cp:revision>2</cp:revision>
  <dcterms:created xsi:type="dcterms:W3CDTF">2014-02-05T17:22:40Z</dcterms:created>
  <dcterms:modified xsi:type="dcterms:W3CDTF">2026-01-16T11:31:10Z</dcterms:modified>
</cp:coreProperties>
</file>