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66"/>
      <p:bold r:id="rId67"/>
      <p:italic r:id="rId68"/>
      <p:boldItalic r:id="rId69"/>
    </p:embeddedFont>
    <p:embeddedFont>
      <p:font typeface="Questrial" panose="020F0502020204030204" pitchFamily="2" charset="0"/>
      <p:regular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1" roundtripDataSignature="AMtx7miivwSl77Uw/d1e3lRhABpiXX2A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1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4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5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2bc4b04de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2bc4b04de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g32bc4b04de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2bc4b04de9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2bc4b04de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2bc4b04de9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2bc4b04de9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2bc4b04de9_1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g32bc4b04de9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2bc4b04de9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g32bc4b04de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32bdae7d5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g32bdae7d5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2bdae7d50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g32bdae7d50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32bdae7d50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g32bdae7d50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2bdae7d500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g32bdae7d500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7"/>
          <p:cNvSpPr/>
          <p:nvPr/>
        </p:nvSpPr>
        <p:spPr>
          <a:xfrm>
            <a:off x="0" y="0"/>
            <a:ext cx="752475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57"/>
          <p:cNvSpPr txBox="1">
            <a:spLocks noGrp="1"/>
          </p:cNvSpPr>
          <p:nvPr>
            <p:ph type="ctrTitle"/>
          </p:nvPr>
        </p:nvSpPr>
        <p:spPr>
          <a:xfrm>
            <a:off x="1216152" y="1267485"/>
            <a:ext cx="7235981" cy="5133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500"/>
              <a:buFont typeface="Calibri"/>
              <a:buNone/>
              <a:defRPr sz="1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7"/>
          <p:cNvSpPr txBox="1">
            <a:spLocks noGrp="1"/>
          </p:cNvSpPr>
          <p:nvPr>
            <p:ph type="subTitle" idx="1"/>
          </p:nvPr>
        </p:nvSpPr>
        <p:spPr>
          <a:xfrm>
            <a:off x="1216151" y="201702"/>
            <a:ext cx="6189583" cy="9495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480"/>
              </a:spcBef>
              <a:spcAft>
                <a:spcPts val="0"/>
              </a:spcAft>
              <a:buClr>
                <a:srgbClr val="A59B98"/>
              </a:buClr>
              <a:buSzPts val="2400"/>
              <a:buNone/>
              <a:defRPr sz="2400">
                <a:solidFill>
                  <a:srgbClr val="A59B98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3pPr>
            <a:lvl4pPr lvl="3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4pPr>
            <a:lvl5pPr lvl="4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5pPr>
            <a:lvl6pPr lvl="5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6pPr>
            <a:lvl7pPr lvl="6" algn="ctr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>
                <a:solidFill>
                  <a:srgbClr val="949AA0"/>
                </a:solidFill>
              </a:defRPr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rgbClr val="949AA0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7"/>
          <p:cNvSpPr txBox="1">
            <a:spLocks noGrp="1"/>
          </p:cNvSpPr>
          <p:nvPr>
            <p:ph type="sldNum" idx="12"/>
          </p:nvPr>
        </p:nvSpPr>
        <p:spPr>
          <a:xfrm>
            <a:off x="8150469" y="236415"/>
            <a:ext cx="7853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l">
              <a:spcBef>
                <a:spcPts val="0"/>
              </a:spcBef>
              <a:buNone/>
              <a:defRPr sz="1400" b="0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5" name="Google Shape;25;p57"/>
          <p:cNvGrpSpPr/>
          <p:nvPr/>
        </p:nvGrpSpPr>
        <p:grpSpPr>
          <a:xfrm>
            <a:off x="7467600" y="209550"/>
            <a:ext cx="657226" cy="431800"/>
            <a:chOff x="7467600" y="209550"/>
            <a:chExt cx="657226" cy="431800"/>
          </a:xfrm>
        </p:grpSpPr>
        <p:sp>
          <p:nvSpPr>
            <p:cNvPr id="26" name="Google Shape;26;p57"/>
            <p:cNvSpPr/>
            <p:nvPr/>
          </p:nvSpPr>
          <p:spPr>
            <a:xfrm>
              <a:off x="7467600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57"/>
            <p:cNvSpPr/>
            <p:nvPr/>
          </p:nvSpPr>
          <p:spPr>
            <a:xfrm>
              <a:off x="7677151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8;p57"/>
            <p:cNvSpPr/>
            <p:nvPr/>
          </p:nvSpPr>
          <p:spPr>
            <a:xfrm>
              <a:off x="7881939" y="209550"/>
              <a:ext cx="242887" cy="431800"/>
            </a:xfrm>
            <a:custGeom>
              <a:avLst/>
              <a:gdLst/>
              <a:ahLst/>
              <a:cxnLst/>
              <a:rect l="l" t="t" r="r" b="b"/>
              <a:pathLst>
                <a:path w="153" h="272" extrusionOk="0">
                  <a:moveTo>
                    <a:pt x="62" y="0"/>
                  </a:moveTo>
                  <a:lnTo>
                    <a:pt x="0" y="0"/>
                  </a:lnTo>
                  <a:lnTo>
                    <a:pt x="89" y="136"/>
                  </a:lnTo>
                  <a:lnTo>
                    <a:pt x="89" y="136"/>
                  </a:lnTo>
                  <a:lnTo>
                    <a:pt x="0" y="272"/>
                  </a:lnTo>
                  <a:lnTo>
                    <a:pt x="62" y="272"/>
                  </a:lnTo>
                  <a:lnTo>
                    <a:pt x="153" y="136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A59B9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8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8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»"/>
              <a:defRPr sz="280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 sz="1800">
                <a:solidFill>
                  <a:schemeClr val="dk1"/>
                </a:solidFill>
              </a:defRPr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 sz="1800">
                <a:solidFill>
                  <a:schemeClr val="dk1"/>
                </a:solidFill>
              </a:defRPr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>
                <a:solidFill>
                  <a:schemeClr val="dk1"/>
                </a:solidFill>
              </a:defRPr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>
                <a:solidFill>
                  <a:schemeClr val="dk1"/>
                </a:solidFill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32" name="Google Shape;32;p5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5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9"/>
          <p:cNvSpPr txBox="1">
            <a:spLocks noGrp="1"/>
          </p:cNvSpPr>
          <p:nvPr>
            <p:ph type="body" idx="1"/>
          </p:nvPr>
        </p:nvSpPr>
        <p:spPr>
          <a:xfrm>
            <a:off x="1219199" y="4484080"/>
            <a:ext cx="7239001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949AA0"/>
              </a:buClr>
              <a:buSzPts val="1800"/>
              <a:buNone/>
              <a:defRPr sz="1800">
                <a:solidFill>
                  <a:srgbClr val="949AA0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949AA0"/>
              </a:buClr>
              <a:buSzPts val="1600"/>
              <a:buNone/>
              <a:defRPr sz="1600">
                <a:solidFill>
                  <a:srgbClr val="949AA0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949AA0"/>
              </a:buClr>
              <a:buSzPts val="1400"/>
              <a:buNone/>
              <a:defRPr sz="1400">
                <a:solidFill>
                  <a:srgbClr val="949AA0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949AA0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59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9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" name="Google Shape;40;p59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0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0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0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60"/>
          <p:cNvSpPr txBox="1">
            <a:spLocks noGrp="1"/>
          </p:cNvSpPr>
          <p:nvPr>
            <p:ph type="body" idx="1"/>
          </p:nvPr>
        </p:nvSpPr>
        <p:spPr>
          <a:xfrm>
            <a:off x="12161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47" name="Google Shape;47;p60"/>
          <p:cNvSpPr txBox="1">
            <a:spLocks noGrp="1"/>
          </p:cNvSpPr>
          <p:nvPr>
            <p:ph type="body" idx="2"/>
          </p:nvPr>
        </p:nvSpPr>
        <p:spPr>
          <a:xfrm>
            <a:off x="5102352" y="841248"/>
            <a:ext cx="37307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1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1"/>
          <p:cNvSpPr txBox="1">
            <a:spLocks noGrp="1"/>
          </p:cNvSpPr>
          <p:nvPr>
            <p:ph type="body" idx="1"/>
          </p:nvPr>
        </p:nvSpPr>
        <p:spPr>
          <a:xfrm>
            <a:off x="1219200" y="841248"/>
            <a:ext cx="37338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61"/>
          <p:cNvSpPr txBox="1">
            <a:spLocks noGrp="1"/>
          </p:cNvSpPr>
          <p:nvPr>
            <p:ph type="body" idx="2"/>
          </p:nvPr>
        </p:nvSpPr>
        <p:spPr>
          <a:xfrm>
            <a:off x="5105400" y="841248"/>
            <a:ext cx="3735267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61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1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6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1"/>
          <p:cNvSpPr txBox="1">
            <a:spLocks noGrp="1"/>
          </p:cNvSpPr>
          <p:nvPr>
            <p:ph type="body" idx="3"/>
          </p:nvPr>
        </p:nvSpPr>
        <p:spPr>
          <a:xfrm>
            <a:off x="1216152" y="1380744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56" name="Google Shape;56;p61"/>
          <p:cNvSpPr txBox="1">
            <a:spLocks noGrp="1"/>
          </p:cNvSpPr>
          <p:nvPr>
            <p:ph type="body" idx="4"/>
          </p:nvPr>
        </p:nvSpPr>
        <p:spPr>
          <a:xfrm>
            <a:off x="5102352" y="1380743"/>
            <a:ext cx="3730752" cy="384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62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2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62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6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63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6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63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4"/>
          <p:cNvSpPr txBox="1">
            <a:spLocks noGrp="1"/>
          </p:cNvSpPr>
          <p:nvPr>
            <p:ph type="title"/>
          </p:nvPr>
        </p:nvSpPr>
        <p:spPr>
          <a:xfrm>
            <a:off x="5715000" y="395287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FF7605"/>
              </a:buClr>
              <a:buSzPts val="2000"/>
              <a:buFont typeface="Calibri"/>
              <a:buNone/>
              <a:defRPr sz="2000" b="1">
                <a:solidFill>
                  <a:srgbClr val="FF760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4"/>
          <p:cNvSpPr txBox="1">
            <a:spLocks noGrp="1"/>
          </p:cNvSpPr>
          <p:nvPr>
            <p:ph type="body" idx="1"/>
          </p:nvPr>
        </p:nvSpPr>
        <p:spPr>
          <a:xfrm>
            <a:off x="5715000" y="1557337"/>
            <a:ext cx="3008313" cy="438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rgbClr val="9FACBA"/>
              </a:buClr>
              <a:buSzPts val="1400"/>
              <a:buNone/>
              <a:defRPr sz="1400">
                <a:solidFill>
                  <a:srgbClr val="9FACBA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64"/>
          <p:cNvSpPr txBox="1">
            <a:spLocks noGrp="1"/>
          </p:cNvSpPr>
          <p:nvPr>
            <p:ph type="body" idx="2"/>
          </p:nvPr>
        </p:nvSpPr>
        <p:spPr>
          <a:xfrm>
            <a:off x="914400" y="381000"/>
            <a:ext cx="4800600" cy="594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70" name="Google Shape;70;p64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6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64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5"/>
          <p:cNvSpPr txBox="1">
            <a:spLocks noGrp="1"/>
          </p:cNvSpPr>
          <p:nvPr>
            <p:ph type="title"/>
          </p:nvPr>
        </p:nvSpPr>
        <p:spPr>
          <a:xfrm>
            <a:off x="1219200" y="4624754"/>
            <a:ext cx="5486400" cy="404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65"/>
          <p:cNvSpPr>
            <a:spLocks noGrp="1"/>
          </p:cNvSpPr>
          <p:nvPr>
            <p:ph type="pic" idx="2"/>
          </p:nvPr>
        </p:nvSpPr>
        <p:spPr>
          <a:xfrm>
            <a:off x="1323975" y="381000"/>
            <a:ext cx="5867400" cy="4081462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65"/>
          <p:cNvSpPr txBox="1">
            <a:spLocks noGrp="1"/>
          </p:cNvSpPr>
          <p:nvPr>
            <p:ph type="body" idx="1"/>
          </p:nvPr>
        </p:nvSpPr>
        <p:spPr>
          <a:xfrm>
            <a:off x="1219200" y="5029200"/>
            <a:ext cx="40386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7" name="Google Shape;77;p65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65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6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66"/>
          <p:cNvSpPr txBox="1">
            <a:spLocks noGrp="1"/>
          </p:cNvSpPr>
          <p:nvPr>
            <p:ph type="body" idx="1"/>
          </p:nvPr>
        </p:nvSpPr>
        <p:spPr>
          <a:xfrm rot="5400000">
            <a:off x="2743200" y="-685800"/>
            <a:ext cx="4419600" cy="7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83" name="Google Shape;83;p6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6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7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67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2"/>
              </a:buClr>
              <a:buSzPts val="1800"/>
              <a:buChar char="»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˃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&gt;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+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−"/>
              <a:defRPr/>
            </a:lvl9pPr>
          </a:lstStyle>
          <a:p>
            <a:endParaRPr/>
          </a:p>
        </p:txBody>
      </p:sp>
      <p:sp>
        <p:nvSpPr>
          <p:cNvPr id="89" name="Google Shape;89;p67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67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6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8"/>
          <p:cNvSpPr txBox="1">
            <a:spLocks noGrp="1"/>
          </p:cNvSpPr>
          <p:nvPr>
            <p:ph type="ctrTitle"/>
          </p:nvPr>
        </p:nvSpPr>
        <p:spPr>
          <a:xfrm>
            <a:off x="685800" y="609601"/>
            <a:ext cx="7772400" cy="1981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68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6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68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68"/>
          <p:cNvSpPr txBox="1"/>
          <p:nvPr/>
        </p:nvSpPr>
        <p:spPr>
          <a:xfrm>
            <a:off x="609600" y="4953000"/>
            <a:ext cx="71628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Dr. Mian M. Hamayun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i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mian.hamayun@seecs.edu.pk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520"/>
              <a:buFont typeface="Noto Sans Symbols"/>
              <a:buNone/>
            </a:pPr>
            <a:r>
              <a:rPr lang="en-US" sz="2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http://seecs.nust.edu.pk/faculty/mianhamayun.html</a:t>
            </a:r>
            <a:endParaRPr sz="20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>
            <a:alphaModFix/>
          </a:blip>
          <a:tile tx="0" ty="0" sx="100000" sy="100000" flip="none" algn="tl"/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52000">
                <a:srgbClr val="992E2C"/>
              </a:gs>
              <a:gs pos="100000">
                <a:srgbClr val="661F1D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5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gradFill>
            <a:gsLst>
              <a:gs pos="0">
                <a:srgbClr val="FEAC69"/>
              </a:gs>
              <a:gs pos="50000">
                <a:schemeClr val="accent1"/>
              </a:gs>
              <a:gs pos="100000">
                <a:srgbClr val="992E2C"/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56"/>
          <p:cNvSpPr txBox="1">
            <a:spLocks noGrp="1"/>
          </p:cNvSpPr>
          <p:nvPr>
            <p:ph type="title"/>
          </p:nvPr>
        </p:nvSpPr>
        <p:spPr>
          <a:xfrm>
            <a:off x="1219200" y="5257800"/>
            <a:ext cx="7239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56"/>
          <p:cNvSpPr txBox="1">
            <a:spLocks noGrp="1"/>
          </p:cNvSpPr>
          <p:nvPr>
            <p:ph type="body" idx="1"/>
          </p:nvPr>
        </p:nvSpPr>
        <p:spPr>
          <a:xfrm>
            <a:off x="1219200" y="838200"/>
            <a:ext cx="7467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˃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+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&gt;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+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−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6"/>
          <p:cNvSpPr txBox="1">
            <a:spLocks noGrp="1"/>
          </p:cNvSpPr>
          <p:nvPr>
            <p:ph type="ftr" idx="11"/>
          </p:nvPr>
        </p:nvSpPr>
        <p:spPr>
          <a:xfrm>
            <a:off x="1259680" y="6553200"/>
            <a:ext cx="7162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C9BA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5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200" b="0" i="0" u="none" strike="noStrike" cap="none">
                <a:solidFill>
                  <a:srgbClr val="A59B9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" name="Google Shape;16;p56"/>
          <p:cNvSpPr/>
          <p:nvPr/>
        </p:nvSpPr>
        <p:spPr>
          <a:xfrm>
            <a:off x="8453438" y="5715000"/>
            <a:ext cx="242887" cy="431800"/>
          </a:xfrm>
          <a:custGeom>
            <a:avLst/>
            <a:gdLst/>
            <a:ahLst/>
            <a:cxnLst/>
            <a:rect l="l" t="t" r="r" b="b"/>
            <a:pathLst>
              <a:path w="153" h="272" extrusionOk="0">
                <a:moveTo>
                  <a:pt x="62" y="0"/>
                </a:moveTo>
                <a:lnTo>
                  <a:pt x="0" y="0"/>
                </a:lnTo>
                <a:lnTo>
                  <a:pt x="89" y="136"/>
                </a:lnTo>
                <a:lnTo>
                  <a:pt x="89" y="136"/>
                </a:lnTo>
                <a:lnTo>
                  <a:pt x="0" y="272"/>
                </a:lnTo>
                <a:lnTo>
                  <a:pt x="62" y="272"/>
                </a:lnTo>
                <a:lnTo>
                  <a:pt x="153" y="136"/>
                </a:lnTo>
                <a:lnTo>
                  <a:pt x="62" y="0"/>
                </a:lnTo>
                <a:close/>
              </a:path>
            </a:pathLst>
          </a:custGeom>
          <a:solidFill>
            <a:srgbClr val="A59B98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56"/>
          <p:cNvSpPr txBox="1">
            <a:spLocks noGrp="1"/>
          </p:cNvSpPr>
          <p:nvPr>
            <p:ph type="dt" idx="10"/>
          </p:nvPr>
        </p:nvSpPr>
        <p:spPr>
          <a:xfrm rot="-5400000">
            <a:off x="-1198682" y="4821116"/>
            <a:ext cx="2625969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0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azia.perwaiz@seecs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bc4b04de9_0_0"/>
          <p:cNvSpPr txBox="1">
            <a:spLocks noGrp="1"/>
          </p:cNvSpPr>
          <p:nvPr>
            <p:ph type="ctrTitle"/>
          </p:nvPr>
        </p:nvSpPr>
        <p:spPr>
          <a:xfrm>
            <a:off x="990600" y="685800"/>
            <a:ext cx="79248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C00000"/>
                </a:solidFill>
              </a:rPr>
              <a:t>CS212: Object-Oriented Programming</a:t>
            </a:r>
            <a:endParaRPr/>
          </a:p>
        </p:txBody>
      </p:sp>
      <p:sp>
        <p:nvSpPr>
          <p:cNvPr id="104" name="Google Shape;104;g32bc4b04de9_0_0"/>
          <p:cNvSpPr txBox="1">
            <a:spLocks noGrp="1"/>
          </p:cNvSpPr>
          <p:nvPr>
            <p:ph type="subTitle" idx="1"/>
          </p:nvPr>
        </p:nvSpPr>
        <p:spPr>
          <a:xfrm>
            <a:off x="990600" y="1752600"/>
            <a:ext cx="67818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None/>
            </a:pPr>
            <a:r>
              <a:rPr lang="en-US" sz="32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Introduction</a:t>
            </a:r>
            <a:endParaRPr/>
          </a:p>
        </p:txBody>
      </p:sp>
      <p:sp>
        <p:nvSpPr>
          <p:cNvPr id="105" name="Google Shape;105;g32bc4b04de9_0_0"/>
          <p:cNvSpPr txBox="1"/>
          <p:nvPr/>
        </p:nvSpPr>
        <p:spPr>
          <a:xfrm>
            <a:off x="990600" y="5105400"/>
            <a:ext cx="777240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endParaRPr sz="1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714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42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Ayesha Kanwal</a:t>
            </a:r>
            <a:endParaRPr sz="3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408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Ayesha.kanwal@seecs.edu.pk</a:t>
            </a:r>
            <a:endParaRPr sz="2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8"/>
              </a:spcBef>
              <a:spcAft>
                <a:spcPts val="0"/>
              </a:spcAft>
              <a:buClr>
                <a:srgbClr val="9FACBA"/>
              </a:buClr>
              <a:buSzPct val="100000"/>
              <a:buFont typeface="Noto Sans Symbols"/>
              <a:buNone/>
            </a:pP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Slides Courtesy (Dr Nazia </a:t>
            </a:r>
            <a:r>
              <a:rPr lang="en-US" sz="2400" dirty="0" err="1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Perwaiz</a:t>
            </a:r>
            <a:r>
              <a:rPr lang="en-US" sz="24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400" dirty="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6" name="Google Shape;106;g32bc4b04de9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48450" y="5019675"/>
            <a:ext cx="2495550" cy="18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2bc4b04de9_0_9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12" name="Google Shape;112;g32bc4b04de9_0_97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RECAP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g32bc4b04de9_0_97"/>
          <p:cNvSpPr txBox="1"/>
          <p:nvPr/>
        </p:nvSpPr>
        <p:spPr>
          <a:xfrm>
            <a:off x="398075" y="1722175"/>
            <a:ext cx="87459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object-oriented programming basics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Introduce Object-oriented analysis-and-design (OOAD) process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Learn a typical Java program development environment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Write simple Java applications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2bc4b04de9_0_19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9" name="Google Shape;119;g32bc4b04de9_0_192"/>
          <p:cNvSpPr txBox="1"/>
          <p:nvPr/>
        </p:nvSpPr>
        <p:spPr>
          <a:xfrm>
            <a:off x="1066800" y="223296"/>
            <a:ext cx="7086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2bc4b04de9_0_192"/>
          <p:cNvSpPr txBox="1"/>
          <p:nvPr/>
        </p:nvSpPr>
        <p:spPr>
          <a:xfrm>
            <a:off x="398075" y="1722175"/>
            <a:ext cx="8226600" cy="36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Structures in Java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Selection structure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Repetition structure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937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Char char="○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Break/ Continue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52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Increment/ decrement operators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 We learn about Control Structures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Structured-programming principle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Control structures help build and manipulate objects</a:t>
            </a:r>
            <a:endParaRPr/>
          </a:p>
          <a:p>
            <a:pPr marL="628650" lvl="0" indent="-5715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Program control</a:t>
            </a:r>
            <a:endParaRPr/>
          </a:p>
          <a:p>
            <a:pPr marL="1028700" lvl="1" indent="-571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Specifying the order in which actions execute</a:t>
            </a:r>
            <a:endParaRPr/>
          </a:p>
          <a:p>
            <a:pPr marL="1428750" lvl="2" indent="-571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Control structures help specify this order</a:t>
            </a:r>
            <a:endParaRPr/>
          </a:p>
          <a:p>
            <a:pPr marL="1428750" lvl="2" indent="-4064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26" name="Google Shape;126;p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 in Java</a:t>
            </a:r>
            <a:endParaRPr/>
          </a:p>
        </p:txBody>
      </p:sp>
      <p:sp>
        <p:nvSpPr>
          <p:cNvPr id="127" name="Google Shape;127;p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Sequential execution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Program statements execute one after the other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Transfer of control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Three control statements can specify order of statements</a:t>
            </a:r>
            <a:endParaRPr/>
          </a:p>
          <a:p>
            <a:pPr marL="1143000" lvl="2" indent="-2286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Sequence structure</a:t>
            </a:r>
            <a:endParaRPr/>
          </a:p>
          <a:p>
            <a:pPr marL="1143000" lvl="2" indent="-2286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Selection structure</a:t>
            </a:r>
            <a:endParaRPr/>
          </a:p>
          <a:p>
            <a:pPr marL="1143000" lvl="2" indent="-2286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Repetition structure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  <p:sp>
        <p:nvSpPr>
          <p:cNvPr id="134" name="Google Shape;134;p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Flowchart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Graphical representation of algorithm</a:t>
            </a:r>
            <a:endParaRPr/>
          </a:p>
          <a:p>
            <a:pPr marL="1143000" lvl="2" indent="-2286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▪"/>
            </a:pPr>
            <a:r>
              <a:rPr lang="en-US" sz="2600"/>
              <a:t>Flowlines indicate order in which actions execute</a:t>
            </a:r>
            <a:endParaRPr/>
          </a:p>
          <a:p>
            <a:pPr marL="1143000" lvl="2" indent="-63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1143000" lvl="2" indent="-63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  <p:sp>
        <p:nvSpPr>
          <p:cNvPr id="141" name="Google Shape;141;p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1143000" lvl="2" indent="-63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147" name="Google Shape;147;p5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Flowchart Example</a:t>
            </a:r>
            <a:endParaRPr/>
          </a:p>
        </p:txBody>
      </p:sp>
      <p:sp>
        <p:nvSpPr>
          <p:cNvPr id="148" name="Google Shape;148;p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479925" y="3108325"/>
            <a:ext cx="3063875" cy="641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71888" y="2903538"/>
            <a:ext cx="12700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671888" y="3005138"/>
            <a:ext cx="12700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3671888" y="3336925"/>
            <a:ext cx="12700" cy="1588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671888" y="3438525"/>
            <a:ext cx="12700" cy="1588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71888" y="3770313"/>
            <a:ext cx="12700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71888" y="3871913"/>
            <a:ext cx="12700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095375" y="3697288"/>
            <a:ext cx="2514600" cy="5730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1095375" y="3697288"/>
            <a:ext cx="2543175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09975" y="3697288"/>
            <a:ext cx="28575" cy="6016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1095375" y="4270375"/>
            <a:ext cx="2514600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1095375" y="3697288"/>
            <a:ext cx="28575" cy="5730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095375" y="2720975"/>
            <a:ext cx="2514600" cy="5730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1095375" y="2720975"/>
            <a:ext cx="2543175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609975" y="2720975"/>
            <a:ext cx="28575" cy="601663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1095375" y="3294063"/>
            <a:ext cx="2514600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1095375" y="2720975"/>
            <a:ext cx="28575" cy="5730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1095375" y="2720975"/>
            <a:ext cx="2543175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609975" y="2720975"/>
            <a:ext cx="28575" cy="601663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1095375" y="3294063"/>
            <a:ext cx="2514600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1095375" y="2720975"/>
            <a:ext cx="28575" cy="573088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1323975" y="2863850"/>
            <a:ext cx="2114550" cy="315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add grade to total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2352675" y="2319338"/>
            <a:ext cx="28575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2352675" y="2547938"/>
            <a:ext cx="28575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2352675" y="3294063"/>
            <a:ext cx="28575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2352675" y="3524250"/>
            <a:ext cx="28575" cy="1588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2352675" y="4270375"/>
            <a:ext cx="28575" cy="1588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2352675" y="4500563"/>
            <a:ext cx="28575" cy="15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3838575" y="2892425"/>
            <a:ext cx="4695900" cy="3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total = total + grade;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438400" y="2232025"/>
            <a:ext cx="28575" cy="1588"/>
          </a:xfrm>
          <a:custGeom>
            <a:avLst/>
            <a:gdLst/>
            <a:ahLst/>
            <a:cxnLst/>
            <a:rect l="l" t="t" r="r" b="b"/>
            <a:pathLst>
              <a:path w="18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2438400" y="4759325"/>
            <a:ext cx="28575" cy="1588"/>
          </a:xfrm>
          <a:custGeom>
            <a:avLst/>
            <a:gdLst/>
            <a:ahLst/>
            <a:cxnLst/>
            <a:rect l="l" t="t" r="r" b="b"/>
            <a:pathLst>
              <a:path w="18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18" y="0"/>
                </a:lnTo>
                <a:lnTo>
                  <a:pt x="18" y="0"/>
                </a:lnTo>
                <a:lnTo>
                  <a:pt x="18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1095375" y="3697288"/>
            <a:ext cx="2543175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609975" y="3697288"/>
            <a:ext cx="28575" cy="601662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1095375" y="4270375"/>
            <a:ext cx="2514600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1095375" y="3697288"/>
            <a:ext cx="28575" cy="5730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1409700" y="3840163"/>
            <a:ext cx="1943100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add 1 to counter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838575" y="3868738"/>
            <a:ext cx="3000375" cy="315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counter = counter + 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848475" y="38862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40D9FF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7010400" y="3886200"/>
            <a:ext cx="1524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2971800" y="4648200"/>
            <a:ext cx="152400" cy="228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1143000" y="5498068"/>
            <a:ext cx="64706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Fig 1: Flowcharting Java</a:t>
            </a:r>
            <a:r>
              <a:rPr lang="en-US"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r>
              <a:rPr lang="en-US"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s sequence structure.</a:t>
            </a:r>
            <a:endParaRPr/>
          </a:p>
        </p:txBody>
      </p:sp>
      <p:sp>
        <p:nvSpPr>
          <p:cNvPr id="190" name="Google Shape;190;p5"/>
          <p:cNvSpPr/>
          <p:nvPr/>
        </p:nvSpPr>
        <p:spPr>
          <a:xfrm>
            <a:off x="2286000" y="47244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2286000" y="19812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2" name="Google Shape;192;p5"/>
          <p:cNvCxnSpPr/>
          <p:nvPr/>
        </p:nvCxnSpPr>
        <p:spPr>
          <a:xfrm>
            <a:off x="2362200" y="2133600"/>
            <a:ext cx="0" cy="6096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3" name="Google Shape;193;p5"/>
          <p:cNvCxnSpPr/>
          <p:nvPr/>
        </p:nvCxnSpPr>
        <p:spPr>
          <a:xfrm>
            <a:off x="2362200" y="32766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5"/>
          <p:cNvCxnSpPr/>
          <p:nvPr/>
        </p:nvCxnSpPr>
        <p:spPr>
          <a:xfrm>
            <a:off x="2362200" y="42672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95" name="Google Shape;195;p5"/>
          <p:cNvGrpSpPr/>
          <p:nvPr/>
        </p:nvGrpSpPr>
        <p:grpSpPr>
          <a:xfrm>
            <a:off x="2438400" y="1219200"/>
            <a:ext cx="4206875" cy="3200400"/>
            <a:chOff x="1536" y="816"/>
            <a:chExt cx="2650" cy="2016"/>
          </a:xfrm>
        </p:grpSpPr>
        <p:sp>
          <p:nvSpPr>
            <p:cNvPr id="196" name="Google Shape;196;p5"/>
            <p:cNvSpPr txBox="1"/>
            <p:nvPr/>
          </p:nvSpPr>
          <p:spPr>
            <a:xfrm>
              <a:off x="2400" y="816"/>
              <a:ext cx="1786" cy="218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Flowlines</a:t>
              </a:r>
              <a:endParaRPr/>
            </a:p>
          </p:txBody>
        </p:sp>
        <p:cxnSp>
          <p:nvCxnSpPr>
            <p:cNvPr id="197" name="Google Shape;197;p5"/>
            <p:cNvCxnSpPr/>
            <p:nvPr/>
          </p:nvCxnSpPr>
          <p:spPr>
            <a:xfrm flipH="1">
              <a:off x="1536" y="1056"/>
              <a:ext cx="1104" cy="43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8" name="Google Shape;198;p5"/>
            <p:cNvCxnSpPr/>
            <p:nvPr/>
          </p:nvCxnSpPr>
          <p:spPr>
            <a:xfrm flipH="1">
              <a:off x="1536" y="1056"/>
              <a:ext cx="1104" cy="17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99" name="Google Shape;199;p5"/>
            <p:cNvCxnSpPr/>
            <p:nvPr/>
          </p:nvCxnSpPr>
          <p:spPr>
            <a:xfrm flipH="1">
              <a:off x="1536" y="1056"/>
              <a:ext cx="1104" cy="115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0" name="Google Shape;200;p5"/>
          <p:cNvGrpSpPr/>
          <p:nvPr/>
        </p:nvGrpSpPr>
        <p:grpSpPr>
          <a:xfrm>
            <a:off x="3657600" y="1981200"/>
            <a:ext cx="4130675" cy="1981200"/>
            <a:chOff x="2304" y="1248"/>
            <a:chExt cx="2602" cy="1248"/>
          </a:xfrm>
        </p:grpSpPr>
        <p:sp>
          <p:nvSpPr>
            <p:cNvPr id="201" name="Google Shape;201;p5"/>
            <p:cNvSpPr txBox="1"/>
            <p:nvPr/>
          </p:nvSpPr>
          <p:spPr>
            <a:xfrm>
              <a:off x="3120" y="1248"/>
              <a:ext cx="1786" cy="218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Action Symbols</a:t>
              </a:r>
              <a:endParaRPr/>
            </a:p>
          </p:txBody>
        </p:sp>
        <p:cxnSp>
          <p:nvCxnSpPr>
            <p:cNvPr id="202" name="Google Shape;202;p5"/>
            <p:cNvCxnSpPr/>
            <p:nvPr/>
          </p:nvCxnSpPr>
          <p:spPr>
            <a:xfrm flipH="1">
              <a:off x="2304" y="1488"/>
              <a:ext cx="1104" cy="38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3" name="Google Shape;203;p5"/>
            <p:cNvCxnSpPr/>
            <p:nvPr/>
          </p:nvCxnSpPr>
          <p:spPr>
            <a:xfrm flipH="1">
              <a:off x="2304" y="1488"/>
              <a:ext cx="1104" cy="1008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204" name="Google Shape;204;p5"/>
          <p:cNvGrpSpPr/>
          <p:nvPr/>
        </p:nvGrpSpPr>
        <p:grpSpPr>
          <a:xfrm>
            <a:off x="2438400" y="2133600"/>
            <a:ext cx="4435475" cy="2784475"/>
            <a:chOff x="1536" y="1344"/>
            <a:chExt cx="2794" cy="1754"/>
          </a:xfrm>
        </p:grpSpPr>
        <p:sp>
          <p:nvSpPr>
            <p:cNvPr id="205" name="Google Shape;205;p5"/>
            <p:cNvSpPr txBox="1"/>
            <p:nvPr/>
          </p:nvSpPr>
          <p:spPr>
            <a:xfrm>
              <a:off x="2544" y="2880"/>
              <a:ext cx="1786" cy="218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Connector Symbols</a:t>
              </a:r>
              <a:endParaRPr/>
            </a:p>
          </p:txBody>
        </p:sp>
        <p:cxnSp>
          <p:nvCxnSpPr>
            <p:cNvPr id="206" name="Google Shape;206;p5"/>
            <p:cNvCxnSpPr/>
            <p:nvPr/>
          </p:nvCxnSpPr>
          <p:spPr>
            <a:xfrm rot="10800000">
              <a:off x="1536" y="1344"/>
              <a:ext cx="1008" cy="168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7" name="Google Shape;207;p5"/>
            <p:cNvCxnSpPr/>
            <p:nvPr/>
          </p:nvCxnSpPr>
          <p:spPr>
            <a:xfrm rot="10800000">
              <a:off x="1584" y="3024"/>
              <a:ext cx="96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1143000" lvl="2" indent="-63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13" name="Google Shape;213;p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Equality &amp; Relational Operators</a:t>
            </a:r>
            <a:endParaRPr/>
          </a:p>
        </p:txBody>
      </p:sp>
      <p:sp>
        <p:nvSpPr>
          <p:cNvPr id="214" name="Google Shape;214;p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215" name="Google Shape;21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1219200"/>
            <a:ext cx="8437093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1143000" lvl="2" indent="-6350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Equality &amp; Relational Operators</a:t>
            </a:r>
            <a:endParaRPr/>
          </a:p>
        </p:txBody>
      </p:sp>
      <p:sp>
        <p:nvSpPr>
          <p:cNvPr id="222" name="Google Shape;222;p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223" name="Google Shape;2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0400" y="1249680"/>
            <a:ext cx="7395400" cy="347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Java has a </a:t>
            </a:r>
            <a:r>
              <a:rPr lang="en-US" sz="3600" b="1">
                <a:solidFill>
                  <a:srgbClr val="FF0000"/>
                </a:solidFill>
              </a:rPr>
              <a:t>sequence structure</a:t>
            </a:r>
            <a:r>
              <a:rPr lang="en-US" sz="3600"/>
              <a:t> “built-in”</a:t>
            </a:r>
            <a:endParaRPr/>
          </a:p>
          <a:p>
            <a:pPr marL="342900" lvl="0" indent="-342900" algn="l" rtl="0">
              <a:spcBef>
                <a:spcPts val="666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Java provides three </a:t>
            </a:r>
            <a:r>
              <a:rPr lang="en-US" sz="3600" b="1">
                <a:solidFill>
                  <a:srgbClr val="00B050"/>
                </a:solidFill>
              </a:rPr>
              <a:t>selection structures</a:t>
            </a:r>
            <a:endParaRPr b="1">
              <a:solidFill>
                <a:srgbClr val="00B050"/>
              </a:solidFill>
            </a:endParaRPr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if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if/else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Switch</a:t>
            </a:r>
            <a:endParaRPr/>
          </a:p>
          <a:p>
            <a:pPr marL="342900" lvl="0" indent="-342900" algn="l" rtl="0">
              <a:spcBef>
                <a:spcPts val="666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Java provides three </a:t>
            </a:r>
            <a:r>
              <a:rPr lang="en-US" sz="3600" b="1">
                <a:solidFill>
                  <a:srgbClr val="0000FF"/>
                </a:solidFill>
              </a:rPr>
              <a:t>repetition structures</a:t>
            </a:r>
            <a:endParaRPr b="1">
              <a:solidFill>
                <a:srgbClr val="0000FF"/>
              </a:solidFill>
            </a:endParaRPr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while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do/while</a:t>
            </a:r>
            <a:endParaRPr/>
          </a:p>
          <a:p>
            <a:pPr marL="742950" lvl="1" indent="-285750" algn="l" rtl="0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for</a:t>
            </a:r>
            <a:endParaRPr/>
          </a:p>
          <a:p>
            <a:pPr marL="0" lvl="0" indent="0" algn="l" rtl="0">
              <a:spcBef>
                <a:spcPts val="518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/>
          </a:p>
        </p:txBody>
      </p:sp>
      <p:sp>
        <p:nvSpPr>
          <p:cNvPr id="229" name="Google Shape;229;p8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  <p:sp>
        <p:nvSpPr>
          <p:cNvPr id="230" name="Google Shape;230;p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The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3600"/>
              <a:t> Selection Structure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Single-entry/single-exit/ </a:t>
            </a:r>
            <a:r>
              <a:rPr lang="en-US" sz="2600" b="1"/>
              <a:t>single-selection</a:t>
            </a:r>
            <a:r>
              <a:rPr lang="en-US" sz="2600"/>
              <a:t> structure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Perform action only when condition is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Action/decision programming model</a:t>
            </a:r>
            <a:endParaRPr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36" name="Google Shape;236;p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 - Single Selection</a:t>
            </a:r>
            <a:endParaRPr/>
          </a:p>
        </p:txBody>
      </p:sp>
      <p:sp>
        <p:nvSpPr>
          <p:cNvPr id="237" name="Google Shape;237;p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The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3600"/>
              <a:t> Selection Structure</a:t>
            </a:r>
            <a:endParaRPr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43" name="Google Shape;243;p1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 - Single Selection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803900" y="3973513"/>
            <a:ext cx="2208213" cy="4032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803900" y="3973513"/>
            <a:ext cx="2241550" cy="3333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8012113" y="3973513"/>
            <a:ext cx="33337" cy="436562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803900" y="4376738"/>
            <a:ext cx="2208213" cy="3333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803900" y="3973513"/>
            <a:ext cx="33338" cy="4032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787525" y="3436938"/>
            <a:ext cx="3213100" cy="1443037"/>
          </a:xfrm>
          <a:custGeom>
            <a:avLst/>
            <a:gdLst/>
            <a:ahLst/>
            <a:cxnLst/>
            <a:rect l="l" t="t" r="r" b="b"/>
            <a:pathLst>
              <a:path w="2024" h="909" extrusionOk="0">
                <a:moveTo>
                  <a:pt x="1012" y="0"/>
                </a:moveTo>
                <a:lnTo>
                  <a:pt x="0" y="465"/>
                </a:lnTo>
                <a:lnTo>
                  <a:pt x="1012" y="909"/>
                </a:lnTo>
                <a:lnTo>
                  <a:pt x="2024" y="465"/>
                </a:lnTo>
                <a:lnTo>
                  <a:pt x="101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1787525" y="3436938"/>
            <a:ext cx="3279775" cy="1476375"/>
          </a:xfrm>
          <a:custGeom>
            <a:avLst/>
            <a:gdLst/>
            <a:ahLst/>
            <a:cxnLst/>
            <a:rect l="l" t="t" r="r" b="b"/>
            <a:pathLst>
              <a:path w="2066" h="930" extrusionOk="0">
                <a:moveTo>
                  <a:pt x="1012" y="21"/>
                </a:moveTo>
                <a:lnTo>
                  <a:pt x="0" y="486"/>
                </a:lnTo>
                <a:lnTo>
                  <a:pt x="0" y="486"/>
                </a:lnTo>
                <a:lnTo>
                  <a:pt x="0" y="465"/>
                </a:lnTo>
                <a:lnTo>
                  <a:pt x="1012" y="909"/>
                </a:lnTo>
                <a:lnTo>
                  <a:pt x="1012" y="930"/>
                </a:lnTo>
                <a:lnTo>
                  <a:pt x="1012" y="909"/>
                </a:lnTo>
                <a:lnTo>
                  <a:pt x="2024" y="465"/>
                </a:lnTo>
                <a:lnTo>
                  <a:pt x="2024" y="465"/>
                </a:lnTo>
                <a:lnTo>
                  <a:pt x="2066" y="486"/>
                </a:lnTo>
                <a:lnTo>
                  <a:pt x="2024" y="486"/>
                </a:lnTo>
                <a:lnTo>
                  <a:pt x="1012" y="930"/>
                </a:lnTo>
                <a:lnTo>
                  <a:pt x="1012" y="930"/>
                </a:lnTo>
                <a:lnTo>
                  <a:pt x="1012" y="930"/>
                </a:lnTo>
                <a:lnTo>
                  <a:pt x="0" y="486"/>
                </a:lnTo>
                <a:lnTo>
                  <a:pt x="0" y="486"/>
                </a:lnTo>
                <a:lnTo>
                  <a:pt x="0" y="465"/>
                </a:lnTo>
                <a:lnTo>
                  <a:pt x="1012" y="0"/>
                </a:lnTo>
                <a:lnTo>
                  <a:pt x="1012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3394075" y="3436938"/>
            <a:ext cx="1606550" cy="771525"/>
          </a:xfrm>
          <a:custGeom>
            <a:avLst/>
            <a:gdLst/>
            <a:ahLst/>
            <a:cxnLst/>
            <a:rect l="l" t="t" r="r" b="b"/>
            <a:pathLst>
              <a:path w="1012" h="486" extrusionOk="0">
                <a:moveTo>
                  <a:pt x="1012" y="486"/>
                </a:moveTo>
                <a:lnTo>
                  <a:pt x="0" y="21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012" y="465"/>
                </a:lnTo>
                <a:lnTo>
                  <a:pt x="1012" y="486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1787525" y="3436938"/>
            <a:ext cx="3279775" cy="1476375"/>
          </a:xfrm>
          <a:custGeom>
            <a:avLst/>
            <a:gdLst/>
            <a:ahLst/>
            <a:cxnLst/>
            <a:rect l="l" t="t" r="r" b="b"/>
            <a:pathLst>
              <a:path w="2066" h="930" extrusionOk="0">
                <a:moveTo>
                  <a:pt x="1012" y="21"/>
                </a:moveTo>
                <a:lnTo>
                  <a:pt x="0" y="486"/>
                </a:lnTo>
                <a:lnTo>
                  <a:pt x="0" y="486"/>
                </a:lnTo>
                <a:lnTo>
                  <a:pt x="0" y="465"/>
                </a:lnTo>
                <a:lnTo>
                  <a:pt x="1012" y="909"/>
                </a:lnTo>
                <a:lnTo>
                  <a:pt x="1012" y="930"/>
                </a:lnTo>
                <a:lnTo>
                  <a:pt x="1012" y="909"/>
                </a:lnTo>
                <a:lnTo>
                  <a:pt x="2024" y="465"/>
                </a:lnTo>
                <a:lnTo>
                  <a:pt x="2024" y="465"/>
                </a:lnTo>
                <a:lnTo>
                  <a:pt x="2066" y="486"/>
                </a:lnTo>
                <a:lnTo>
                  <a:pt x="2024" y="486"/>
                </a:lnTo>
                <a:lnTo>
                  <a:pt x="1012" y="930"/>
                </a:lnTo>
                <a:lnTo>
                  <a:pt x="1012" y="930"/>
                </a:lnTo>
                <a:lnTo>
                  <a:pt x="1012" y="930"/>
                </a:lnTo>
                <a:lnTo>
                  <a:pt x="0" y="486"/>
                </a:lnTo>
                <a:lnTo>
                  <a:pt x="0" y="486"/>
                </a:lnTo>
                <a:lnTo>
                  <a:pt x="0" y="465"/>
                </a:lnTo>
                <a:lnTo>
                  <a:pt x="1012" y="0"/>
                </a:lnTo>
                <a:lnTo>
                  <a:pt x="1012" y="21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3394075" y="3436938"/>
            <a:ext cx="1606550" cy="771525"/>
          </a:xfrm>
          <a:custGeom>
            <a:avLst/>
            <a:gdLst/>
            <a:ahLst/>
            <a:cxnLst/>
            <a:rect l="l" t="t" r="r" b="b"/>
            <a:pathLst>
              <a:path w="1012" h="486" extrusionOk="0">
                <a:moveTo>
                  <a:pt x="1012" y="486"/>
                </a:moveTo>
                <a:lnTo>
                  <a:pt x="0" y="21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012" y="465"/>
                </a:lnTo>
                <a:lnTo>
                  <a:pt x="1012" y="486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2590800" y="4006850"/>
            <a:ext cx="22083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grade &gt;= 60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3394075" y="2632075"/>
            <a:ext cx="33338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394075" y="3268663"/>
            <a:ext cx="33338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3394075" y="4879975"/>
            <a:ext cx="33338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3394075" y="5516563"/>
            <a:ext cx="33338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494088" y="2530475"/>
            <a:ext cx="33337" cy="1588"/>
          </a:xfrm>
          <a:custGeom>
            <a:avLst/>
            <a:gdLst/>
            <a:ahLst/>
            <a:cxnLst/>
            <a:rect l="l" t="t" r="r" b="b"/>
            <a:pathLst>
              <a:path w="21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21" y="0"/>
                </a:lnTo>
                <a:lnTo>
                  <a:pt x="21" y="0"/>
                </a:lnTo>
                <a:lnTo>
                  <a:pt x="21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494088" y="5784850"/>
            <a:ext cx="33337" cy="1588"/>
          </a:xfrm>
          <a:custGeom>
            <a:avLst/>
            <a:gdLst/>
            <a:ahLst/>
            <a:cxnLst/>
            <a:rect l="l" t="t" r="r" b="b"/>
            <a:pathLst>
              <a:path w="21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21" y="0"/>
                </a:lnTo>
                <a:lnTo>
                  <a:pt x="21" y="0"/>
                </a:lnTo>
                <a:lnTo>
                  <a:pt x="21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562600" y="4159250"/>
            <a:ext cx="1588" cy="3333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5803900" y="3973513"/>
            <a:ext cx="2241550" cy="3333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8012113" y="3973513"/>
            <a:ext cx="33337" cy="4365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803900" y="4376738"/>
            <a:ext cx="2208213" cy="3333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803900" y="3973513"/>
            <a:ext cx="33338" cy="4032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627438" y="5081588"/>
            <a:ext cx="1587" cy="3333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7042150" y="5081588"/>
            <a:ext cx="1588" cy="3333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0"/>
          <p:cNvSpPr/>
          <p:nvPr/>
        </p:nvSpPr>
        <p:spPr>
          <a:xfrm>
            <a:off x="7007225" y="5081588"/>
            <a:ext cx="34925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7007225" y="4376738"/>
            <a:ext cx="34925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033962" y="3854451"/>
            <a:ext cx="61753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2449534" y="5181600"/>
            <a:ext cx="7620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false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6248400" y="4006850"/>
            <a:ext cx="21303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print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Passed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3352800" y="248285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352800" y="560705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0"/>
          <p:cNvCxnSpPr/>
          <p:nvPr/>
        </p:nvCxnSpPr>
        <p:spPr>
          <a:xfrm>
            <a:off x="3429000" y="2635250"/>
            <a:ext cx="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7" name="Google Shape;277;p10"/>
          <p:cNvCxnSpPr/>
          <p:nvPr/>
        </p:nvCxnSpPr>
        <p:spPr>
          <a:xfrm>
            <a:off x="3429000" y="4921250"/>
            <a:ext cx="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8" name="Google Shape;278;p10"/>
          <p:cNvCxnSpPr/>
          <p:nvPr/>
        </p:nvCxnSpPr>
        <p:spPr>
          <a:xfrm rot="10800000">
            <a:off x="3429000" y="5073650"/>
            <a:ext cx="3581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79" name="Google Shape;279;p10"/>
          <p:cNvCxnSpPr/>
          <p:nvPr/>
        </p:nvCxnSpPr>
        <p:spPr>
          <a:xfrm rot="10800000">
            <a:off x="7010400" y="4387850"/>
            <a:ext cx="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80" name="Google Shape;280;p10"/>
          <p:cNvCxnSpPr/>
          <p:nvPr/>
        </p:nvCxnSpPr>
        <p:spPr>
          <a:xfrm>
            <a:off x="5029200" y="4159250"/>
            <a:ext cx="7620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81" name="Google Shape;281;p10"/>
          <p:cNvSpPr/>
          <p:nvPr/>
        </p:nvSpPr>
        <p:spPr>
          <a:xfrm>
            <a:off x="1219200" y="5988050"/>
            <a:ext cx="61689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Fig 2: Flowcharting the single-selection </a:t>
            </a:r>
            <a:r>
              <a:rPr lang="en-US" sz="1800" b="1" i="0" u="none" strike="noStrike" cap="none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structure.</a:t>
            </a:r>
            <a:endParaRPr/>
          </a:p>
        </p:txBody>
      </p:sp>
      <p:grpSp>
        <p:nvGrpSpPr>
          <p:cNvPr id="282" name="Google Shape;282;p10"/>
          <p:cNvGrpSpPr/>
          <p:nvPr/>
        </p:nvGrpSpPr>
        <p:grpSpPr>
          <a:xfrm>
            <a:off x="4267200" y="2101850"/>
            <a:ext cx="3673475" cy="1676400"/>
            <a:chOff x="2688" y="816"/>
            <a:chExt cx="2314" cy="1056"/>
          </a:xfrm>
        </p:grpSpPr>
        <p:sp>
          <p:nvSpPr>
            <p:cNvPr id="283" name="Google Shape;283;p10"/>
            <p:cNvSpPr txBox="1"/>
            <p:nvPr/>
          </p:nvSpPr>
          <p:spPr>
            <a:xfrm>
              <a:off x="3216" y="816"/>
              <a:ext cx="1786" cy="218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Decision  Symbol</a:t>
              </a:r>
              <a:endParaRPr/>
            </a:p>
          </p:txBody>
        </p:sp>
        <p:cxnSp>
          <p:nvCxnSpPr>
            <p:cNvPr id="284" name="Google Shape;284;p10"/>
            <p:cNvCxnSpPr/>
            <p:nvPr/>
          </p:nvCxnSpPr>
          <p:spPr>
            <a:xfrm flipH="1">
              <a:off x="2688" y="1056"/>
              <a:ext cx="768" cy="81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1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290" name="Google Shape;290;p1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291" name="Google Shape;291;p11"/>
          <p:cNvGrpSpPr/>
          <p:nvPr/>
        </p:nvGrpSpPr>
        <p:grpSpPr>
          <a:xfrm>
            <a:off x="0" y="0"/>
            <a:ext cx="5344322" cy="6675120"/>
            <a:chOff x="2162175" y="381000"/>
            <a:chExt cx="4819650" cy="6019800"/>
          </a:xfrm>
        </p:grpSpPr>
        <p:pic>
          <p:nvPicPr>
            <p:cNvPr id="292" name="Google Shape;292;p11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162175" y="381000"/>
              <a:ext cx="4819650" cy="4524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1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62175" y="4876800"/>
              <a:ext cx="4819650" cy="15240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4" name="Google Shape;294;p1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495675" y="0"/>
            <a:ext cx="5648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1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495675" y="990600"/>
            <a:ext cx="564832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1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505200" y="1981200"/>
            <a:ext cx="5648325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The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if/else</a:t>
            </a:r>
            <a:r>
              <a:rPr lang="en-US" sz="3600"/>
              <a:t> Selection Structure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Perform action only when condition is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Perform different specified action when condition is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false</a:t>
            </a:r>
            <a:endParaRPr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302" name="Google Shape;302;p1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 - Double Selection</a:t>
            </a:r>
            <a:endParaRPr/>
          </a:p>
        </p:txBody>
      </p:sp>
      <p:sp>
        <p:nvSpPr>
          <p:cNvPr id="303" name="Google Shape;303;p1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300"/>
              <a:t>The </a:t>
            </a:r>
            <a:r>
              <a:rPr lang="en-US" sz="3300">
                <a:latin typeface="Consolas"/>
                <a:ea typeface="Consolas"/>
                <a:cs typeface="Consolas"/>
                <a:sym typeface="Consolas"/>
              </a:rPr>
              <a:t>if/else</a:t>
            </a:r>
            <a:r>
              <a:rPr lang="en-US" sz="3300"/>
              <a:t> Selection Structure </a:t>
            </a: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 - Double Selection</a:t>
            </a:r>
            <a:endParaRPr sz="3200" b="1" cap="small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311" name="Google Shape;311;p13"/>
          <p:cNvSpPr/>
          <p:nvPr/>
        </p:nvSpPr>
        <p:spPr>
          <a:xfrm>
            <a:off x="6742113" y="3198813"/>
            <a:ext cx="1841500" cy="3333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3"/>
          <p:cNvSpPr/>
          <p:nvPr/>
        </p:nvSpPr>
        <p:spPr>
          <a:xfrm>
            <a:off x="6742113" y="3198813"/>
            <a:ext cx="1868487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3"/>
          <p:cNvSpPr/>
          <p:nvPr/>
        </p:nvSpPr>
        <p:spPr>
          <a:xfrm>
            <a:off x="8583613" y="3198813"/>
            <a:ext cx="26987" cy="36195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/>
          <p:nvPr/>
        </p:nvSpPr>
        <p:spPr>
          <a:xfrm>
            <a:off x="6742113" y="3532188"/>
            <a:ext cx="1841500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3"/>
          <p:cNvSpPr/>
          <p:nvPr/>
        </p:nvSpPr>
        <p:spPr>
          <a:xfrm>
            <a:off x="6742113" y="3198813"/>
            <a:ext cx="26987" cy="3333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3"/>
          <p:cNvSpPr/>
          <p:nvPr/>
        </p:nvSpPr>
        <p:spPr>
          <a:xfrm>
            <a:off x="714375" y="3198813"/>
            <a:ext cx="1841500" cy="3333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/>
          <p:nvPr/>
        </p:nvSpPr>
        <p:spPr>
          <a:xfrm>
            <a:off x="714375" y="3198813"/>
            <a:ext cx="1870075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3"/>
          <p:cNvSpPr/>
          <p:nvPr/>
        </p:nvSpPr>
        <p:spPr>
          <a:xfrm>
            <a:off x="2555875" y="3198813"/>
            <a:ext cx="28575" cy="361950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3"/>
          <p:cNvSpPr/>
          <p:nvPr/>
        </p:nvSpPr>
        <p:spPr>
          <a:xfrm>
            <a:off x="714375" y="3532188"/>
            <a:ext cx="1841500" cy="285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3"/>
          <p:cNvSpPr/>
          <p:nvPr/>
        </p:nvSpPr>
        <p:spPr>
          <a:xfrm>
            <a:off x="714375" y="3198813"/>
            <a:ext cx="28575" cy="33337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3"/>
          <p:cNvSpPr/>
          <p:nvPr/>
        </p:nvSpPr>
        <p:spPr>
          <a:xfrm>
            <a:off x="3309938" y="2085975"/>
            <a:ext cx="2678112" cy="1223963"/>
          </a:xfrm>
          <a:custGeom>
            <a:avLst/>
            <a:gdLst/>
            <a:ahLst/>
            <a:cxnLst/>
            <a:rect l="l" t="t" r="r" b="b"/>
            <a:pathLst>
              <a:path w="1687" h="771" extrusionOk="0">
                <a:moveTo>
                  <a:pt x="843" y="0"/>
                </a:moveTo>
                <a:lnTo>
                  <a:pt x="0" y="385"/>
                </a:lnTo>
                <a:lnTo>
                  <a:pt x="843" y="771"/>
                </a:lnTo>
                <a:lnTo>
                  <a:pt x="1687" y="385"/>
                </a:lnTo>
                <a:lnTo>
                  <a:pt x="8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3"/>
          <p:cNvSpPr/>
          <p:nvPr/>
        </p:nvSpPr>
        <p:spPr>
          <a:xfrm>
            <a:off x="3254375" y="2085975"/>
            <a:ext cx="2789238" cy="1252538"/>
          </a:xfrm>
          <a:custGeom>
            <a:avLst/>
            <a:gdLst/>
            <a:ahLst/>
            <a:cxnLst/>
            <a:rect l="l" t="t" r="r" b="b"/>
            <a:pathLst>
              <a:path w="1757" h="789" extrusionOk="0">
                <a:moveTo>
                  <a:pt x="878" y="17"/>
                </a:moveTo>
                <a:lnTo>
                  <a:pt x="35" y="403"/>
                </a:lnTo>
                <a:lnTo>
                  <a:pt x="35" y="403"/>
                </a:lnTo>
                <a:lnTo>
                  <a:pt x="35" y="385"/>
                </a:lnTo>
                <a:lnTo>
                  <a:pt x="878" y="771"/>
                </a:lnTo>
                <a:lnTo>
                  <a:pt x="878" y="789"/>
                </a:lnTo>
                <a:lnTo>
                  <a:pt x="878" y="771"/>
                </a:lnTo>
                <a:lnTo>
                  <a:pt x="1722" y="385"/>
                </a:lnTo>
                <a:lnTo>
                  <a:pt x="1722" y="385"/>
                </a:lnTo>
                <a:lnTo>
                  <a:pt x="1757" y="403"/>
                </a:lnTo>
                <a:lnTo>
                  <a:pt x="1722" y="403"/>
                </a:lnTo>
                <a:lnTo>
                  <a:pt x="878" y="789"/>
                </a:lnTo>
                <a:lnTo>
                  <a:pt x="878" y="789"/>
                </a:lnTo>
                <a:lnTo>
                  <a:pt x="878" y="789"/>
                </a:lnTo>
                <a:lnTo>
                  <a:pt x="35" y="403"/>
                </a:lnTo>
                <a:lnTo>
                  <a:pt x="0" y="385"/>
                </a:lnTo>
                <a:lnTo>
                  <a:pt x="35" y="385"/>
                </a:lnTo>
                <a:lnTo>
                  <a:pt x="878" y="0"/>
                </a:lnTo>
                <a:lnTo>
                  <a:pt x="878" y="17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3"/>
          <p:cNvSpPr/>
          <p:nvPr/>
        </p:nvSpPr>
        <p:spPr>
          <a:xfrm>
            <a:off x="4648200" y="2085975"/>
            <a:ext cx="1339850" cy="639763"/>
          </a:xfrm>
          <a:custGeom>
            <a:avLst/>
            <a:gdLst/>
            <a:ahLst/>
            <a:cxnLst/>
            <a:rect l="l" t="t" r="r" b="b"/>
            <a:pathLst>
              <a:path w="844" h="403" extrusionOk="0">
                <a:moveTo>
                  <a:pt x="844" y="403"/>
                </a:moveTo>
                <a:lnTo>
                  <a:pt x="0" y="17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844" y="385"/>
                </a:lnTo>
                <a:lnTo>
                  <a:pt x="844" y="403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3"/>
          <p:cNvSpPr/>
          <p:nvPr/>
        </p:nvSpPr>
        <p:spPr>
          <a:xfrm>
            <a:off x="3254375" y="2085975"/>
            <a:ext cx="2789238" cy="1252538"/>
          </a:xfrm>
          <a:custGeom>
            <a:avLst/>
            <a:gdLst/>
            <a:ahLst/>
            <a:cxnLst/>
            <a:rect l="l" t="t" r="r" b="b"/>
            <a:pathLst>
              <a:path w="1757" h="789" extrusionOk="0">
                <a:moveTo>
                  <a:pt x="878" y="17"/>
                </a:moveTo>
                <a:lnTo>
                  <a:pt x="35" y="403"/>
                </a:lnTo>
                <a:lnTo>
                  <a:pt x="35" y="403"/>
                </a:lnTo>
                <a:lnTo>
                  <a:pt x="35" y="385"/>
                </a:lnTo>
                <a:lnTo>
                  <a:pt x="878" y="771"/>
                </a:lnTo>
                <a:lnTo>
                  <a:pt x="878" y="789"/>
                </a:lnTo>
                <a:lnTo>
                  <a:pt x="878" y="771"/>
                </a:lnTo>
                <a:lnTo>
                  <a:pt x="1722" y="385"/>
                </a:lnTo>
                <a:lnTo>
                  <a:pt x="1722" y="385"/>
                </a:lnTo>
                <a:lnTo>
                  <a:pt x="1757" y="403"/>
                </a:lnTo>
                <a:lnTo>
                  <a:pt x="1722" y="403"/>
                </a:lnTo>
                <a:lnTo>
                  <a:pt x="878" y="789"/>
                </a:lnTo>
                <a:lnTo>
                  <a:pt x="878" y="789"/>
                </a:lnTo>
                <a:lnTo>
                  <a:pt x="878" y="789"/>
                </a:lnTo>
                <a:lnTo>
                  <a:pt x="35" y="403"/>
                </a:lnTo>
                <a:lnTo>
                  <a:pt x="0" y="385"/>
                </a:lnTo>
                <a:lnTo>
                  <a:pt x="35" y="385"/>
                </a:lnTo>
                <a:lnTo>
                  <a:pt x="878" y="0"/>
                </a:lnTo>
                <a:lnTo>
                  <a:pt x="878" y="17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3"/>
          <p:cNvSpPr/>
          <p:nvPr/>
        </p:nvSpPr>
        <p:spPr>
          <a:xfrm>
            <a:off x="4648200" y="2085975"/>
            <a:ext cx="1339850" cy="639763"/>
          </a:xfrm>
          <a:custGeom>
            <a:avLst/>
            <a:gdLst/>
            <a:ahLst/>
            <a:cxnLst/>
            <a:rect l="l" t="t" r="r" b="b"/>
            <a:pathLst>
              <a:path w="844" h="403" extrusionOk="0">
                <a:moveTo>
                  <a:pt x="844" y="403"/>
                </a:moveTo>
                <a:lnTo>
                  <a:pt x="0" y="17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844" y="385"/>
                </a:lnTo>
                <a:lnTo>
                  <a:pt x="844" y="403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3"/>
          <p:cNvSpPr/>
          <p:nvPr/>
        </p:nvSpPr>
        <p:spPr>
          <a:xfrm>
            <a:off x="3979863" y="2559050"/>
            <a:ext cx="1366837" cy="306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grade &gt;= 60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3"/>
          <p:cNvSpPr/>
          <p:nvPr/>
        </p:nvSpPr>
        <p:spPr>
          <a:xfrm>
            <a:off x="4676775" y="4033838"/>
            <a:ext cx="28575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3"/>
          <p:cNvSpPr/>
          <p:nvPr/>
        </p:nvSpPr>
        <p:spPr>
          <a:xfrm>
            <a:off x="4760913" y="4646613"/>
            <a:ext cx="26987" cy="1587"/>
          </a:xfrm>
          <a:custGeom>
            <a:avLst/>
            <a:gdLst/>
            <a:ahLst/>
            <a:cxnLst/>
            <a:rect l="l" t="t" r="r" b="b"/>
            <a:pathLst>
              <a:path w="17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17" y="0"/>
                </a:lnTo>
                <a:lnTo>
                  <a:pt x="17" y="0"/>
                </a:lnTo>
                <a:lnTo>
                  <a:pt x="17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3"/>
          <p:cNvSpPr/>
          <p:nvPr/>
        </p:nvSpPr>
        <p:spPr>
          <a:xfrm>
            <a:off x="4927600" y="3949700"/>
            <a:ext cx="1588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3"/>
          <p:cNvSpPr/>
          <p:nvPr/>
        </p:nvSpPr>
        <p:spPr>
          <a:xfrm>
            <a:off x="7662863" y="3949700"/>
            <a:ext cx="1587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3"/>
          <p:cNvSpPr/>
          <p:nvPr/>
        </p:nvSpPr>
        <p:spPr>
          <a:xfrm>
            <a:off x="6276975" y="2286000"/>
            <a:ext cx="434975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3"/>
          <p:cNvSpPr/>
          <p:nvPr/>
        </p:nvSpPr>
        <p:spPr>
          <a:xfrm>
            <a:off x="938213" y="3227388"/>
            <a:ext cx="1535112" cy="30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print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Failed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3"/>
          <p:cNvSpPr/>
          <p:nvPr/>
        </p:nvSpPr>
        <p:spPr>
          <a:xfrm>
            <a:off x="714375" y="3198813"/>
            <a:ext cx="1870075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3"/>
          <p:cNvSpPr/>
          <p:nvPr/>
        </p:nvSpPr>
        <p:spPr>
          <a:xfrm>
            <a:off x="2555875" y="3198813"/>
            <a:ext cx="28575" cy="361950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3"/>
          <p:cNvSpPr/>
          <p:nvPr/>
        </p:nvSpPr>
        <p:spPr>
          <a:xfrm>
            <a:off x="714375" y="3532188"/>
            <a:ext cx="1841500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3"/>
          <p:cNvSpPr/>
          <p:nvPr/>
        </p:nvSpPr>
        <p:spPr>
          <a:xfrm>
            <a:off x="714375" y="3198813"/>
            <a:ext cx="28575" cy="3333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3"/>
          <p:cNvSpPr/>
          <p:nvPr/>
        </p:nvSpPr>
        <p:spPr>
          <a:xfrm>
            <a:off x="1635125" y="3949700"/>
            <a:ext cx="1588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3"/>
          <p:cNvSpPr/>
          <p:nvPr/>
        </p:nvSpPr>
        <p:spPr>
          <a:xfrm>
            <a:off x="4425950" y="3949700"/>
            <a:ext cx="1588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3"/>
          <p:cNvSpPr/>
          <p:nvPr/>
        </p:nvSpPr>
        <p:spPr>
          <a:xfrm>
            <a:off x="1635125" y="3949700"/>
            <a:ext cx="28575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1635125" y="3532188"/>
            <a:ext cx="28575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13"/>
          <p:cNvSpPr/>
          <p:nvPr/>
        </p:nvSpPr>
        <p:spPr>
          <a:xfrm>
            <a:off x="1635125" y="3532188"/>
            <a:ext cx="28575" cy="41751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3"/>
          <p:cNvSpPr/>
          <p:nvPr/>
        </p:nvSpPr>
        <p:spPr>
          <a:xfrm>
            <a:off x="2390775" y="2286000"/>
            <a:ext cx="511175" cy="274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false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3"/>
          <p:cNvSpPr/>
          <p:nvPr/>
        </p:nvSpPr>
        <p:spPr>
          <a:xfrm>
            <a:off x="4760913" y="3949700"/>
            <a:ext cx="26987" cy="1588"/>
          </a:xfrm>
          <a:custGeom>
            <a:avLst/>
            <a:gdLst/>
            <a:ahLst/>
            <a:cxnLst/>
            <a:rect l="l" t="t" r="r" b="b"/>
            <a:pathLst>
              <a:path w="17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17" y="0"/>
                </a:lnTo>
                <a:lnTo>
                  <a:pt x="17" y="0"/>
                </a:lnTo>
                <a:lnTo>
                  <a:pt x="17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3"/>
          <p:cNvSpPr/>
          <p:nvPr/>
        </p:nvSpPr>
        <p:spPr>
          <a:xfrm>
            <a:off x="5988050" y="2697163"/>
            <a:ext cx="1588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7662863" y="2697163"/>
            <a:ext cx="1587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5972175" y="2667000"/>
            <a:ext cx="1674813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3"/>
          <p:cNvSpPr/>
          <p:nvPr/>
        </p:nvSpPr>
        <p:spPr>
          <a:xfrm>
            <a:off x="7662863" y="2697163"/>
            <a:ext cx="26987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7662863" y="3032125"/>
            <a:ext cx="26987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3"/>
          <p:cNvSpPr/>
          <p:nvPr/>
        </p:nvSpPr>
        <p:spPr>
          <a:xfrm>
            <a:off x="1635125" y="2697163"/>
            <a:ext cx="1588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3"/>
          <p:cNvSpPr/>
          <p:nvPr/>
        </p:nvSpPr>
        <p:spPr>
          <a:xfrm>
            <a:off x="3309938" y="2697163"/>
            <a:ext cx="1587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3"/>
          <p:cNvSpPr/>
          <p:nvPr/>
        </p:nvSpPr>
        <p:spPr>
          <a:xfrm>
            <a:off x="1635125" y="2697163"/>
            <a:ext cx="1674813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3"/>
          <p:cNvSpPr/>
          <p:nvPr/>
        </p:nvSpPr>
        <p:spPr>
          <a:xfrm>
            <a:off x="1635125" y="2697163"/>
            <a:ext cx="28575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3"/>
          <p:cNvSpPr/>
          <p:nvPr/>
        </p:nvSpPr>
        <p:spPr>
          <a:xfrm>
            <a:off x="1635125" y="3032125"/>
            <a:ext cx="28575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3"/>
          <p:cNvSpPr/>
          <p:nvPr/>
        </p:nvSpPr>
        <p:spPr>
          <a:xfrm>
            <a:off x="7662863" y="3949700"/>
            <a:ext cx="26987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3"/>
          <p:cNvSpPr/>
          <p:nvPr/>
        </p:nvSpPr>
        <p:spPr>
          <a:xfrm>
            <a:off x="7662863" y="3532188"/>
            <a:ext cx="26987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3"/>
          <p:cNvSpPr/>
          <p:nvPr/>
        </p:nvSpPr>
        <p:spPr>
          <a:xfrm>
            <a:off x="7662863" y="3532188"/>
            <a:ext cx="26987" cy="41751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3"/>
          <p:cNvSpPr/>
          <p:nvPr/>
        </p:nvSpPr>
        <p:spPr>
          <a:xfrm>
            <a:off x="6908800" y="3227388"/>
            <a:ext cx="1617663" cy="306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print 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“</a:t>
            </a: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Passed</a:t>
            </a: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”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6742113" y="3198813"/>
            <a:ext cx="1868487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3"/>
          <p:cNvSpPr/>
          <p:nvPr/>
        </p:nvSpPr>
        <p:spPr>
          <a:xfrm>
            <a:off x="8583613" y="3198813"/>
            <a:ext cx="26987" cy="361950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3"/>
          <p:cNvSpPr/>
          <p:nvPr/>
        </p:nvSpPr>
        <p:spPr>
          <a:xfrm>
            <a:off x="6742113" y="3532188"/>
            <a:ext cx="1841500" cy="285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3"/>
          <p:cNvSpPr/>
          <p:nvPr/>
        </p:nvSpPr>
        <p:spPr>
          <a:xfrm>
            <a:off x="6742113" y="3198813"/>
            <a:ext cx="26987" cy="3333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3"/>
          <p:cNvSpPr/>
          <p:nvPr/>
        </p:nvSpPr>
        <p:spPr>
          <a:xfrm>
            <a:off x="4600575" y="12192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3" name="Google Shape;363;p13"/>
          <p:cNvCxnSpPr/>
          <p:nvPr/>
        </p:nvCxnSpPr>
        <p:spPr>
          <a:xfrm>
            <a:off x="4676775" y="1371600"/>
            <a:ext cx="0" cy="762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4" name="Google Shape;364;p13"/>
          <p:cNvSpPr/>
          <p:nvPr/>
        </p:nvSpPr>
        <p:spPr>
          <a:xfrm>
            <a:off x="4600575" y="38862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3"/>
          <p:cNvSpPr/>
          <p:nvPr/>
        </p:nvSpPr>
        <p:spPr>
          <a:xfrm>
            <a:off x="4600575" y="45720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6" name="Google Shape;366;p13"/>
          <p:cNvCxnSpPr/>
          <p:nvPr/>
        </p:nvCxnSpPr>
        <p:spPr>
          <a:xfrm>
            <a:off x="7648575" y="2667000"/>
            <a:ext cx="0" cy="5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13"/>
          <p:cNvCxnSpPr/>
          <p:nvPr/>
        </p:nvCxnSpPr>
        <p:spPr>
          <a:xfrm>
            <a:off x="1628775" y="2743200"/>
            <a:ext cx="0" cy="4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8" name="Google Shape;368;p13"/>
          <p:cNvCxnSpPr/>
          <p:nvPr/>
        </p:nvCxnSpPr>
        <p:spPr>
          <a:xfrm rot="10800000">
            <a:off x="4752975" y="3962400"/>
            <a:ext cx="2971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9" name="Google Shape;369;p13"/>
          <p:cNvCxnSpPr/>
          <p:nvPr/>
        </p:nvCxnSpPr>
        <p:spPr>
          <a:xfrm>
            <a:off x="1628775" y="3962400"/>
            <a:ext cx="2971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0" name="Google Shape;370;p13"/>
          <p:cNvCxnSpPr/>
          <p:nvPr/>
        </p:nvCxnSpPr>
        <p:spPr>
          <a:xfrm>
            <a:off x="4676775" y="4038600"/>
            <a:ext cx="0" cy="5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1" name="Google Shape;371;p13"/>
          <p:cNvSpPr/>
          <p:nvPr/>
        </p:nvSpPr>
        <p:spPr>
          <a:xfrm>
            <a:off x="942975" y="4736068"/>
            <a:ext cx="69336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Fig 3: Flowcharting the double-selection </a:t>
            </a:r>
            <a:r>
              <a:rPr lang="en-US" sz="1800" b="1" i="0" u="none" strike="noStrike" cap="none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/</a:t>
            </a:r>
            <a:r>
              <a:rPr lang="en-US" sz="1800" b="1" i="0" u="none" strike="noStrike" cap="none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structure.</a:t>
            </a:r>
            <a:endParaRPr/>
          </a:p>
        </p:txBody>
      </p:sp>
      <p:pic>
        <p:nvPicPr>
          <p:cNvPr id="372" name="Google Shape;372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563" y="5410200"/>
            <a:ext cx="8194637" cy="1005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4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Blocks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The 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600"/>
              <a:t> statement normally expects only one statement in its body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To include several statements in the body of an 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2600"/>
              <a:t> (or the body of an 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en-US" sz="2600"/>
              <a:t> for an 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if…else</a:t>
            </a:r>
            <a:r>
              <a:rPr lang="en-US" sz="2600"/>
              <a:t> statement), enclose the statements in braces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Statements contained in a pair of braces form a </a:t>
            </a:r>
            <a:r>
              <a:rPr lang="en-US" sz="2600" i="1">
                <a:solidFill>
                  <a:srgbClr val="FF0000"/>
                </a:solidFill>
              </a:rPr>
              <a:t>block</a:t>
            </a:r>
            <a:endParaRPr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378" name="Google Shape;378;p14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  <p:sp>
        <p:nvSpPr>
          <p:cNvPr id="379" name="Google Shape;379;p1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380" name="Google Shape;380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4495800"/>
            <a:ext cx="7433614" cy="182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5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Nested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if…else</a:t>
            </a:r>
            <a:r>
              <a:rPr lang="en-US" sz="3600"/>
              <a:t> Statements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A program can test multiple cases by placing 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if…else</a:t>
            </a:r>
            <a:r>
              <a:rPr lang="en-US" sz="2600"/>
              <a:t> statements inside other 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if…else</a:t>
            </a:r>
            <a:r>
              <a:rPr lang="en-US" sz="2600"/>
              <a:t> statements </a:t>
            </a: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386" name="Google Shape;386;p15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  <p:sp>
        <p:nvSpPr>
          <p:cNvPr id="387" name="Google Shape;387;p1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388" name="Google Shape;38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47800" y="2758440"/>
            <a:ext cx="6043860" cy="2651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6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1534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if</a:t>
            </a:r>
            <a:r>
              <a:rPr lang="en-US">
                <a:solidFill>
                  <a:srgbClr val="000000"/>
                </a:solidFill>
              </a:rPr>
              <a:t> (x &gt; 10)	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{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System.out</a:t>
            </a:r>
            <a:r>
              <a:rPr lang="en-US">
                <a:solidFill>
                  <a:srgbClr val="000000"/>
                </a:solidFill>
              </a:rPr>
              <a:t>.</a:t>
            </a:r>
            <a:r>
              <a:rPr lang="en-US">
                <a:solidFill>
                  <a:srgbClr val="1155CC"/>
                </a:solidFill>
              </a:rPr>
              <a:t>print</a:t>
            </a:r>
            <a:r>
              <a:rPr lang="en-US">
                <a:solidFill>
                  <a:srgbClr val="000000"/>
                </a:solidFill>
              </a:rPr>
              <a:t>("x is greater than 10"); 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>
                <a:solidFill>
                  <a:srgbClr val="000000"/>
                </a:solidFill>
              </a:rPr>
              <a:t>VS</a:t>
            </a:r>
            <a:endParaRPr sz="31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if</a:t>
            </a:r>
            <a:r>
              <a:rPr lang="en-US">
                <a:solidFill>
                  <a:srgbClr val="000000"/>
                </a:solidFill>
              </a:rPr>
              <a:t> (x &gt; 10); 	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{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System.out.print</a:t>
            </a:r>
            <a:r>
              <a:rPr lang="en-US">
                <a:solidFill>
                  <a:srgbClr val="000000"/>
                </a:solidFill>
              </a:rPr>
              <a:t>("x is greater than 10"); 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}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394" name="Google Shape;394;p16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Programming Error (Logical Error)</a:t>
            </a:r>
            <a:endParaRPr/>
          </a:p>
        </p:txBody>
      </p:sp>
      <p:sp>
        <p:nvSpPr>
          <p:cNvPr id="395" name="Google Shape;395;p1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396" name="Google Shape;396;p16"/>
          <p:cNvGrpSpPr/>
          <p:nvPr/>
        </p:nvGrpSpPr>
        <p:grpSpPr>
          <a:xfrm>
            <a:off x="6315600" y="2992200"/>
            <a:ext cx="2828400" cy="1940400"/>
            <a:chOff x="4642250" y="4560750"/>
            <a:chExt cx="2828400" cy="1940400"/>
          </a:xfrm>
        </p:grpSpPr>
        <p:sp>
          <p:nvSpPr>
            <p:cNvPr id="397" name="Google Shape;397;p16"/>
            <p:cNvSpPr/>
            <p:nvPr/>
          </p:nvSpPr>
          <p:spPr>
            <a:xfrm>
              <a:off x="4642250" y="4560750"/>
              <a:ext cx="2828400" cy="1940400"/>
            </a:xfrm>
            <a:prstGeom prst="cloudCallout">
              <a:avLst>
                <a:gd name="adj1" fmla="val -68872"/>
                <a:gd name="adj2" fmla="val -57857"/>
              </a:avLst>
            </a:prstGeom>
            <a:solidFill>
              <a:srgbClr val="FF7605"/>
            </a:solidFill>
            <a:ln w="15875" cap="flat" cmpd="sng">
              <a:solidFill>
                <a:srgbClr val="BA560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" name="Google Shape;398;p16"/>
            <p:cNvSpPr txBox="1"/>
            <p:nvPr/>
          </p:nvSpPr>
          <p:spPr>
            <a:xfrm>
              <a:off x="5085925" y="5027146"/>
              <a:ext cx="2107500" cy="523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 b="1">
                  <a:solidFill>
                    <a:srgbClr val="262D35"/>
                  </a:solidFill>
                  <a:latin typeface="Calibri"/>
                  <a:ea typeface="Calibri"/>
                  <a:cs typeface="Calibri"/>
                  <a:sym typeface="Calibri"/>
                </a:rPr>
                <a:t>SAME ?</a:t>
              </a:r>
              <a:endParaRPr sz="2800" b="1">
                <a:solidFill>
                  <a:srgbClr val="262D3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2bc4b04de9_1_12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382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if</a:t>
            </a:r>
            <a:r>
              <a:rPr lang="en-US">
                <a:solidFill>
                  <a:srgbClr val="000000"/>
                </a:solidFill>
              </a:rPr>
              <a:t> (x &gt; 10)		</a:t>
            </a:r>
            <a:endParaRPr sz="1600"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System.out.print</a:t>
            </a:r>
            <a:r>
              <a:rPr lang="en-US">
                <a:solidFill>
                  <a:srgbClr val="000000"/>
                </a:solidFill>
              </a:rPr>
              <a:t>("x is greater than 10");  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else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System.out.print</a:t>
            </a:r>
            <a:r>
              <a:rPr lang="en-US">
                <a:solidFill>
                  <a:srgbClr val="000000"/>
                </a:solidFill>
              </a:rPr>
              <a:t>("x is not greater than 10\n"); 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	</a:t>
            </a:r>
            <a:r>
              <a:rPr lang="en-US" sz="3100">
                <a:solidFill>
                  <a:srgbClr val="000000"/>
                </a:solidFill>
              </a:rPr>
              <a:t>VS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if</a:t>
            </a:r>
            <a:r>
              <a:rPr lang="en-US">
                <a:solidFill>
                  <a:srgbClr val="000000"/>
                </a:solidFill>
              </a:rPr>
              <a:t> (x &gt; 10)	;	</a:t>
            </a:r>
            <a:r>
              <a:rPr lang="en-US" sz="1600">
                <a:solidFill>
                  <a:srgbClr val="000000"/>
                </a:solidFill>
              </a:rPr>
              <a:t>// Semicolon ends the if statement </a:t>
            </a:r>
            <a:endParaRPr sz="1600"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System.out.print</a:t>
            </a:r>
            <a:r>
              <a:rPr lang="en-US">
                <a:solidFill>
                  <a:srgbClr val="000000"/>
                </a:solidFill>
              </a:rPr>
              <a:t>("x is greater than 10");  </a:t>
            </a:r>
            <a:r>
              <a:rPr lang="en-US" sz="1600">
                <a:solidFill>
                  <a:srgbClr val="000000"/>
                </a:solidFill>
              </a:rPr>
              <a:t>// Always executes</a:t>
            </a:r>
            <a:endParaRPr sz="16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</a:rPr>
              <a:t>else 	</a:t>
            </a:r>
            <a:r>
              <a:rPr lang="en-US" sz="1600">
                <a:solidFill>
                  <a:srgbClr val="000000"/>
                </a:solidFill>
              </a:rPr>
              <a:t>// Orphan else</a:t>
            </a:r>
            <a:endParaRPr>
              <a:solidFill>
                <a:srgbClr val="000000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155CC"/>
                </a:solidFill>
              </a:rPr>
              <a:t>System.out.print</a:t>
            </a:r>
            <a:r>
              <a:rPr lang="en-US">
                <a:solidFill>
                  <a:srgbClr val="000000"/>
                </a:solidFill>
              </a:rPr>
              <a:t>("x is not greater than 10\n"); 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404" name="Google Shape;404;g32bc4b04de9_1_12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Programming Error (Syntax Error)</a:t>
            </a:r>
            <a:endParaRPr/>
          </a:p>
        </p:txBody>
      </p:sp>
      <p:sp>
        <p:nvSpPr>
          <p:cNvPr id="405" name="Google Shape;405;g32bc4b04de9_1_1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2bc4b04de9_1_0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»"/>
            </a:pPr>
            <a:r>
              <a:rPr lang="en-US" sz="3200">
                <a:solidFill>
                  <a:srgbClr val="FF0000"/>
                </a:solidFill>
              </a:rPr>
              <a:t>Placing a semicolon after the condition in an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3200">
                <a:solidFill>
                  <a:srgbClr val="FF0000"/>
                </a:solidFill>
              </a:rPr>
              <a:t> or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if…else</a:t>
            </a:r>
            <a:r>
              <a:rPr lang="en-US" sz="3200">
                <a:solidFill>
                  <a:srgbClr val="FF0000"/>
                </a:solidFill>
              </a:rPr>
              <a:t> statement leads to a logic error in single-selection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3200">
                <a:solidFill>
                  <a:srgbClr val="FF0000"/>
                </a:solidFill>
              </a:rPr>
              <a:t> statements </a:t>
            </a:r>
            <a:endParaRPr sz="3200">
              <a:solidFill>
                <a:srgbClr val="FF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FF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&amp;</a:t>
            </a:r>
            <a:endParaRPr sz="3200">
              <a:solidFill>
                <a:srgbClr val="FF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rgbClr val="FF0000"/>
              </a:solidFill>
            </a:endParaRPr>
          </a:p>
          <a:p>
            <a:pPr marL="3429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FF0000"/>
                </a:solidFill>
              </a:rPr>
              <a:t>a syntax error in double-selection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if…else</a:t>
            </a:r>
            <a:r>
              <a:rPr lang="en-US" sz="3200">
                <a:solidFill>
                  <a:srgbClr val="FF0000"/>
                </a:solidFill>
              </a:rPr>
              <a:t> statements (when the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-US" sz="3200">
                <a:solidFill>
                  <a:srgbClr val="FF0000"/>
                </a:solidFill>
              </a:rPr>
              <a:t>-part contains an actual body statement).</a:t>
            </a:r>
            <a:endParaRPr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411" name="Google Shape;411;g32bc4b04de9_1_0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Programming Error</a:t>
            </a:r>
            <a:endParaRPr/>
          </a:p>
        </p:txBody>
      </p:sp>
      <p:sp>
        <p:nvSpPr>
          <p:cNvPr id="412" name="Google Shape;412;g32bc4b04de9_1_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An alternative to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if/else</a:t>
            </a:r>
            <a:r>
              <a:rPr lang="en-US" sz="3600"/>
              <a:t> statement</a:t>
            </a:r>
            <a:endParaRPr/>
          </a:p>
          <a:p>
            <a:pPr marL="342900" lvl="0" indent="-325755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Java’s only </a:t>
            </a:r>
            <a:r>
              <a:rPr lang="en-US" sz="3600" b="1" i="1"/>
              <a:t>Ternary operator</a:t>
            </a:r>
            <a:r>
              <a:rPr lang="en-US" sz="3600"/>
              <a:t> (operator that takes three operands)</a:t>
            </a:r>
            <a:endParaRPr/>
          </a:p>
          <a:p>
            <a:pPr marL="342900" lvl="0" indent="-325755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Example:</a:t>
            </a: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/>
          </a:p>
        </p:txBody>
      </p:sp>
      <p:sp>
        <p:nvSpPr>
          <p:cNvPr id="418" name="Google Shape;418;p17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Conditional Operator (?:) - Selection</a:t>
            </a:r>
            <a:endParaRPr/>
          </a:p>
        </p:txBody>
      </p:sp>
      <p:sp>
        <p:nvSpPr>
          <p:cNvPr id="419" name="Google Shape;419;p1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420" name="Google Shape;420;p17"/>
          <p:cNvSpPr/>
          <p:nvPr/>
        </p:nvSpPr>
        <p:spPr>
          <a:xfrm>
            <a:off x="486508" y="4038600"/>
            <a:ext cx="8428892" cy="685800"/>
          </a:xfrm>
          <a:prstGeom prst="rect">
            <a:avLst/>
          </a:prstGeom>
          <a:noFill/>
          <a:ln w="15875" cap="flat" cmpd="sng">
            <a:solidFill>
              <a:srgbClr val="BA560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System.out.println( </a:t>
            </a:r>
            <a:r>
              <a:rPr lang="en-U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studentGrade &gt;= 60 ? "Passed" : "Failed"</a:t>
            </a:r>
            <a:r>
              <a:rPr lang="en-US" sz="1800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);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70C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8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3600"/>
              <a:t> Repetition Statement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Repeat action while a condition remains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true</a:t>
            </a:r>
            <a:endParaRPr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 - Repetition </a:t>
            </a:r>
            <a:endParaRPr/>
          </a:p>
        </p:txBody>
      </p:sp>
      <p:sp>
        <p:nvSpPr>
          <p:cNvPr id="427" name="Google Shape;427;p1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428" name="Google Shape;428;p18"/>
          <p:cNvSpPr/>
          <p:nvPr/>
        </p:nvSpPr>
        <p:spPr>
          <a:xfrm>
            <a:off x="720725" y="2774950"/>
            <a:ext cx="3333750" cy="1498600"/>
          </a:xfrm>
          <a:custGeom>
            <a:avLst/>
            <a:gdLst/>
            <a:ahLst/>
            <a:cxnLst/>
            <a:rect l="l" t="t" r="r" b="b"/>
            <a:pathLst>
              <a:path w="2100" h="944" extrusionOk="0">
                <a:moveTo>
                  <a:pt x="1050" y="0"/>
                </a:moveTo>
                <a:lnTo>
                  <a:pt x="0" y="483"/>
                </a:lnTo>
                <a:lnTo>
                  <a:pt x="1050" y="944"/>
                </a:lnTo>
                <a:lnTo>
                  <a:pt x="2100" y="483"/>
                </a:lnTo>
                <a:lnTo>
                  <a:pt x="105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8"/>
          <p:cNvSpPr/>
          <p:nvPr/>
        </p:nvSpPr>
        <p:spPr>
          <a:xfrm>
            <a:off x="720725" y="2774950"/>
            <a:ext cx="3403600" cy="1531938"/>
          </a:xfrm>
          <a:custGeom>
            <a:avLst/>
            <a:gdLst/>
            <a:ahLst/>
            <a:cxnLst/>
            <a:rect l="l" t="t" r="r" b="b"/>
            <a:pathLst>
              <a:path w="2144" h="965" extrusionOk="0">
                <a:moveTo>
                  <a:pt x="1050" y="22"/>
                </a:moveTo>
                <a:lnTo>
                  <a:pt x="0" y="505"/>
                </a:lnTo>
                <a:lnTo>
                  <a:pt x="0" y="505"/>
                </a:lnTo>
                <a:lnTo>
                  <a:pt x="0" y="483"/>
                </a:lnTo>
                <a:lnTo>
                  <a:pt x="1050" y="944"/>
                </a:lnTo>
                <a:lnTo>
                  <a:pt x="1050" y="965"/>
                </a:lnTo>
                <a:lnTo>
                  <a:pt x="1050" y="944"/>
                </a:lnTo>
                <a:lnTo>
                  <a:pt x="2100" y="483"/>
                </a:lnTo>
                <a:lnTo>
                  <a:pt x="2100" y="483"/>
                </a:lnTo>
                <a:lnTo>
                  <a:pt x="2144" y="505"/>
                </a:lnTo>
                <a:lnTo>
                  <a:pt x="2100" y="505"/>
                </a:lnTo>
                <a:lnTo>
                  <a:pt x="1050" y="965"/>
                </a:lnTo>
                <a:lnTo>
                  <a:pt x="1050" y="965"/>
                </a:lnTo>
                <a:lnTo>
                  <a:pt x="1050" y="965"/>
                </a:lnTo>
                <a:lnTo>
                  <a:pt x="0" y="505"/>
                </a:lnTo>
                <a:lnTo>
                  <a:pt x="0" y="505"/>
                </a:lnTo>
                <a:lnTo>
                  <a:pt x="0" y="483"/>
                </a:lnTo>
                <a:lnTo>
                  <a:pt x="1050" y="0"/>
                </a:lnTo>
                <a:lnTo>
                  <a:pt x="1050" y="22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8"/>
          <p:cNvSpPr/>
          <p:nvPr/>
        </p:nvSpPr>
        <p:spPr>
          <a:xfrm>
            <a:off x="2387600" y="2774950"/>
            <a:ext cx="1666875" cy="801688"/>
          </a:xfrm>
          <a:custGeom>
            <a:avLst/>
            <a:gdLst/>
            <a:ahLst/>
            <a:cxnLst/>
            <a:rect l="l" t="t" r="r" b="b"/>
            <a:pathLst>
              <a:path w="1050" h="505" extrusionOk="0">
                <a:moveTo>
                  <a:pt x="1050" y="505"/>
                </a:moveTo>
                <a:lnTo>
                  <a:pt x="0" y="2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050" y="483"/>
                </a:lnTo>
                <a:lnTo>
                  <a:pt x="1050" y="505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8"/>
          <p:cNvSpPr/>
          <p:nvPr/>
        </p:nvSpPr>
        <p:spPr>
          <a:xfrm>
            <a:off x="4887913" y="3297238"/>
            <a:ext cx="3611562" cy="487362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8"/>
          <p:cNvSpPr/>
          <p:nvPr/>
        </p:nvSpPr>
        <p:spPr>
          <a:xfrm>
            <a:off x="4887913" y="3297238"/>
            <a:ext cx="3646487" cy="349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8"/>
          <p:cNvSpPr/>
          <p:nvPr/>
        </p:nvSpPr>
        <p:spPr>
          <a:xfrm>
            <a:off x="8499475" y="3297238"/>
            <a:ext cx="34925" cy="522287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8"/>
          <p:cNvSpPr/>
          <p:nvPr/>
        </p:nvSpPr>
        <p:spPr>
          <a:xfrm>
            <a:off x="4887913" y="3784600"/>
            <a:ext cx="3611562" cy="34925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8"/>
          <p:cNvSpPr/>
          <p:nvPr/>
        </p:nvSpPr>
        <p:spPr>
          <a:xfrm>
            <a:off x="4887913" y="3297238"/>
            <a:ext cx="34925" cy="487362"/>
          </a:xfrm>
          <a:prstGeom prst="rect">
            <a:avLst/>
          </a:pr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8"/>
          <p:cNvSpPr/>
          <p:nvPr/>
        </p:nvSpPr>
        <p:spPr>
          <a:xfrm>
            <a:off x="720725" y="2774950"/>
            <a:ext cx="3403600" cy="1531938"/>
          </a:xfrm>
          <a:custGeom>
            <a:avLst/>
            <a:gdLst/>
            <a:ahLst/>
            <a:cxnLst/>
            <a:rect l="l" t="t" r="r" b="b"/>
            <a:pathLst>
              <a:path w="2144" h="965" extrusionOk="0">
                <a:moveTo>
                  <a:pt x="1050" y="22"/>
                </a:moveTo>
                <a:lnTo>
                  <a:pt x="0" y="505"/>
                </a:lnTo>
                <a:lnTo>
                  <a:pt x="0" y="505"/>
                </a:lnTo>
                <a:lnTo>
                  <a:pt x="0" y="483"/>
                </a:lnTo>
                <a:lnTo>
                  <a:pt x="1050" y="944"/>
                </a:lnTo>
                <a:lnTo>
                  <a:pt x="1050" y="965"/>
                </a:lnTo>
                <a:lnTo>
                  <a:pt x="1050" y="944"/>
                </a:lnTo>
                <a:lnTo>
                  <a:pt x="2100" y="483"/>
                </a:lnTo>
                <a:lnTo>
                  <a:pt x="2100" y="483"/>
                </a:lnTo>
                <a:lnTo>
                  <a:pt x="2144" y="505"/>
                </a:lnTo>
                <a:lnTo>
                  <a:pt x="2100" y="505"/>
                </a:lnTo>
                <a:lnTo>
                  <a:pt x="1050" y="965"/>
                </a:lnTo>
                <a:lnTo>
                  <a:pt x="1050" y="965"/>
                </a:lnTo>
                <a:lnTo>
                  <a:pt x="1050" y="965"/>
                </a:lnTo>
                <a:lnTo>
                  <a:pt x="0" y="505"/>
                </a:lnTo>
                <a:lnTo>
                  <a:pt x="0" y="505"/>
                </a:lnTo>
                <a:lnTo>
                  <a:pt x="0" y="483"/>
                </a:lnTo>
                <a:lnTo>
                  <a:pt x="1050" y="0"/>
                </a:lnTo>
                <a:lnTo>
                  <a:pt x="1050" y="22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8"/>
          <p:cNvSpPr/>
          <p:nvPr/>
        </p:nvSpPr>
        <p:spPr>
          <a:xfrm>
            <a:off x="2387600" y="2774950"/>
            <a:ext cx="1666875" cy="801688"/>
          </a:xfrm>
          <a:custGeom>
            <a:avLst/>
            <a:gdLst/>
            <a:ahLst/>
            <a:cxnLst/>
            <a:rect l="l" t="t" r="r" b="b"/>
            <a:pathLst>
              <a:path w="1050" h="505" extrusionOk="0">
                <a:moveTo>
                  <a:pt x="1050" y="505"/>
                </a:moveTo>
                <a:lnTo>
                  <a:pt x="0" y="2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1050" y="483"/>
                </a:lnTo>
                <a:lnTo>
                  <a:pt x="1050" y="505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8"/>
          <p:cNvSpPr/>
          <p:nvPr/>
        </p:nvSpPr>
        <p:spPr>
          <a:xfrm>
            <a:off x="1524000" y="3429000"/>
            <a:ext cx="193001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product &lt;= 100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8"/>
          <p:cNvSpPr/>
          <p:nvPr/>
        </p:nvSpPr>
        <p:spPr>
          <a:xfrm>
            <a:off x="2387600" y="2149475"/>
            <a:ext cx="34925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8"/>
          <p:cNvSpPr/>
          <p:nvPr/>
        </p:nvSpPr>
        <p:spPr>
          <a:xfrm>
            <a:off x="2387600" y="2566988"/>
            <a:ext cx="34925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8"/>
          <p:cNvSpPr/>
          <p:nvPr/>
        </p:nvSpPr>
        <p:spPr>
          <a:xfrm>
            <a:off x="2387600" y="4273550"/>
            <a:ext cx="34925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8"/>
          <p:cNvSpPr/>
          <p:nvPr/>
        </p:nvSpPr>
        <p:spPr>
          <a:xfrm>
            <a:off x="2492375" y="2044700"/>
            <a:ext cx="33338" cy="1588"/>
          </a:xfrm>
          <a:custGeom>
            <a:avLst/>
            <a:gdLst/>
            <a:ahLst/>
            <a:cxnLst/>
            <a:rect l="l" t="t" r="r" b="b"/>
            <a:pathLst>
              <a:path w="21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21" y="0"/>
                </a:lnTo>
                <a:lnTo>
                  <a:pt x="21" y="0"/>
                </a:lnTo>
                <a:lnTo>
                  <a:pt x="21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8"/>
          <p:cNvSpPr/>
          <p:nvPr/>
        </p:nvSpPr>
        <p:spPr>
          <a:xfrm>
            <a:off x="2492375" y="4933950"/>
            <a:ext cx="33338" cy="1588"/>
          </a:xfrm>
          <a:custGeom>
            <a:avLst/>
            <a:gdLst/>
            <a:ahLst/>
            <a:cxnLst/>
            <a:rect l="l" t="t" r="r" b="b"/>
            <a:pathLst>
              <a:path w="21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21" y="0"/>
                </a:lnTo>
                <a:lnTo>
                  <a:pt x="21" y="0"/>
                </a:lnTo>
                <a:lnTo>
                  <a:pt x="21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8"/>
          <p:cNvSpPr/>
          <p:nvPr/>
        </p:nvSpPr>
        <p:spPr>
          <a:xfrm>
            <a:off x="4054475" y="3541713"/>
            <a:ext cx="1588" cy="349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8"/>
          <p:cNvSpPr/>
          <p:nvPr/>
        </p:nvSpPr>
        <p:spPr>
          <a:xfrm>
            <a:off x="4679950" y="3541713"/>
            <a:ext cx="1588" cy="349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8"/>
          <p:cNvSpPr/>
          <p:nvPr/>
        </p:nvSpPr>
        <p:spPr>
          <a:xfrm>
            <a:off x="5410200" y="3429000"/>
            <a:ext cx="289502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product = 3 * product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8"/>
          <p:cNvSpPr/>
          <p:nvPr/>
        </p:nvSpPr>
        <p:spPr>
          <a:xfrm>
            <a:off x="4887913" y="3297238"/>
            <a:ext cx="3646487" cy="349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8"/>
          <p:cNvSpPr/>
          <p:nvPr/>
        </p:nvSpPr>
        <p:spPr>
          <a:xfrm>
            <a:off x="8499475" y="3297238"/>
            <a:ext cx="34925" cy="5222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8"/>
          <p:cNvSpPr/>
          <p:nvPr/>
        </p:nvSpPr>
        <p:spPr>
          <a:xfrm>
            <a:off x="4887913" y="3784600"/>
            <a:ext cx="3611562" cy="349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8"/>
          <p:cNvSpPr/>
          <p:nvPr/>
        </p:nvSpPr>
        <p:spPr>
          <a:xfrm>
            <a:off x="4887913" y="3297238"/>
            <a:ext cx="34925" cy="4873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8"/>
          <p:cNvSpPr/>
          <p:nvPr/>
        </p:nvSpPr>
        <p:spPr>
          <a:xfrm>
            <a:off x="3904175" y="3159125"/>
            <a:ext cx="10233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8"/>
          <p:cNvSpPr/>
          <p:nvPr/>
        </p:nvSpPr>
        <p:spPr>
          <a:xfrm>
            <a:off x="2595587" y="4341825"/>
            <a:ext cx="8586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false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8"/>
          <p:cNvSpPr/>
          <p:nvPr/>
        </p:nvSpPr>
        <p:spPr>
          <a:xfrm>
            <a:off x="2595563" y="2392363"/>
            <a:ext cx="1587" cy="349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8"/>
          <p:cNvSpPr/>
          <p:nvPr/>
        </p:nvSpPr>
        <p:spPr>
          <a:xfrm>
            <a:off x="6727825" y="2392363"/>
            <a:ext cx="1588" cy="3492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8"/>
          <p:cNvSpPr/>
          <p:nvPr/>
        </p:nvSpPr>
        <p:spPr>
          <a:xfrm>
            <a:off x="6694488" y="3297238"/>
            <a:ext cx="33337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8"/>
          <p:cNvSpPr/>
          <p:nvPr/>
        </p:nvSpPr>
        <p:spPr>
          <a:xfrm>
            <a:off x="6694488" y="2392363"/>
            <a:ext cx="33337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8"/>
          <p:cNvSpPr/>
          <p:nvPr/>
        </p:nvSpPr>
        <p:spPr>
          <a:xfrm>
            <a:off x="6694488" y="2392363"/>
            <a:ext cx="33337" cy="904875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8"/>
          <p:cNvSpPr/>
          <p:nvPr/>
        </p:nvSpPr>
        <p:spPr>
          <a:xfrm>
            <a:off x="2286000" y="17526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8"/>
          <p:cNvSpPr/>
          <p:nvPr/>
        </p:nvSpPr>
        <p:spPr>
          <a:xfrm>
            <a:off x="2362200" y="480060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0" name="Google Shape;460;p18"/>
          <p:cNvCxnSpPr/>
          <p:nvPr/>
        </p:nvCxnSpPr>
        <p:spPr>
          <a:xfrm>
            <a:off x="2362200" y="1905000"/>
            <a:ext cx="0" cy="914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1" name="Google Shape;461;p18"/>
          <p:cNvCxnSpPr/>
          <p:nvPr/>
        </p:nvCxnSpPr>
        <p:spPr>
          <a:xfrm>
            <a:off x="2438400" y="4267200"/>
            <a:ext cx="0" cy="5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2" name="Google Shape;462;p18"/>
          <p:cNvCxnSpPr/>
          <p:nvPr/>
        </p:nvCxnSpPr>
        <p:spPr>
          <a:xfrm>
            <a:off x="4038600" y="3581400"/>
            <a:ext cx="8382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63" name="Google Shape;463;p18"/>
          <p:cNvCxnSpPr/>
          <p:nvPr/>
        </p:nvCxnSpPr>
        <p:spPr>
          <a:xfrm rot="10800000">
            <a:off x="2362200" y="2438400"/>
            <a:ext cx="4343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64" name="Google Shape;464;p18"/>
          <p:cNvSpPr/>
          <p:nvPr/>
        </p:nvSpPr>
        <p:spPr>
          <a:xfrm>
            <a:off x="2079760" y="4812268"/>
            <a:ext cx="66832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914400" marR="0" lvl="2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Fig 4: Flowcharting the </a:t>
            </a:r>
            <a:r>
              <a:rPr lang="en-US" sz="1800" b="1" i="0" u="none" strike="noStrike" cap="none">
                <a:solidFill>
                  <a:schemeClr val="dk2"/>
                </a:solidFill>
                <a:latin typeface="Courier"/>
                <a:ea typeface="Courier"/>
                <a:cs typeface="Courier"/>
                <a:sym typeface="Courier"/>
              </a:rPr>
              <a:t>while</a:t>
            </a:r>
            <a:r>
              <a:rPr lang="en-US" sz="1800" b="1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rPr>
              <a:t> repetition structure.</a:t>
            </a:r>
            <a:endParaRPr/>
          </a:p>
        </p:txBody>
      </p:sp>
      <p:pic>
        <p:nvPicPr>
          <p:cNvPr id="465" name="Google Shape;465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5410200"/>
            <a:ext cx="6502630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19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»"/>
            </a:pPr>
            <a:r>
              <a:rPr lang="en-US" sz="3200">
                <a:solidFill>
                  <a:srgbClr val="FF0000"/>
                </a:solidFill>
              </a:rPr>
              <a:t>Not providing in the body of a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3200">
                <a:solidFill>
                  <a:srgbClr val="FF0000"/>
                </a:solidFill>
              </a:rPr>
              <a:t>  statement </a:t>
            </a:r>
            <a:r>
              <a:rPr lang="en-US" sz="3200">
                <a:solidFill>
                  <a:srgbClr val="00B050"/>
                </a:solidFill>
              </a:rPr>
              <a:t>an action</a:t>
            </a:r>
            <a:r>
              <a:rPr lang="en-US" sz="3200">
                <a:solidFill>
                  <a:srgbClr val="FF0000"/>
                </a:solidFill>
              </a:rPr>
              <a:t>, that eventually causes the condition in the </a:t>
            </a:r>
            <a:r>
              <a:rPr lang="en-US" sz="32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3200">
                <a:solidFill>
                  <a:srgbClr val="FF0000"/>
                </a:solidFill>
              </a:rPr>
              <a:t> to become false normally results in a </a:t>
            </a:r>
            <a:r>
              <a:rPr lang="en-US" sz="3200" i="1">
                <a:solidFill>
                  <a:srgbClr val="FF0000"/>
                </a:solidFill>
              </a:rPr>
              <a:t>logic error</a:t>
            </a:r>
            <a:r>
              <a:rPr lang="en-US" sz="3200">
                <a:solidFill>
                  <a:srgbClr val="FF0000"/>
                </a:solidFill>
              </a:rPr>
              <a:t> called an </a:t>
            </a:r>
            <a:r>
              <a:rPr lang="en-US" sz="3200" i="1">
                <a:solidFill>
                  <a:srgbClr val="00B050"/>
                </a:solidFill>
              </a:rPr>
              <a:t>infinite loop</a:t>
            </a:r>
            <a:r>
              <a:rPr lang="en-US" sz="3200">
                <a:solidFill>
                  <a:srgbClr val="00B050"/>
                </a:solidFill>
              </a:rPr>
              <a:t> </a:t>
            </a:r>
            <a:r>
              <a:rPr lang="en-US" sz="3200">
                <a:solidFill>
                  <a:srgbClr val="FF0000"/>
                </a:solidFill>
              </a:rPr>
              <a:t>(the loop never terminates).</a:t>
            </a: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471" name="Google Shape;471;p1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Programming Error</a:t>
            </a:r>
            <a:endParaRPr/>
          </a:p>
        </p:txBody>
      </p:sp>
      <p:sp>
        <p:nvSpPr>
          <p:cNvPr id="472" name="Google Shape;472;p1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0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Counter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A variable that controls number of times a set of statements executes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Example case study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 i="1"/>
              <a:t>A class of ten students took a quiz. The grades (integers in the range 0 to 100) for this quiz are available to you. Determine the class average on the quiz.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478" name="Google Shape;478;p20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 Repetition</a:t>
            </a:r>
            <a:endParaRPr/>
          </a:p>
        </p:txBody>
      </p:sp>
      <p:sp>
        <p:nvSpPr>
          <p:cNvPr id="479" name="Google Shape;479;p2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485" name="Google Shape;485;p21"/>
          <p:cNvSpPr/>
          <p:nvPr/>
        </p:nvSpPr>
        <p:spPr>
          <a:xfrm>
            <a:off x="2209800" y="0"/>
            <a:ext cx="6934200" cy="6400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01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Importing the Scanner class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java.util.Scanner;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04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Average1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05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06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main method begins execution of Java application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07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main( String args[] )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08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09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total,    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sum of grades input by user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10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gradeCounter,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number of grades entered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11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gradeValue,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grade value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average;    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average of all grades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13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2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14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Initialization Phase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15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total 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 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clear total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16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gradeCounter 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prepare to loop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17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 input 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Scanner(System.in);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18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19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Processing Phase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20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 gradeCounter &lt;=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)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loop 10 times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prompt for input and read grade from user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23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System.out.print(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"Enter grade: 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24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gradeValue = input.nextInt(  );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25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26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add gradeValue to total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27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total = total + gradeValue;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28</a:t>
            </a:r>
            <a:endParaRPr sz="1200" b="1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29 </a:t>
            </a:r>
            <a:r>
              <a:rPr lang="en-US" sz="12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add 1 to gradeCounter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30 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gradeCounter = gradeCounter +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31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    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average = total/10;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Compute average &amp; display result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33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“Total of all 10 grades is %d\n"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total);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34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    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“Class average is %d\n"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average);</a:t>
            </a:r>
            <a:endParaRPr sz="1200" b="0">
              <a:solidFill>
                <a:srgbClr val="275A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35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36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6" name="Google Shape;486;p21"/>
          <p:cNvSpPr txBox="1"/>
          <p:nvPr/>
        </p:nvSpPr>
        <p:spPr>
          <a:xfrm>
            <a:off x="152400" y="-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lang="en-US" sz="2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lang="en-US" sz="2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Repetition</a:t>
            </a:r>
            <a:endParaRPr/>
          </a:p>
        </p:txBody>
      </p:sp>
      <p:pic>
        <p:nvPicPr>
          <p:cNvPr id="487" name="Google Shape;487;p2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324600" y="2790825"/>
            <a:ext cx="2733675" cy="2466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8" name="Google Shape;488;p21"/>
          <p:cNvGrpSpPr/>
          <p:nvPr/>
        </p:nvGrpSpPr>
        <p:grpSpPr>
          <a:xfrm>
            <a:off x="4724400" y="152400"/>
            <a:ext cx="4130675" cy="1600200"/>
            <a:chOff x="1344" y="528"/>
            <a:chExt cx="2602" cy="1008"/>
          </a:xfrm>
        </p:grpSpPr>
        <p:sp>
          <p:nvSpPr>
            <p:cNvPr id="489" name="Google Shape;489;p21"/>
            <p:cNvSpPr txBox="1"/>
            <p:nvPr/>
          </p:nvSpPr>
          <p:spPr>
            <a:xfrm>
              <a:off x="2160" y="528"/>
              <a:ext cx="1786" cy="372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Declare variables; </a:t>
              </a:r>
              <a:r>
                <a:rPr lang="en-US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gradeCounter</a:t>
              </a: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the counter</a:t>
              </a:r>
              <a:endParaRPr/>
            </a:p>
          </p:txBody>
        </p:sp>
        <p:cxnSp>
          <p:nvCxnSpPr>
            <p:cNvPr id="490" name="Google Shape;490;p21"/>
            <p:cNvCxnSpPr/>
            <p:nvPr/>
          </p:nvCxnSpPr>
          <p:spPr>
            <a:xfrm flipH="1">
              <a:off x="1344" y="912"/>
              <a:ext cx="960" cy="624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91" name="Google Shape;491;p21"/>
          <p:cNvGrpSpPr/>
          <p:nvPr/>
        </p:nvGrpSpPr>
        <p:grpSpPr>
          <a:xfrm>
            <a:off x="5165725" y="1524000"/>
            <a:ext cx="3673475" cy="1905000"/>
            <a:chOff x="1920" y="1536"/>
            <a:chExt cx="2314" cy="1200"/>
          </a:xfrm>
        </p:grpSpPr>
        <p:sp>
          <p:nvSpPr>
            <p:cNvPr id="492" name="Google Shape;492;p21"/>
            <p:cNvSpPr txBox="1"/>
            <p:nvPr/>
          </p:nvSpPr>
          <p:spPr>
            <a:xfrm>
              <a:off x="2448" y="1536"/>
              <a:ext cx="1786" cy="526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Continue looping as long as </a:t>
              </a:r>
              <a:r>
                <a:rPr lang="en-US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gradeCounter</a:t>
              </a: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is less than or equal to </a:t>
              </a:r>
              <a:r>
                <a:rPr lang="en-US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10</a:t>
              </a:r>
              <a:endParaRPr/>
            </a:p>
          </p:txBody>
        </p:sp>
        <p:cxnSp>
          <p:nvCxnSpPr>
            <p:cNvPr id="493" name="Google Shape;493;p21"/>
            <p:cNvCxnSpPr/>
            <p:nvPr/>
          </p:nvCxnSpPr>
          <p:spPr>
            <a:xfrm flipH="1">
              <a:off x="1920" y="2064"/>
              <a:ext cx="624" cy="67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2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Sentinel value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Used to indicated the end of data entry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E.g., User enters sentinel value (-1) to end repetition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Often called an </a:t>
            </a:r>
            <a:r>
              <a:rPr lang="en-US" sz="3600" i="1">
                <a:solidFill>
                  <a:srgbClr val="FF0000"/>
                </a:solidFill>
              </a:rPr>
              <a:t>indefinite repetition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Example case study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 i="1"/>
              <a:t>Develop a class-averaging program that processes grades for an arbitrary number of students each time it’s run.</a:t>
            </a: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499" name="Google Shape;499;p22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Sentinel-Controlled Repetition</a:t>
            </a:r>
            <a:endParaRPr/>
          </a:p>
        </p:txBody>
      </p:sp>
      <p:sp>
        <p:nvSpPr>
          <p:cNvPr id="500" name="Google Shape;500;p2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2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sp>
        <p:nvSpPr>
          <p:cNvPr id="506" name="Google Shape;506;p23"/>
          <p:cNvSpPr/>
          <p:nvPr/>
        </p:nvSpPr>
        <p:spPr>
          <a:xfrm>
            <a:off x="304800" y="0"/>
            <a:ext cx="8839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01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java.util.Scanner;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Average2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03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04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main method begins execution of Java application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05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public static void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main( String args[] )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06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07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total, gradeCounter, gradeValue;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08          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double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average;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09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2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10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Initialization Phase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11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total 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        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gradeCounter 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13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 input 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new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Scanner(System.in);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14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15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// prompt for input and read grade from user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16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System.out.print(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"Enter grade or -1 to quit: 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17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gradeValue = input.nextInt(  );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18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19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Processing Phase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20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(gradeValue !=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-1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22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total = total + gradeValue;  </a:t>
            </a:r>
            <a:endParaRPr sz="1200" b="1">
              <a:solidFill>
                <a:srgbClr val="7F7F7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23 </a:t>
            </a:r>
            <a:r>
              <a:rPr lang="en-US" sz="1200" b="1">
                <a:solidFill>
                  <a:schemeClr val="lt2"/>
                </a:solidFill>
                <a:latin typeface="Courier New"/>
                <a:ea typeface="Courier New"/>
                <a:cs typeface="Courier New"/>
                <a:sym typeface="Courier New"/>
              </a:rPr>
              <a:t>	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gradeCounter = gradeCounter +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24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25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  </a:t>
            </a: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prompt for input and read grade from user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26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System.out.print(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"Enter grade or -1 to quit: 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27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gradeValue = input.nextInt(  );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28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29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if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(gradeCounter != 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{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31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average = (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double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 total / gradeCounter;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Compute average &amp; display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32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“Total of the %d grades entered is %d\n"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gradeCounter, total);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33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               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“Class average is %.2f\n"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, average);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34               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35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            </a:t>
            </a: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“Please enter valid grades"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0">
              <a:solidFill>
                <a:srgbClr val="275AFF"/>
              </a:solidFill>
              <a:latin typeface="Questrial"/>
              <a:ea typeface="Questrial"/>
              <a:cs typeface="Questrial"/>
              <a:sym typeface="Quest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36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  }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Questrial"/>
              <a:buNone/>
            </a:pPr>
            <a:r>
              <a:rPr lang="en-US" sz="1200" b="0">
                <a:solidFill>
                  <a:srgbClr val="7F7F7F"/>
                </a:solidFill>
                <a:latin typeface="Questrial"/>
                <a:ea typeface="Questrial"/>
                <a:cs typeface="Questrial"/>
                <a:sym typeface="Questrial"/>
              </a:rPr>
              <a:t>37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507" name="Google Shape;507;p23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5181600" y="3124200"/>
            <a:ext cx="3314700" cy="1304925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23"/>
          <p:cNvSpPr txBox="1"/>
          <p:nvPr/>
        </p:nvSpPr>
        <p:spPr>
          <a:xfrm>
            <a:off x="3733800" y="-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lang="en-US" sz="2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Sentinel-Controlled  Repetition</a:t>
            </a:r>
            <a:endParaRPr/>
          </a:p>
        </p:txBody>
      </p:sp>
      <p:grpSp>
        <p:nvGrpSpPr>
          <p:cNvPr id="509" name="Google Shape;509;p23"/>
          <p:cNvGrpSpPr/>
          <p:nvPr/>
        </p:nvGrpSpPr>
        <p:grpSpPr>
          <a:xfrm>
            <a:off x="3886200" y="2286000"/>
            <a:ext cx="4191000" cy="1219200"/>
            <a:chOff x="1728" y="-384"/>
            <a:chExt cx="2640" cy="768"/>
          </a:xfrm>
        </p:grpSpPr>
        <p:sp>
          <p:nvSpPr>
            <p:cNvPr id="510" name="Google Shape;510;p23"/>
            <p:cNvSpPr txBox="1"/>
            <p:nvPr/>
          </p:nvSpPr>
          <p:spPr>
            <a:xfrm>
              <a:off x="2582" y="-384"/>
              <a:ext cx="1786" cy="372"/>
            </a:xfrm>
            <a:prstGeom prst="rect">
              <a:avLst/>
            </a:prstGeom>
            <a:solidFill>
              <a:srgbClr val="99C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loop until </a:t>
              </a:r>
              <a:r>
                <a:rPr lang="en-US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gradeValue</a:t>
              </a: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equals sentinel value (</a:t>
              </a:r>
              <a:r>
                <a:rPr lang="en-US" sz="16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-1</a:t>
              </a:r>
              <a:r>
                <a:rPr lang="en-US" sz="16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)</a:t>
              </a:r>
              <a:endParaRPr/>
            </a:p>
          </p:txBody>
        </p:sp>
        <p:cxnSp>
          <p:nvCxnSpPr>
            <p:cNvPr id="511" name="Google Shape;511;p23"/>
            <p:cNvCxnSpPr/>
            <p:nvPr/>
          </p:nvCxnSpPr>
          <p:spPr>
            <a:xfrm flipH="1">
              <a:off x="1728" y="-192"/>
              <a:ext cx="816" cy="576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2bdae7d500_0_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sp>
        <p:nvSpPr>
          <p:cNvPr id="517" name="Google Shape;517;g32bdae7d500_0_0"/>
          <p:cNvSpPr/>
          <p:nvPr/>
        </p:nvSpPr>
        <p:spPr>
          <a:xfrm>
            <a:off x="304800" y="507025"/>
            <a:ext cx="8839200" cy="635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import java.util.Scanner;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 Main{ 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// main method begins execution of Java application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public static void main( String args[] )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{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int total, gradeCounter, gradeValue;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double average;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Initialization Phase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total = 0;       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gradeCounter = 0;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Scanner input = new Scanner(System.in);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prompt for input and read grade from user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System.out.print("Enter grade or -1 to quit: ");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gradeValue = input.nextInt(  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// Processing Phase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while (gradeValue!=-1 ){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total = total + gradeValue;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	        gradeCounter = gradeCounter + 1;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// prompt for input and read grade from user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System.out.print("Enter grade or -1 to quit: ");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gradeValue = input.nextInt(  ); 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if (gradeCounter != 0 ){    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average = (double) total / gradeCounter; // Compute average &amp; display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System.out.printf("Total of the %d grades entered is %d\n", gradeCounter, total);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System.out.printf("Class average is %.2f\n", average);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else  System.out.println("Please enter valid grades");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}</a:t>
            </a:r>
            <a:endParaRPr sz="1200" b="1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8" name="Google Shape;518;g32bdae7d500_0_0"/>
          <p:cNvSpPr txBox="1"/>
          <p:nvPr/>
        </p:nvSpPr>
        <p:spPr>
          <a:xfrm>
            <a:off x="3733800" y="-2286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Calibri"/>
              <a:buNone/>
            </a:pPr>
            <a:r>
              <a:rPr lang="en-US" sz="2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Sentinel-Controlled  Repetition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4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Abbreviate assignment expressions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Any statement of form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 i="1"/>
              <a:t>variable   </a:t>
            </a:r>
            <a:r>
              <a:rPr lang="en-US" sz="2600"/>
              <a:t>=</a:t>
            </a:r>
            <a:r>
              <a:rPr lang="en-US" sz="2600" i="1"/>
              <a:t>  variable  operator  expression</a:t>
            </a:r>
            <a:r>
              <a:rPr lang="en-US" sz="2600"/>
              <a:t>;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Can be written as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 i="1"/>
              <a:t>variable  </a:t>
            </a:r>
            <a:r>
              <a:rPr lang="en-US" sz="2600" i="1">
                <a:solidFill>
                  <a:srgbClr val="0070C0"/>
                </a:solidFill>
              </a:rPr>
              <a:t>operator</a:t>
            </a:r>
            <a:r>
              <a:rPr lang="en-US" sz="2600">
                <a:solidFill>
                  <a:srgbClr val="0070C0"/>
                </a:solidFill>
              </a:rPr>
              <a:t>=</a:t>
            </a:r>
            <a:r>
              <a:rPr lang="en-US" sz="2600"/>
              <a:t>  </a:t>
            </a:r>
            <a:r>
              <a:rPr lang="en-US" sz="2600" i="1"/>
              <a:t>expression</a:t>
            </a:r>
            <a:r>
              <a:rPr lang="en-US" sz="2600"/>
              <a:t>;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E.g., addition assignment operator +=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c = c + 3;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Can be written as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c += 3;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24" name="Google Shape;524;p24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Compound Assignment Operators</a:t>
            </a:r>
            <a:endParaRPr/>
          </a:p>
        </p:txBody>
      </p:sp>
      <p:sp>
        <p:nvSpPr>
          <p:cNvPr id="525" name="Google Shape;525;p2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5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31" name="Google Shape;531;p25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Compound Assignment Operators</a:t>
            </a:r>
            <a:endParaRPr/>
          </a:p>
        </p:txBody>
      </p:sp>
      <p:sp>
        <p:nvSpPr>
          <p:cNvPr id="532" name="Google Shape;532;p2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pic>
        <p:nvPicPr>
          <p:cNvPr id="533" name="Google Shape;53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5" y="853440"/>
            <a:ext cx="8122915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26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Unary increment operator (++)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Increment variable’s value by 1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Unary decrement operator (--)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Decrement variable’s value by 1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Pre-increment / pre-decrement operator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Post-increment / post-decrement operator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39" name="Google Shape;539;p26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Increment &amp; Decrement Operators</a:t>
            </a:r>
            <a:endParaRPr/>
          </a:p>
        </p:txBody>
      </p:sp>
      <p:sp>
        <p:nvSpPr>
          <p:cNvPr id="540" name="Google Shape;540;p2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7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46" name="Google Shape;546;p27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Increment &amp; Decrement Operators</a:t>
            </a:r>
            <a:endParaRPr/>
          </a:p>
        </p:txBody>
      </p:sp>
      <p:sp>
        <p:nvSpPr>
          <p:cNvPr id="547" name="Google Shape;547;p2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32</a:t>
            </a:fld>
            <a:endParaRPr/>
          </a:p>
        </p:txBody>
      </p:sp>
      <p:pic>
        <p:nvPicPr>
          <p:cNvPr id="548" name="Google Shape;548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3917" y="1066800"/>
            <a:ext cx="8289083" cy="402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8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54" name="Google Shape;554;p2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33</a:t>
            </a:fld>
            <a:endParaRPr/>
          </a:p>
        </p:txBody>
      </p:sp>
      <p:pic>
        <p:nvPicPr>
          <p:cNvPr id="555" name="Google Shape;555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0"/>
            <a:ext cx="666463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2bdae7d500_0_11"/>
          <p:cNvSpPr txBox="1"/>
          <p:nvPr/>
        </p:nvSpPr>
        <p:spPr>
          <a:xfrm>
            <a:off x="688725" y="855000"/>
            <a:ext cx="6006600" cy="62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// Online Java Compiler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// Use this editor to write, compile and run your Java code online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import java.util.Scanner;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class Main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public static void main(String args[]) {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Scanner input = new Scanner(System.in);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int c = 5;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System.out.println(c++);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System.out.println(++c);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input.next();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System.out.println(c--);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System.out.println(--c);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System.out.println(c);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input.next();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System.out.println((c+1));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//System.out.println((c+1)++);  // Is this fine?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 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 input.close();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   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g32bdae7d500_0_11"/>
          <p:cNvSpPr txBox="1"/>
          <p:nvPr/>
        </p:nvSpPr>
        <p:spPr>
          <a:xfrm>
            <a:off x="495300" y="-102575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Increment &amp; Decrement Operators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29"/>
          <p:cNvSpPr txBox="1">
            <a:spLocks noGrp="1"/>
          </p:cNvSpPr>
          <p:nvPr>
            <p:ph type="body" idx="1"/>
          </p:nvPr>
        </p:nvSpPr>
        <p:spPr>
          <a:xfrm>
            <a:off x="685800" y="1295400"/>
            <a:ext cx="8229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Char char="»"/>
            </a:pPr>
            <a:r>
              <a:rPr lang="en-US" sz="3200">
                <a:solidFill>
                  <a:srgbClr val="FF0000"/>
                </a:solidFill>
              </a:rPr>
              <a:t>Attempting to use the increment or decrement operator on an expression other than one to which a value can be assigned is a syntax error. For example, writing </a:t>
            </a:r>
            <a:r>
              <a:rPr lang="en-US" sz="3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++(x + 1)</a:t>
            </a:r>
            <a:r>
              <a:rPr lang="en-US" sz="3200">
                <a:solidFill>
                  <a:srgbClr val="C00000"/>
                </a:solidFill>
              </a:rPr>
              <a:t> </a:t>
            </a:r>
            <a:r>
              <a:rPr lang="en-US" sz="3200">
                <a:solidFill>
                  <a:srgbClr val="FF0000"/>
                </a:solidFill>
              </a:rPr>
              <a:t>is a syntax error, because </a:t>
            </a:r>
            <a:r>
              <a:rPr lang="en-US" sz="3200">
                <a:solidFill>
                  <a:srgbClr val="C00000"/>
                </a:solidFill>
                <a:latin typeface="Consolas"/>
                <a:ea typeface="Consolas"/>
                <a:cs typeface="Consolas"/>
                <a:sym typeface="Consolas"/>
              </a:rPr>
              <a:t>(x + 1)</a:t>
            </a:r>
            <a:r>
              <a:rPr lang="en-US" sz="3200">
                <a:solidFill>
                  <a:srgbClr val="FF0000"/>
                </a:solidFill>
              </a:rPr>
              <a:t> is not a variable.</a:t>
            </a:r>
            <a:endParaRPr sz="3600"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>
              <a:solidFill>
                <a:srgbClr val="FF0000"/>
              </a:solidFill>
            </a:endParaRPr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67" name="Google Shape;567;p29"/>
          <p:cNvSpPr txBox="1"/>
          <p:nvPr/>
        </p:nvSpPr>
        <p:spPr>
          <a:xfrm>
            <a:off x="533400" y="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Common Programming Error</a:t>
            </a:r>
            <a:endParaRPr/>
          </a:p>
        </p:txBody>
      </p:sp>
      <p:sp>
        <p:nvSpPr>
          <p:cNvPr id="568" name="Google Shape;568;p2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0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74" name="Google Shape;574;p3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36</a:t>
            </a:fld>
            <a:endParaRPr/>
          </a:p>
        </p:txBody>
      </p:sp>
      <p:pic>
        <p:nvPicPr>
          <p:cNvPr id="575" name="Google Shape;575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8134" y="533400"/>
            <a:ext cx="8331066" cy="4206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lvl="0" indent="-325755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Primitive types</a:t>
            </a:r>
            <a:endParaRPr/>
          </a:p>
          <a:p>
            <a:pPr marL="742950" lvl="1" indent="-273367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“building blocks” for more complicated types</a:t>
            </a:r>
            <a:endParaRPr/>
          </a:p>
          <a:p>
            <a:pPr marL="342900" lvl="0" indent="-376555" algn="l" rtl="0">
              <a:spcBef>
                <a:spcPts val="720"/>
              </a:spcBef>
              <a:spcAft>
                <a:spcPts val="0"/>
              </a:spcAft>
              <a:buSzPct val="100000"/>
              <a:buChar char="»"/>
            </a:pPr>
            <a:r>
              <a:rPr lang="en-US" sz="3600"/>
              <a:t>Java is statically typed</a:t>
            </a:r>
            <a:endParaRPr/>
          </a:p>
          <a:p>
            <a:pPr marL="742950" lvl="1" indent="-324167" algn="l" rtl="0">
              <a:spcBef>
                <a:spcPts val="520"/>
              </a:spcBef>
              <a:spcAft>
                <a:spcPts val="0"/>
              </a:spcAft>
              <a:buSzPct val="100000"/>
              <a:buChar char="˃"/>
            </a:pPr>
            <a:r>
              <a:rPr lang="en-US" sz="2600"/>
              <a:t>Variables must be explicitly declared with a type before use. </a:t>
            </a:r>
            <a:endParaRPr sz="2600"/>
          </a:p>
          <a:p>
            <a:pPr marL="742950" lvl="1" indent="-324167" algn="l" rtl="0">
              <a:spcBef>
                <a:spcPts val="520"/>
              </a:spcBef>
              <a:spcAft>
                <a:spcPts val="0"/>
              </a:spcAft>
              <a:buSzPct val="100000"/>
              <a:buChar char="˃"/>
            </a:pPr>
            <a:r>
              <a:rPr lang="en-US" sz="2600"/>
              <a:t>The type cannot change once assigned.</a:t>
            </a:r>
            <a:endParaRPr sz="3600"/>
          </a:p>
          <a:p>
            <a:pPr marL="342900" lvl="0" indent="-376555" algn="l" rtl="0">
              <a:spcBef>
                <a:spcPts val="720"/>
              </a:spcBef>
              <a:spcAft>
                <a:spcPts val="0"/>
              </a:spcAft>
              <a:buSzPct val="100000"/>
              <a:buChar char="»"/>
            </a:pPr>
            <a:r>
              <a:rPr lang="en-US" sz="3600"/>
              <a:t>Java is strongly typed</a:t>
            </a:r>
            <a:endParaRPr/>
          </a:p>
          <a:p>
            <a:pPr marL="742950" lvl="1" indent="-324167" algn="l" rtl="0">
              <a:spcBef>
                <a:spcPts val="520"/>
              </a:spcBef>
              <a:spcAft>
                <a:spcPts val="0"/>
              </a:spcAft>
              <a:buSzPct val="100000"/>
              <a:buChar char="˃"/>
            </a:pPr>
            <a:r>
              <a:rPr lang="en-US" sz="2600"/>
              <a:t>All variables in a Java program must have a type.</a:t>
            </a:r>
            <a:endParaRPr sz="2600"/>
          </a:p>
          <a:p>
            <a:pPr marL="742950" lvl="1" indent="-324167" algn="l" rtl="0">
              <a:spcBef>
                <a:spcPts val="520"/>
              </a:spcBef>
              <a:spcAft>
                <a:spcPts val="0"/>
              </a:spcAft>
              <a:buSzPct val="100000"/>
              <a:buChar char="˃"/>
            </a:pPr>
            <a:r>
              <a:rPr lang="en-US" sz="2600"/>
              <a:t>A strongly typed language does not allow implicit type conversion between unrelated types.</a:t>
            </a:r>
            <a:endParaRPr sz="3600"/>
          </a:p>
          <a:p>
            <a:pPr marL="342900" lvl="0" indent="-325755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ct val="100000"/>
              <a:buChar char="»"/>
            </a:pPr>
            <a:r>
              <a:rPr lang="en-US" sz="3600"/>
              <a:t>Java primitive types</a:t>
            </a:r>
            <a:endParaRPr/>
          </a:p>
          <a:p>
            <a:pPr marL="742950" lvl="1" indent="-273367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˃"/>
            </a:pPr>
            <a:r>
              <a:rPr lang="en-US" sz="2600"/>
              <a:t>portable across computer platforms that support Java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ct val="100000"/>
              <a:buNone/>
            </a:pPr>
            <a:endParaRPr/>
          </a:p>
        </p:txBody>
      </p:sp>
      <p:sp>
        <p:nvSpPr>
          <p:cNvPr id="581" name="Google Shape;581;p31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Primitive Data Types</a:t>
            </a:r>
            <a:endParaRPr/>
          </a:p>
        </p:txBody>
      </p:sp>
      <p:sp>
        <p:nvSpPr>
          <p:cNvPr id="582" name="Google Shape;582;p3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2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14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88" name="Google Shape;588;p3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38</a:t>
            </a:fld>
            <a:endParaRPr/>
          </a:p>
        </p:txBody>
      </p:sp>
      <p:pic>
        <p:nvPicPr>
          <p:cNvPr id="589" name="Google Shape;58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" y="76200"/>
            <a:ext cx="8204835" cy="6675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3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Counter-controlled repetition requires: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Name of control variable (loop counter)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Initial value of control variable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Increment/decrement of control variable through each loop iteration</a:t>
            </a:r>
            <a:endParaRPr sz="2600"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Condition that tests for control variable’s final value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595" name="Google Shape;595;p33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Essentials of Counter-Controlled Repetition</a:t>
            </a:r>
            <a:endParaRPr/>
          </a:p>
        </p:txBody>
      </p:sp>
      <p:sp>
        <p:nvSpPr>
          <p:cNvPr id="596" name="Google Shape;596;p3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39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4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The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3600"/>
              <a:t> Repetition Structure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602" name="Google Shape;602;p34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 Repetition</a:t>
            </a:r>
            <a:endParaRPr/>
          </a:p>
        </p:txBody>
      </p:sp>
      <p:sp>
        <p:nvSpPr>
          <p:cNvPr id="603" name="Google Shape;603;p3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40</a:t>
            </a:fld>
            <a:endParaRPr/>
          </a:p>
        </p:txBody>
      </p:sp>
      <p:sp>
        <p:nvSpPr>
          <p:cNvPr id="604" name="Google Shape;604;p34"/>
          <p:cNvSpPr/>
          <p:nvPr/>
        </p:nvSpPr>
        <p:spPr>
          <a:xfrm>
            <a:off x="887412" y="2863850"/>
            <a:ext cx="962025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for (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4"/>
          <p:cNvSpPr/>
          <p:nvPr/>
        </p:nvSpPr>
        <p:spPr>
          <a:xfrm>
            <a:off x="1801812" y="2863850"/>
            <a:ext cx="4810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2659FF"/>
                </a:solidFill>
                <a:latin typeface="Courier"/>
                <a:ea typeface="Courier"/>
                <a:cs typeface="Courier"/>
                <a:sym typeface="Courier"/>
              </a:rPr>
              <a:t>int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4"/>
          <p:cNvSpPr/>
          <p:nvPr/>
        </p:nvSpPr>
        <p:spPr>
          <a:xfrm>
            <a:off x="2335212" y="2863850"/>
            <a:ext cx="17637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 counter =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4"/>
          <p:cNvSpPr/>
          <p:nvPr/>
        </p:nvSpPr>
        <p:spPr>
          <a:xfrm>
            <a:off x="4011612" y="2863850"/>
            <a:ext cx="160338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0D9FF"/>
                </a:solidFill>
                <a:latin typeface="Courier"/>
                <a:ea typeface="Courier"/>
                <a:cs typeface="Courier"/>
                <a:sym typeface="Courier"/>
              </a:rPr>
              <a:t>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4"/>
          <p:cNvSpPr/>
          <p:nvPr/>
        </p:nvSpPr>
        <p:spPr>
          <a:xfrm>
            <a:off x="4164012" y="2863850"/>
            <a:ext cx="2084388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; counter &lt;=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34"/>
          <p:cNvSpPr/>
          <p:nvPr/>
        </p:nvSpPr>
        <p:spPr>
          <a:xfrm>
            <a:off x="6145212" y="2863850"/>
            <a:ext cx="320675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40D9FF"/>
                </a:solidFill>
                <a:latin typeface="Courier"/>
                <a:ea typeface="Courier"/>
                <a:cs typeface="Courier"/>
                <a:sym typeface="Courier"/>
              </a:rPr>
              <a:t>10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34"/>
          <p:cNvSpPr/>
          <p:nvPr/>
        </p:nvSpPr>
        <p:spPr>
          <a:xfrm>
            <a:off x="6450012" y="2863850"/>
            <a:ext cx="2084388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; counter++ 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34"/>
          <p:cNvSpPr/>
          <p:nvPr/>
        </p:nvSpPr>
        <p:spPr>
          <a:xfrm>
            <a:off x="3382962" y="3544888"/>
            <a:ext cx="74613" cy="33337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0" y="0"/>
                </a:moveTo>
                <a:lnTo>
                  <a:pt x="0" y="0"/>
                </a:lnTo>
                <a:lnTo>
                  <a:pt x="12" y="21"/>
                </a:lnTo>
                <a:lnTo>
                  <a:pt x="12" y="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4"/>
          <p:cNvSpPr/>
          <p:nvPr/>
        </p:nvSpPr>
        <p:spPr>
          <a:xfrm>
            <a:off x="3606800" y="3244850"/>
            <a:ext cx="74612" cy="33338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0" y="0"/>
                </a:moveTo>
                <a:lnTo>
                  <a:pt x="0" y="0"/>
                </a:lnTo>
                <a:lnTo>
                  <a:pt x="12" y="21"/>
                </a:lnTo>
                <a:lnTo>
                  <a:pt x="12" y="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4"/>
          <p:cNvSpPr/>
          <p:nvPr/>
        </p:nvSpPr>
        <p:spPr>
          <a:xfrm>
            <a:off x="5915025" y="3544888"/>
            <a:ext cx="74612" cy="33337"/>
          </a:xfrm>
          <a:custGeom>
            <a:avLst/>
            <a:gdLst/>
            <a:ahLst/>
            <a:cxnLst/>
            <a:rect l="l" t="t" r="r" b="b"/>
            <a:pathLst>
              <a:path w="11" h="21" extrusionOk="0">
                <a:moveTo>
                  <a:pt x="0" y="21"/>
                </a:moveTo>
                <a:lnTo>
                  <a:pt x="0" y="21"/>
                </a:lnTo>
                <a:lnTo>
                  <a:pt x="11" y="0"/>
                </a:lnTo>
                <a:lnTo>
                  <a:pt x="11" y="0"/>
                </a:lnTo>
                <a:lnTo>
                  <a:pt x="0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4"/>
          <p:cNvSpPr/>
          <p:nvPr/>
        </p:nvSpPr>
        <p:spPr>
          <a:xfrm>
            <a:off x="5803900" y="3278188"/>
            <a:ext cx="74612" cy="33337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0" y="21"/>
                </a:moveTo>
                <a:lnTo>
                  <a:pt x="0" y="21"/>
                </a:lnTo>
                <a:lnTo>
                  <a:pt x="12" y="0"/>
                </a:lnTo>
                <a:lnTo>
                  <a:pt x="12" y="0"/>
                </a:lnTo>
                <a:lnTo>
                  <a:pt x="0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4"/>
          <p:cNvSpPr/>
          <p:nvPr/>
        </p:nvSpPr>
        <p:spPr>
          <a:xfrm>
            <a:off x="3419475" y="2478088"/>
            <a:ext cx="74612" cy="33337"/>
          </a:xfrm>
          <a:custGeom>
            <a:avLst/>
            <a:gdLst/>
            <a:ahLst/>
            <a:cxnLst/>
            <a:rect l="l" t="t" r="r" b="b"/>
            <a:pathLst>
              <a:path w="11" h="21" extrusionOk="0">
                <a:moveTo>
                  <a:pt x="11" y="21"/>
                </a:moveTo>
                <a:lnTo>
                  <a:pt x="11" y="21"/>
                </a:lnTo>
                <a:lnTo>
                  <a:pt x="0" y="0"/>
                </a:lnTo>
                <a:lnTo>
                  <a:pt x="0" y="0"/>
                </a:lnTo>
                <a:lnTo>
                  <a:pt x="11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4"/>
          <p:cNvSpPr/>
          <p:nvPr/>
        </p:nvSpPr>
        <p:spPr>
          <a:xfrm>
            <a:off x="5264150" y="2478088"/>
            <a:ext cx="74612" cy="33337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12" y="21"/>
                </a:moveTo>
                <a:lnTo>
                  <a:pt x="12" y="21"/>
                </a:lnTo>
                <a:lnTo>
                  <a:pt x="0" y="0"/>
                </a:lnTo>
                <a:lnTo>
                  <a:pt x="0" y="0"/>
                </a:lnTo>
                <a:lnTo>
                  <a:pt x="12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4"/>
          <p:cNvSpPr/>
          <p:nvPr/>
        </p:nvSpPr>
        <p:spPr>
          <a:xfrm>
            <a:off x="5133975" y="2778125"/>
            <a:ext cx="74612" cy="33338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12" y="21"/>
                </a:moveTo>
                <a:lnTo>
                  <a:pt x="12" y="21"/>
                </a:lnTo>
                <a:lnTo>
                  <a:pt x="0" y="0"/>
                </a:lnTo>
                <a:lnTo>
                  <a:pt x="0" y="0"/>
                </a:lnTo>
                <a:lnTo>
                  <a:pt x="12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4"/>
          <p:cNvSpPr/>
          <p:nvPr/>
        </p:nvSpPr>
        <p:spPr>
          <a:xfrm>
            <a:off x="1039812" y="3930650"/>
            <a:ext cx="1450975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Initial value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4"/>
          <p:cNvSpPr/>
          <p:nvPr/>
        </p:nvSpPr>
        <p:spPr>
          <a:xfrm>
            <a:off x="963612" y="4235450"/>
            <a:ext cx="24495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of control variable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34"/>
          <p:cNvSpPr/>
          <p:nvPr/>
        </p:nvSpPr>
        <p:spPr>
          <a:xfrm>
            <a:off x="6069012" y="3930650"/>
            <a:ext cx="152400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Increment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34"/>
          <p:cNvSpPr/>
          <p:nvPr/>
        </p:nvSpPr>
        <p:spPr>
          <a:xfrm>
            <a:off x="5307012" y="4235450"/>
            <a:ext cx="24495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of control variable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4"/>
          <p:cNvSpPr/>
          <p:nvPr/>
        </p:nvSpPr>
        <p:spPr>
          <a:xfrm>
            <a:off x="2411412" y="1644650"/>
            <a:ext cx="2160588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Control variable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4"/>
          <p:cNvSpPr/>
          <p:nvPr/>
        </p:nvSpPr>
        <p:spPr>
          <a:xfrm>
            <a:off x="2944812" y="1949450"/>
            <a:ext cx="768350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name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34"/>
          <p:cNvSpPr/>
          <p:nvPr/>
        </p:nvSpPr>
        <p:spPr>
          <a:xfrm>
            <a:off x="5078412" y="1644650"/>
            <a:ext cx="1374775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Final value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34"/>
          <p:cNvSpPr/>
          <p:nvPr/>
        </p:nvSpPr>
        <p:spPr>
          <a:xfrm>
            <a:off x="5078412" y="1949450"/>
            <a:ext cx="244951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of control variable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4"/>
          <p:cNvSpPr/>
          <p:nvPr/>
        </p:nvSpPr>
        <p:spPr>
          <a:xfrm>
            <a:off x="1039791" y="1720850"/>
            <a:ext cx="962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for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4"/>
          <p:cNvSpPr/>
          <p:nvPr/>
        </p:nvSpPr>
        <p:spPr>
          <a:xfrm>
            <a:off x="623871" y="2025650"/>
            <a:ext cx="1524000" cy="3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keyword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4"/>
          <p:cNvSpPr/>
          <p:nvPr/>
        </p:nvSpPr>
        <p:spPr>
          <a:xfrm>
            <a:off x="3402012" y="4845050"/>
            <a:ext cx="3687763" cy="320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Loop-continuation condition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4"/>
          <p:cNvSpPr/>
          <p:nvPr/>
        </p:nvSpPr>
        <p:spPr>
          <a:xfrm>
            <a:off x="4705350" y="3411538"/>
            <a:ext cx="74612" cy="33337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12" y="0"/>
                </a:moveTo>
                <a:lnTo>
                  <a:pt x="12" y="0"/>
                </a:lnTo>
                <a:lnTo>
                  <a:pt x="0" y="21"/>
                </a:lnTo>
                <a:lnTo>
                  <a:pt x="0" y="21"/>
                </a:lnTo>
                <a:lnTo>
                  <a:pt x="1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4"/>
          <p:cNvSpPr/>
          <p:nvPr/>
        </p:nvSpPr>
        <p:spPr>
          <a:xfrm>
            <a:off x="4090987" y="3144838"/>
            <a:ext cx="74613" cy="33337"/>
          </a:xfrm>
          <a:custGeom>
            <a:avLst/>
            <a:gdLst/>
            <a:ahLst/>
            <a:cxnLst/>
            <a:rect l="l" t="t" r="r" b="b"/>
            <a:pathLst>
              <a:path w="12" h="21" extrusionOk="0">
                <a:moveTo>
                  <a:pt x="0" y="21"/>
                </a:moveTo>
                <a:lnTo>
                  <a:pt x="0" y="21"/>
                </a:lnTo>
                <a:lnTo>
                  <a:pt x="12" y="0"/>
                </a:lnTo>
                <a:lnTo>
                  <a:pt x="12" y="0"/>
                </a:lnTo>
                <a:lnTo>
                  <a:pt x="0" y="21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4"/>
          <p:cNvSpPr/>
          <p:nvPr/>
        </p:nvSpPr>
        <p:spPr>
          <a:xfrm rot="5400000">
            <a:off x="5192712" y="2444750"/>
            <a:ext cx="304800" cy="1905000"/>
          </a:xfrm>
          <a:prstGeom prst="rightBrace">
            <a:avLst>
              <a:gd name="adj1" fmla="val 31742"/>
              <a:gd name="adj2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2" name="Google Shape;632;p34"/>
          <p:cNvCxnSpPr/>
          <p:nvPr/>
        </p:nvCxnSpPr>
        <p:spPr>
          <a:xfrm flipH="1">
            <a:off x="1116012" y="2330450"/>
            <a:ext cx="76200" cy="5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3" name="Google Shape;633;p34"/>
          <p:cNvCxnSpPr/>
          <p:nvPr/>
        </p:nvCxnSpPr>
        <p:spPr>
          <a:xfrm rot="10800000" flipH="1">
            <a:off x="2716212" y="3244850"/>
            <a:ext cx="1219200" cy="838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4" name="Google Shape;634;p34"/>
          <p:cNvCxnSpPr/>
          <p:nvPr/>
        </p:nvCxnSpPr>
        <p:spPr>
          <a:xfrm>
            <a:off x="3249612" y="2330450"/>
            <a:ext cx="0" cy="5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5" name="Google Shape;635;p34"/>
          <p:cNvCxnSpPr/>
          <p:nvPr/>
        </p:nvCxnSpPr>
        <p:spPr>
          <a:xfrm>
            <a:off x="5764212" y="2330450"/>
            <a:ext cx="381000" cy="5334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6" name="Google Shape;636;p34"/>
          <p:cNvCxnSpPr/>
          <p:nvPr/>
        </p:nvCxnSpPr>
        <p:spPr>
          <a:xfrm rot="10800000" flipH="1">
            <a:off x="4392612" y="3625850"/>
            <a:ext cx="914400" cy="11430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37" name="Google Shape;637;p34"/>
          <p:cNvCxnSpPr/>
          <p:nvPr/>
        </p:nvCxnSpPr>
        <p:spPr>
          <a:xfrm rot="10800000" flipH="1">
            <a:off x="7135812" y="3244850"/>
            <a:ext cx="76200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8" name="Google Shape;638;p34"/>
          <p:cNvSpPr/>
          <p:nvPr/>
        </p:nvSpPr>
        <p:spPr>
          <a:xfrm>
            <a:off x="1497012" y="5759450"/>
            <a:ext cx="5638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Fig. 5: Components of a typical </a:t>
            </a: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structure header. 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35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The </a:t>
            </a: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3600"/>
              <a:t> Repetition Statement</a:t>
            </a:r>
            <a:endParaRPr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644" name="Google Shape;644;p35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 Repetition</a:t>
            </a:r>
            <a:endParaRPr/>
          </a:p>
        </p:txBody>
      </p:sp>
      <p:sp>
        <p:nvSpPr>
          <p:cNvPr id="645" name="Google Shape;645;p3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41</a:t>
            </a:fld>
            <a:endParaRPr/>
          </a:p>
        </p:txBody>
      </p:sp>
      <p:sp>
        <p:nvSpPr>
          <p:cNvPr id="646" name="Google Shape;646;p35"/>
          <p:cNvSpPr/>
          <p:nvPr/>
        </p:nvSpPr>
        <p:spPr>
          <a:xfrm>
            <a:off x="2144712" y="3168650"/>
            <a:ext cx="2133600" cy="1219200"/>
          </a:xfrm>
          <a:prstGeom prst="diamond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5"/>
          <p:cNvSpPr/>
          <p:nvPr/>
        </p:nvSpPr>
        <p:spPr>
          <a:xfrm>
            <a:off x="4811712" y="3244850"/>
            <a:ext cx="1600200" cy="12954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35"/>
          <p:cNvSpPr/>
          <p:nvPr/>
        </p:nvSpPr>
        <p:spPr>
          <a:xfrm>
            <a:off x="1839912" y="5911850"/>
            <a:ext cx="5715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Fig. 6: Flowcharting a typical </a:t>
            </a: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repetition structure. </a:t>
            </a:r>
            <a:endParaRPr/>
          </a:p>
        </p:txBody>
      </p:sp>
      <p:sp>
        <p:nvSpPr>
          <p:cNvPr id="649" name="Google Shape;649;p35"/>
          <p:cNvSpPr/>
          <p:nvPr/>
        </p:nvSpPr>
        <p:spPr>
          <a:xfrm>
            <a:off x="3470275" y="1277938"/>
            <a:ext cx="19050" cy="1587"/>
          </a:xfrm>
          <a:custGeom>
            <a:avLst/>
            <a:gdLst/>
            <a:ahLst/>
            <a:cxnLst/>
            <a:rect l="l" t="t" r="r" b="b"/>
            <a:pathLst>
              <a:path w="12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35"/>
          <p:cNvSpPr/>
          <p:nvPr/>
        </p:nvSpPr>
        <p:spPr>
          <a:xfrm>
            <a:off x="2373312" y="3625850"/>
            <a:ext cx="158908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counter &lt;= 10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5"/>
          <p:cNvSpPr/>
          <p:nvPr/>
        </p:nvSpPr>
        <p:spPr>
          <a:xfrm>
            <a:off x="3414712" y="2444750"/>
            <a:ext cx="19050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5"/>
          <p:cNvSpPr/>
          <p:nvPr/>
        </p:nvSpPr>
        <p:spPr>
          <a:xfrm>
            <a:off x="3414712" y="2982913"/>
            <a:ext cx="19050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5"/>
          <p:cNvSpPr/>
          <p:nvPr/>
        </p:nvSpPr>
        <p:spPr>
          <a:xfrm>
            <a:off x="3414712" y="4300538"/>
            <a:ext cx="19050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35"/>
          <p:cNvSpPr/>
          <p:nvPr/>
        </p:nvSpPr>
        <p:spPr>
          <a:xfrm>
            <a:off x="3414712" y="4840288"/>
            <a:ext cx="19050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5"/>
          <p:cNvSpPr/>
          <p:nvPr/>
        </p:nvSpPr>
        <p:spPr>
          <a:xfrm>
            <a:off x="4305300" y="3732213"/>
            <a:ext cx="1587" cy="301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5"/>
          <p:cNvSpPr/>
          <p:nvPr/>
        </p:nvSpPr>
        <p:spPr>
          <a:xfrm>
            <a:off x="4640262" y="3732213"/>
            <a:ext cx="1588" cy="301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5"/>
          <p:cNvSpPr/>
          <p:nvPr/>
        </p:nvSpPr>
        <p:spPr>
          <a:xfrm>
            <a:off x="4800600" y="3625850"/>
            <a:ext cx="1604606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Print counter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35"/>
          <p:cNvSpPr/>
          <p:nvPr/>
        </p:nvSpPr>
        <p:spPr>
          <a:xfrm>
            <a:off x="4125890" y="3321050"/>
            <a:ext cx="6858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true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35"/>
          <p:cNvSpPr/>
          <p:nvPr/>
        </p:nvSpPr>
        <p:spPr>
          <a:xfrm>
            <a:off x="3440089" y="4616450"/>
            <a:ext cx="8589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false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5"/>
          <p:cNvSpPr/>
          <p:nvPr/>
        </p:nvSpPr>
        <p:spPr>
          <a:xfrm>
            <a:off x="3525837" y="2803525"/>
            <a:ext cx="1588" cy="30163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5"/>
          <p:cNvSpPr/>
          <p:nvPr/>
        </p:nvSpPr>
        <p:spPr>
          <a:xfrm>
            <a:off x="7088187" y="2803525"/>
            <a:ext cx="1588" cy="30163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5"/>
          <p:cNvSpPr/>
          <p:nvPr/>
        </p:nvSpPr>
        <p:spPr>
          <a:xfrm>
            <a:off x="7088187" y="3552825"/>
            <a:ext cx="19050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35"/>
          <p:cNvSpPr/>
          <p:nvPr/>
        </p:nvSpPr>
        <p:spPr>
          <a:xfrm>
            <a:off x="7088187" y="2803525"/>
            <a:ext cx="19050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35"/>
          <p:cNvSpPr/>
          <p:nvPr/>
        </p:nvSpPr>
        <p:spPr>
          <a:xfrm>
            <a:off x="3414712" y="1397000"/>
            <a:ext cx="19050" cy="1588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35"/>
          <p:cNvSpPr/>
          <p:nvPr/>
        </p:nvSpPr>
        <p:spPr>
          <a:xfrm>
            <a:off x="3414712" y="1935163"/>
            <a:ext cx="19050" cy="1587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5"/>
          <p:cNvSpPr/>
          <p:nvPr/>
        </p:nvSpPr>
        <p:spPr>
          <a:xfrm>
            <a:off x="3470275" y="1277938"/>
            <a:ext cx="19050" cy="1587"/>
          </a:xfrm>
          <a:custGeom>
            <a:avLst/>
            <a:gdLst/>
            <a:ahLst/>
            <a:cxnLst/>
            <a:rect l="l" t="t" r="r" b="b"/>
            <a:pathLst>
              <a:path w="12" h="120000" extrusionOk="0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12" y="0"/>
                </a:lnTo>
                <a:lnTo>
                  <a:pt x="12" y="0"/>
                </a:lnTo>
                <a:lnTo>
                  <a:pt x="12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35"/>
          <p:cNvSpPr/>
          <p:nvPr/>
        </p:nvSpPr>
        <p:spPr>
          <a:xfrm>
            <a:off x="6197600" y="3732213"/>
            <a:ext cx="1587" cy="301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35"/>
          <p:cNvSpPr/>
          <p:nvPr/>
        </p:nvSpPr>
        <p:spPr>
          <a:xfrm>
            <a:off x="6419850" y="3732213"/>
            <a:ext cx="1587" cy="30162"/>
          </a:xfrm>
          <a:prstGeom prst="rect">
            <a:avLst/>
          </a:prstGeom>
          <a:blipFill rotWithShape="1">
            <a:blip r:embed="rId4">
              <a:alphaModFix/>
            </a:blip>
            <a:tile tx="0" ty="0" sx="100000" sy="100000" flip="none" algn="tl"/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5"/>
          <p:cNvSpPr/>
          <p:nvPr/>
        </p:nvSpPr>
        <p:spPr>
          <a:xfrm>
            <a:off x="704850" y="1949450"/>
            <a:ext cx="12477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Establish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35"/>
          <p:cNvSpPr/>
          <p:nvPr/>
        </p:nvSpPr>
        <p:spPr>
          <a:xfrm>
            <a:off x="533400" y="2254250"/>
            <a:ext cx="16638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initial value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5"/>
          <p:cNvSpPr/>
          <p:nvPr/>
        </p:nvSpPr>
        <p:spPr>
          <a:xfrm>
            <a:off x="2543175" y="1965325"/>
            <a:ext cx="5556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5"/>
          <p:cNvSpPr/>
          <p:nvPr/>
        </p:nvSpPr>
        <p:spPr>
          <a:xfrm>
            <a:off x="533400" y="2559050"/>
            <a:ext cx="24051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of control variable.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35"/>
          <p:cNvSpPr/>
          <p:nvPr/>
        </p:nvSpPr>
        <p:spPr>
          <a:xfrm>
            <a:off x="1077912" y="3321050"/>
            <a:ext cx="1247775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Determine if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35"/>
          <p:cNvSpPr/>
          <p:nvPr/>
        </p:nvSpPr>
        <p:spPr>
          <a:xfrm>
            <a:off x="1077912" y="3625850"/>
            <a:ext cx="107473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final value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35"/>
          <p:cNvSpPr/>
          <p:nvPr/>
        </p:nvSpPr>
        <p:spPr>
          <a:xfrm>
            <a:off x="1522412" y="3462338"/>
            <a:ext cx="5715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35"/>
          <p:cNvSpPr/>
          <p:nvPr/>
        </p:nvSpPr>
        <p:spPr>
          <a:xfrm>
            <a:off x="1077912" y="3930650"/>
            <a:ext cx="10017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of control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35"/>
          <p:cNvSpPr/>
          <p:nvPr/>
        </p:nvSpPr>
        <p:spPr>
          <a:xfrm>
            <a:off x="1077912" y="4235450"/>
            <a:ext cx="183673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variable has been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35"/>
          <p:cNvSpPr/>
          <p:nvPr/>
        </p:nvSpPr>
        <p:spPr>
          <a:xfrm>
            <a:off x="1077912" y="4540250"/>
            <a:ext cx="9144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reached.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35"/>
          <p:cNvSpPr/>
          <p:nvPr/>
        </p:nvSpPr>
        <p:spPr>
          <a:xfrm>
            <a:off x="4811712" y="4692650"/>
            <a:ext cx="13081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Body of loop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0" name="Google Shape;680;p35"/>
          <p:cNvSpPr/>
          <p:nvPr/>
        </p:nvSpPr>
        <p:spPr>
          <a:xfrm>
            <a:off x="4811712" y="4997450"/>
            <a:ext cx="1879600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(this may be many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35"/>
          <p:cNvSpPr/>
          <p:nvPr/>
        </p:nvSpPr>
        <p:spPr>
          <a:xfrm>
            <a:off x="4811695" y="5302250"/>
            <a:ext cx="16638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statements)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35"/>
          <p:cNvSpPr/>
          <p:nvPr/>
        </p:nvSpPr>
        <p:spPr>
          <a:xfrm>
            <a:off x="6945290" y="4083050"/>
            <a:ext cx="18795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1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Increment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35"/>
          <p:cNvSpPr/>
          <p:nvPr/>
        </p:nvSpPr>
        <p:spPr>
          <a:xfrm>
            <a:off x="7273925" y="3971925"/>
            <a:ext cx="55562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35"/>
          <p:cNvSpPr/>
          <p:nvPr/>
        </p:nvSpPr>
        <p:spPr>
          <a:xfrm>
            <a:off x="6945297" y="4387850"/>
            <a:ext cx="1391400" cy="2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the control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35"/>
          <p:cNvSpPr/>
          <p:nvPr/>
        </p:nvSpPr>
        <p:spPr>
          <a:xfrm>
            <a:off x="6945312" y="4692650"/>
            <a:ext cx="858838" cy="244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Questrial"/>
                <a:ea typeface="Questrial"/>
                <a:cs typeface="Questrial"/>
                <a:sym typeface="Questrial"/>
              </a:rPr>
              <a:t>variable.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35"/>
          <p:cNvSpPr/>
          <p:nvPr/>
        </p:nvSpPr>
        <p:spPr>
          <a:xfrm>
            <a:off x="3135312" y="126365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35"/>
          <p:cNvSpPr txBox="1"/>
          <p:nvPr/>
        </p:nvSpPr>
        <p:spPr>
          <a:xfrm>
            <a:off x="2297112" y="2101850"/>
            <a:ext cx="2057400" cy="346075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int counter =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8" name="Google Shape;688;p35"/>
          <p:cNvCxnSpPr/>
          <p:nvPr/>
        </p:nvCxnSpPr>
        <p:spPr>
          <a:xfrm>
            <a:off x="3211512" y="1416050"/>
            <a:ext cx="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9" name="Google Shape;689;p35"/>
          <p:cNvSpPr/>
          <p:nvPr/>
        </p:nvSpPr>
        <p:spPr>
          <a:xfrm>
            <a:off x="6945312" y="3549650"/>
            <a:ext cx="1219200" cy="381000"/>
          </a:xfrm>
          <a:prstGeom prst="rect">
            <a:avLst/>
          </a:prstGeom>
          <a:solidFill>
            <a:srgbClr val="CCECFF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35"/>
          <p:cNvSpPr/>
          <p:nvPr/>
        </p:nvSpPr>
        <p:spPr>
          <a:xfrm>
            <a:off x="6945312" y="3549650"/>
            <a:ext cx="1284288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>
                <a:solidFill>
                  <a:srgbClr val="000000"/>
                </a:solidFill>
                <a:latin typeface="Courier"/>
                <a:ea typeface="Courier"/>
                <a:cs typeface="Courier"/>
                <a:sym typeface="Courier"/>
              </a:rPr>
              <a:t>counter++</a:t>
            </a:r>
            <a:endParaRPr/>
          </a:p>
        </p:txBody>
      </p:sp>
      <p:cxnSp>
        <p:nvCxnSpPr>
          <p:cNvPr id="691" name="Google Shape;691;p35"/>
          <p:cNvCxnSpPr/>
          <p:nvPr/>
        </p:nvCxnSpPr>
        <p:spPr>
          <a:xfrm>
            <a:off x="3211512" y="2482850"/>
            <a:ext cx="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2" name="Google Shape;692;p35"/>
          <p:cNvCxnSpPr/>
          <p:nvPr/>
        </p:nvCxnSpPr>
        <p:spPr>
          <a:xfrm>
            <a:off x="3211512" y="4387850"/>
            <a:ext cx="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93" name="Google Shape;693;p35"/>
          <p:cNvSpPr/>
          <p:nvPr/>
        </p:nvSpPr>
        <p:spPr>
          <a:xfrm>
            <a:off x="3135312" y="5073650"/>
            <a:ext cx="152400" cy="152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4" name="Google Shape;694;p35"/>
          <p:cNvCxnSpPr/>
          <p:nvPr/>
        </p:nvCxnSpPr>
        <p:spPr>
          <a:xfrm>
            <a:off x="4278312" y="3778250"/>
            <a:ext cx="533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5" name="Google Shape;695;p35"/>
          <p:cNvCxnSpPr/>
          <p:nvPr/>
        </p:nvCxnSpPr>
        <p:spPr>
          <a:xfrm>
            <a:off x="6411912" y="3702050"/>
            <a:ext cx="5334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96" name="Google Shape;696;p35"/>
          <p:cNvCxnSpPr/>
          <p:nvPr/>
        </p:nvCxnSpPr>
        <p:spPr>
          <a:xfrm rot="10800000">
            <a:off x="7631112" y="2863850"/>
            <a:ext cx="0" cy="685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7" name="Google Shape;697;p35"/>
          <p:cNvCxnSpPr/>
          <p:nvPr/>
        </p:nvCxnSpPr>
        <p:spPr>
          <a:xfrm rot="10800000">
            <a:off x="3211512" y="2863850"/>
            <a:ext cx="4419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6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839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>
              <a:solidFill>
                <a:srgbClr val="0070C0"/>
              </a:solidFill>
            </a:endParaRPr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703" name="Google Shape;703;p36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 Repetition</a:t>
            </a:r>
            <a:endParaRPr/>
          </a:p>
        </p:txBody>
      </p:sp>
      <p:sp>
        <p:nvSpPr>
          <p:cNvPr id="704" name="Google Shape;704;p3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pic>
        <p:nvPicPr>
          <p:cNvPr id="705" name="Google Shape;705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0695" y="838200"/>
            <a:ext cx="8328506" cy="4297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2bdae7d500_0_26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 Repetition</a:t>
            </a:r>
            <a:endParaRPr/>
          </a:p>
        </p:txBody>
      </p:sp>
      <p:sp>
        <p:nvSpPr>
          <p:cNvPr id="711" name="Google Shape;711;g32bdae7d500_0_2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712" name="Google Shape;712;g32bdae7d500_0_26"/>
          <p:cNvSpPr txBox="1"/>
          <p:nvPr/>
        </p:nvSpPr>
        <p:spPr>
          <a:xfrm>
            <a:off x="674100" y="967150"/>
            <a:ext cx="6402300" cy="458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class Main {</a:t>
            </a:r>
            <a:endParaRPr sz="2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public static void main(String[] args) {</a:t>
            </a:r>
            <a:endParaRPr sz="2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for (int i=0; i&lt;=10; i++)</a:t>
            </a:r>
            <a:endParaRPr sz="2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    System.out.printf("%d ", i);</a:t>
            </a:r>
            <a:endParaRPr sz="2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        System.out.println();</a:t>
            </a:r>
            <a:endParaRPr sz="2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    }</a:t>
            </a:r>
            <a:endParaRPr sz="2200"/>
          </a:p>
          <a:p>
            <a:pPr marL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/>
              <a:t>}</a:t>
            </a:r>
            <a:endParaRPr sz="22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37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839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for(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expression1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expression2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expression3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) </a:t>
            </a:r>
            <a:b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/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r>
              <a:rPr lang="en-US" sz="3600"/>
              <a:t>Can usually be written as:</a:t>
            </a:r>
            <a:endParaRPr/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expression1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while (  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expression2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) </a:t>
            </a:r>
            <a:endParaRPr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b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statement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     </a:t>
            </a:r>
            <a:r>
              <a:rPr lang="en-US" i="1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expression3</a:t>
            </a: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b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lang="en-US">
                <a:solidFill>
                  <a:srgbClr val="0070C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>
              <a:solidFill>
                <a:srgbClr val="0070C0"/>
              </a:solidFill>
            </a:endParaRPr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718" name="Google Shape;718;p37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Counter-Controlled Repetition</a:t>
            </a:r>
            <a:endParaRPr/>
          </a:p>
        </p:txBody>
      </p:sp>
      <p:sp>
        <p:nvSpPr>
          <p:cNvPr id="719" name="Google Shape;719;p3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38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80010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»"/>
            </a:pPr>
            <a:r>
              <a:rPr lang="en-US" sz="3200"/>
              <a:t>Varying control variable in </a:t>
            </a:r>
            <a:r>
              <a:rPr lang="en-US" sz="3200" b="1"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3200"/>
              <a:t> structure</a:t>
            </a:r>
            <a:endParaRPr/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Vary control variable from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/>
              <a:t> to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2400"/>
              <a:t> in increments of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sz="2400"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+"/>
            </a:pP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( 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i &lt;=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i++ )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Vary control variable from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2400"/>
              <a:t> to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/>
              <a:t> in decrements of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–1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+"/>
            </a:pP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100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i &gt;=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i-- )</a:t>
            </a:r>
            <a:endParaRPr/>
          </a:p>
          <a:p>
            <a:pPr marL="1143000" lvl="2" indent="-762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 b="1">
              <a:latin typeface="Courier New"/>
              <a:ea typeface="Courier New"/>
              <a:cs typeface="Courier New"/>
              <a:sym typeface="Courier New"/>
            </a:endParaRPr>
          </a:p>
          <a:p>
            <a:pPr marL="742950" lvl="1" indent="-28575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˃"/>
            </a:pPr>
            <a:r>
              <a:rPr lang="en-US" sz="2400"/>
              <a:t>Vary control variable from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2400"/>
              <a:t> to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77</a:t>
            </a:r>
            <a:r>
              <a:rPr lang="en-US" sz="2400"/>
              <a:t> in steps of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/>
          </a:p>
          <a:p>
            <a:pPr marL="1143000" lvl="2" indent="-228600" algn="l" rtl="0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+"/>
            </a:pP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for</a:t>
            </a:r>
            <a:r>
              <a:rPr lang="en-US" sz="2400" b="1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( </a:t>
            </a:r>
            <a:r>
              <a:rPr lang="en-US" sz="24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i 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i &lt;=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77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; i += </a:t>
            </a:r>
            <a:r>
              <a:rPr lang="en-US" sz="2400" b="1">
                <a:solidFill>
                  <a:schemeClr val="accent1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2400" b="1">
                <a:latin typeface="Courier New"/>
                <a:ea typeface="Courier New"/>
                <a:cs typeface="Courier New"/>
                <a:sym typeface="Courier New"/>
              </a:rPr>
              <a:t> )</a:t>
            </a:r>
            <a:endParaRPr/>
          </a:p>
          <a:p>
            <a:pPr marL="342900" lvl="0" indent="-8890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endParaRPr sz="4000"/>
          </a:p>
          <a:p>
            <a:pPr marL="57150" lvl="0" indent="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endParaRPr sz="4000"/>
          </a:p>
          <a:p>
            <a:pPr marL="57150" lvl="0" indent="0" algn="l" rtl="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</a:pPr>
            <a:endParaRPr sz="4000"/>
          </a:p>
          <a:p>
            <a:pPr marL="342900" lvl="0" indent="-139700" algn="l" rtl="0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endParaRPr sz="3200"/>
          </a:p>
        </p:txBody>
      </p:sp>
      <p:sp>
        <p:nvSpPr>
          <p:cNvPr id="725" name="Google Shape;725;p38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Examples Using the for Structure</a:t>
            </a:r>
            <a:endParaRPr/>
          </a:p>
        </p:txBody>
      </p:sp>
      <p:sp>
        <p:nvSpPr>
          <p:cNvPr id="726" name="Google Shape;726;p3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39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do…while</a:t>
            </a:r>
            <a:r>
              <a:rPr lang="en-US" sz="3600"/>
              <a:t> Repetition Statement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Similar to the while structure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tests the loop-continuation condition </a:t>
            </a:r>
            <a:r>
              <a:rPr lang="en-US" sz="2600" i="1">
                <a:solidFill>
                  <a:srgbClr val="C00000"/>
                </a:solidFill>
              </a:rPr>
              <a:t>after</a:t>
            </a:r>
            <a:r>
              <a:rPr lang="en-US" sz="2600"/>
              <a:t> executing the loop’s body; therefore, </a:t>
            </a:r>
            <a:r>
              <a:rPr lang="en-US" sz="2600" i="1">
                <a:solidFill>
                  <a:srgbClr val="C00000"/>
                </a:solidFill>
              </a:rPr>
              <a:t>the body always executes at least once</a:t>
            </a:r>
            <a:endParaRPr sz="2600">
              <a:solidFill>
                <a:srgbClr val="C00000"/>
              </a:solidFill>
            </a:endParaRPr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732" name="Google Shape;732;p39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Control Structures</a:t>
            </a:r>
            <a:endParaRPr/>
          </a:p>
        </p:txBody>
      </p:sp>
      <p:sp>
        <p:nvSpPr>
          <p:cNvPr id="733" name="Google Shape;733;p3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grpSp>
        <p:nvGrpSpPr>
          <p:cNvPr id="734" name="Google Shape;734;p39"/>
          <p:cNvGrpSpPr/>
          <p:nvPr/>
        </p:nvGrpSpPr>
        <p:grpSpPr>
          <a:xfrm>
            <a:off x="5257800" y="2711450"/>
            <a:ext cx="2667000" cy="3657600"/>
            <a:chOff x="5257800" y="2711450"/>
            <a:chExt cx="2667000" cy="3657600"/>
          </a:xfrm>
        </p:grpSpPr>
        <p:sp>
          <p:nvSpPr>
            <p:cNvPr id="735" name="Google Shape;735;p39"/>
            <p:cNvSpPr/>
            <p:nvPr/>
          </p:nvSpPr>
          <p:spPr>
            <a:xfrm>
              <a:off x="6096000" y="2711450"/>
              <a:ext cx="152400" cy="152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6" name="Google Shape;736;p39"/>
            <p:cNvSpPr/>
            <p:nvPr/>
          </p:nvSpPr>
          <p:spPr>
            <a:xfrm>
              <a:off x="5257800" y="4692650"/>
              <a:ext cx="1828800" cy="838200"/>
            </a:xfrm>
            <a:prstGeom prst="diamond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37" name="Google Shape;737;p39"/>
            <p:cNvCxnSpPr/>
            <p:nvPr/>
          </p:nvCxnSpPr>
          <p:spPr>
            <a:xfrm>
              <a:off x="6172200" y="2863850"/>
              <a:ext cx="0" cy="762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38" name="Google Shape;738;p39"/>
            <p:cNvCxnSpPr/>
            <p:nvPr/>
          </p:nvCxnSpPr>
          <p:spPr>
            <a:xfrm>
              <a:off x="6172200" y="3930650"/>
              <a:ext cx="0" cy="762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39" name="Google Shape;739;p39"/>
            <p:cNvSpPr/>
            <p:nvPr/>
          </p:nvSpPr>
          <p:spPr>
            <a:xfrm>
              <a:off x="5257800" y="3625850"/>
              <a:ext cx="1905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40" name="Google Shape;740;p39"/>
            <p:cNvCxnSpPr/>
            <p:nvPr/>
          </p:nvCxnSpPr>
          <p:spPr>
            <a:xfrm rot="10800000">
              <a:off x="6162675" y="3244850"/>
              <a:ext cx="17526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1" name="Google Shape;741;p39"/>
            <p:cNvSpPr txBox="1"/>
            <p:nvPr/>
          </p:nvSpPr>
          <p:spPr>
            <a:xfrm>
              <a:off x="5638800" y="3625850"/>
              <a:ext cx="12954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action(s)</a:t>
              </a:r>
              <a:endParaRPr/>
            </a:p>
          </p:txBody>
        </p:sp>
        <p:sp>
          <p:nvSpPr>
            <p:cNvPr id="742" name="Google Shape;742;p39"/>
            <p:cNvSpPr/>
            <p:nvPr/>
          </p:nvSpPr>
          <p:spPr>
            <a:xfrm>
              <a:off x="5638800" y="4921250"/>
              <a:ext cx="14001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condition</a:t>
              </a:r>
              <a:endParaRPr/>
            </a:p>
          </p:txBody>
        </p:sp>
        <p:sp>
          <p:nvSpPr>
            <p:cNvPr id="743" name="Google Shape;743;p39"/>
            <p:cNvSpPr/>
            <p:nvPr/>
          </p:nvSpPr>
          <p:spPr>
            <a:xfrm>
              <a:off x="6970730" y="4692650"/>
              <a:ext cx="8382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true</a:t>
              </a:r>
              <a:endParaRPr/>
            </a:p>
          </p:txBody>
        </p:sp>
        <p:sp>
          <p:nvSpPr>
            <p:cNvPr id="744" name="Google Shape;744;p39"/>
            <p:cNvSpPr/>
            <p:nvPr/>
          </p:nvSpPr>
          <p:spPr>
            <a:xfrm>
              <a:off x="6400800" y="5607050"/>
              <a:ext cx="9099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false</a:t>
              </a:r>
              <a:endParaRPr/>
            </a:p>
          </p:txBody>
        </p:sp>
        <p:cxnSp>
          <p:nvCxnSpPr>
            <p:cNvPr id="745" name="Google Shape;745;p39"/>
            <p:cNvCxnSpPr/>
            <p:nvPr/>
          </p:nvCxnSpPr>
          <p:spPr>
            <a:xfrm>
              <a:off x="7915275" y="3244850"/>
              <a:ext cx="9525" cy="1905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6" name="Google Shape;746;p39"/>
            <p:cNvCxnSpPr/>
            <p:nvPr/>
          </p:nvCxnSpPr>
          <p:spPr>
            <a:xfrm>
              <a:off x="7086600" y="5149850"/>
              <a:ext cx="838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47" name="Google Shape;747;p39"/>
            <p:cNvCxnSpPr/>
            <p:nvPr/>
          </p:nvCxnSpPr>
          <p:spPr>
            <a:xfrm>
              <a:off x="6172200" y="5530850"/>
              <a:ext cx="0" cy="685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48" name="Google Shape;748;p39"/>
            <p:cNvSpPr/>
            <p:nvPr/>
          </p:nvSpPr>
          <p:spPr>
            <a:xfrm>
              <a:off x="6096000" y="6216650"/>
              <a:ext cx="152400" cy="152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9" name="Google Shape;749;p39"/>
          <p:cNvSpPr/>
          <p:nvPr/>
        </p:nvSpPr>
        <p:spPr>
          <a:xfrm>
            <a:off x="381000" y="6064250"/>
            <a:ext cx="56388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Fig. 7: Flowcharting the </a:t>
            </a: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do/while</a:t>
            </a: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repetition structure.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40"/>
          <p:cNvSpPr txBox="1">
            <a:spLocks noGrp="1"/>
          </p:cNvSpPr>
          <p:nvPr>
            <p:ph type="body" idx="1"/>
          </p:nvPr>
        </p:nvSpPr>
        <p:spPr>
          <a:xfrm>
            <a:off x="457200" y="685800"/>
            <a:ext cx="8839200" cy="579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>
              <a:solidFill>
                <a:srgbClr val="0070C0"/>
              </a:solidFill>
            </a:endParaRPr>
          </a:p>
          <a:p>
            <a:pPr marL="342900" lvl="0" indent="-1143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755" name="Google Shape;755;p40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do…while Repetition</a:t>
            </a:r>
            <a:endParaRPr/>
          </a:p>
        </p:txBody>
      </p:sp>
      <p:sp>
        <p:nvSpPr>
          <p:cNvPr id="756" name="Google Shape;756;p4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pic>
        <p:nvPicPr>
          <p:cNvPr id="757" name="Google Shape;757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685800"/>
            <a:ext cx="8348018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1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sz="3600"/>
              <a:t> structure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Used for multiple selections</a:t>
            </a:r>
            <a:endParaRPr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763" name="Google Shape;763;p41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switch Multiple-Selection Structure</a:t>
            </a:r>
            <a:endParaRPr/>
          </a:p>
        </p:txBody>
      </p:sp>
      <p:sp>
        <p:nvSpPr>
          <p:cNvPr id="764" name="Google Shape;764;p4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2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770" name="Google Shape;770;p42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switch Multiple-Selection Structure</a:t>
            </a:r>
            <a:endParaRPr/>
          </a:p>
        </p:txBody>
      </p:sp>
      <p:sp>
        <p:nvSpPr>
          <p:cNvPr id="771" name="Google Shape;771;p4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grpSp>
        <p:nvGrpSpPr>
          <p:cNvPr id="772" name="Google Shape;772;p42"/>
          <p:cNvGrpSpPr/>
          <p:nvPr/>
        </p:nvGrpSpPr>
        <p:grpSpPr>
          <a:xfrm>
            <a:off x="838200" y="730250"/>
            <a:ext cx="7086600" cy="5791200"/>
            <a:chOff x="838200" y="730250"/>
            <a:chExt cx="7086600" cy="5791200"/>
          </a:xfrm>
        </p:grpSpPr>
        <p:sp>
          <p:nvSpPr>
            <p:cNvPr id="773" name="Google Shape;773;p42"/>
            <p:cNvSpPr/>
            <p:nvPr/>
          </p:nvSpPr>
          <p:spPr>
            <a:xfrm>
              <a:off x="1676400" y="730250"/>
              <a:ext cx="152400" cy="152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42"/>
            <p:cNvSpPr/>
            <p:nvPr/>
          </p:nvSpPr>
          <p:spPr>
            <a:xfrm>
              <a:off x="1676400" y="6369050"/>
              <a:ext cx="152400" cy="152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42"/>
            <p:cNvSpPr/>
            <p:nvPr/>
          </p:nvSpPr>
          <p:spPr>
            <a:xfrm>
              <a:off x="838200" y="1263650"/>
              <a:ext cx="1828800" cy="838200"/>
            </a:xfrm>
            <a:prstGeom prst="diamond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42"/>
            <p:cNvSpPr/>
            <p:nvPr/>
          </p:nvSpPr>
          <p:spPr>
            <a:xfrm>
              <a:off x="838200" y="2482850"/>
              <a:ext cx="1828800" cy="838200"/>
            </a:xfrm>
            <a:prstGeom prst="diamond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42"/>
            <p:cNvSpPr/>
            <p:nvPr/>
          </p:nvSpPr>
          <p:spPr>
            <a:xfrm>
              <a:off x="838200" y="4464050"/>
              <a:ext cx="1828800" cy="838200"/>
            </a:xfrm>
            <a:prstGeom prst="diamond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78" name="Google Shape;778;p42"/>
            <p:cNvCxnSpPr/>
            <p:nvPr/>
          </p:nvCxnSpPr>
          <p:spPr>
            <a:xfrm>
              <a:off x="1752600" y="882650"/>
              <a:ext cx="0" cy="381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9" name="Google Shape;779;p42"/>
            <p:cNvCxnSpPr/>
            <p:nvPr/>
          </p:nvCxnSpPr>
          <p:spPr>
            <a:xfrm>
              <a:off x="1752600" y="2101850"/>
              <a:ext cx="0" cy="381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0" name="Google Shape;780;p42"/>
            <p:cNvCxnSpPr/>
            <p:nvPr/>
          </p:nvCxnSpPr>
          <p:spPr>
            <a:xfrm>
              <a:off x="1752600" y="5302250"/>
              <a:ext cx="0" cy="381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1" name="Google Shape;781;p42"/>
            <p:cNvCxnSpPr/>
            <p:nvPr/>
          </p:nvCxnSpPr>
          <p:spPr>
            <a:xfrm>
              <a:off x="1752600" y="4159250"/>
              <a:ext cx="0" cy="30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82" name="Google Shape;782;p42"/>
            <p:cNvCxnSpPr/>
            <p:nvPr/>
          </p:nvCxnSpPr>
          <p:spPr>
            <a:xfrm>
              <a:off x="1752600" y="3321050"/>
              <a:ext cx="0" cy="3048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83" name="Google Shape;783;p42"/>
            <p:cNvSpPr/>
            <p:nvPr/>
          </p:nvSpPr>
          <p:spPr>
            <a:xfrm rot="10800000">
              <a:off x="1752600" y="38544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2"/>
            <p:cNvSpPr/>
            <p:nvPr/>
          </p:nvSpPr>
          <p:spPr>
            <a:xfrm flipH="1">
              <a:off x="1752600" y="40068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5" name="Google Shape;785;p42"/>
            <p:cNvSpPr/>
            <p:nvPr/>
          </p:nvSpPr>
          <p:spPr>
            <a:xfrm rot="10800000">
              <a:off x="1752600" y="3702050"/>
              <a:ext cx="76200" cy="76200"/>
            </a:xfrm>
            <a:prstGeom prst="ellipse">
              <a:avLst/>
            </a:prstGeom>
            <a:solidFill>
              <a:srgbClr val="00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6" name="Google Shape;786;p42"/>
            <p:cNvSpPr/>
            <p:nvPr/>
          </p:nvSpPr>
          <p:spPr>
            <a:xfrm>
              <a:off x="838200" y="5683250"/>
              <a:ext cx="1905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87" name="Google Shape;787;p42"/>
            <p:cNvCxnSpPr/>
            <p:nvPr/>
          </p:nvCxnSpPr>
          <p:spPr>
            <a:xfrm>
              <a:off x="1752600" y="5988050"/>
              <a:ext cx="0" cy="3810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788" name="Google Shape;788;p42"/>
            <p:cNvSpPr/>
            <p:nvPr/>
          </p:nvSpPr>
          <p:spPr>
            <a:xfrm>
              <a:off x="5943600" y="1568450"/>
              <a:ext cx="14478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9" name="Google Shape;789;p42"/>
            <p:cNvSpPr/>
            <p:nvPr/>
          </p:nvSpPr>
          <p:spPr>
            <a:xfrm>
              <a:off x="5943600" y="2787650"/>
              <a:ext cx="1524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0" name="Google Shape;790;p42"/>
            <p:cNvSpPr/>
            <p:nvPr/>
          </p:nvSpPr>
          <p:spPr>
            <a:xfrm>
              <a:off x="5943600" y="4768850"/>
              <a:ext cx="1524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1" name="Google Shape;791;p42"/>
            <p:cNvSpPr/>
            <p:nvPr/>
          </p:nvSpPr>
          <p:spPr>
            <a:xfrm>
              <a:off x="3505200" y="4768850"/>
              <a:ext cx="1905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2" name="Google Shape;792;p42"/>
            <p:cNvSpPr/>
            <p:nvPr/>
          </p:nvSpPr>
          <p:spPr>
            <a:xfrm>
              <a:off x="3505200" y="2787650"/>
              <a:ext cx="1905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3" name="Google Shape;793;p42"/>
            <p:cNvSpPr/>
            <p:nvPr/>
          </p:nvSpPr>
          <p:spPr>
            <a:xfrm>
              <a:off x="3505200" y="1568450"/>
              <a:ext cx="1905000" cy="304800"/>
            </a:xfrm>
            <a:prstGeom prst="rect">
              <a:avLst/>
            </a:prstGeom>
            <a:solidFill>
              <a:srgbClr val="CCECFF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94" name="Google Shape;794;p42"/>
            <p:cNvCxnSpPr/>
            <p:nvPr/>
          </p:nvCxnSpPr>
          <p:spPr>
            <a:xfrm>
              <a:off x="2667000" y="1720850"/>
              <a:ext cx="838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5" name="Google Shape;795;p42"/>
            <p:cNvCxnSpPr/>
            <p:nvPr/>
          </p:nvCxnSpPr>
          <p:spPr>
            <a:xfrm>
              <a:off x="2667000" y="4921250"/>
              <a:ext cx="838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6" name="Google Shape;796;p42"/>
            <p:cNvCxnSpPr/>
            <p:nvPr/>
          </p:nvCxnSpPr>
          <p:spPr>
            <a:xfrm>
              <a:off x="2667000" y="2940050"/>
              <a:ext cx="838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7" name="Google Shape;797;p42"/>
            <p:cNvCxnSpPr/>
            <p:nvPr/>
          </p:nvCxnSpPr>
          <p:spPr>
            <a:xfrm>
              <a:off x="5410200" y="1720850"/>
              <a:ext cx="533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8" name="Google Shape;798;p42"/>
            <p:cNvCxnSpPr/>
            <p:nvPr/>
          </p:nvCxnSpPr>
          <p:spPr>
            <a:xfrm>
              <a:off x="5410200" y="2940050"/>
              <a:ext cx="533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9" name="Google Shape;799;p42"/>
            <p:cNvCxnSpPr/>
            <p:nvPr/>
          </p:nvCxnSpPr>
          <p:spPr>
            <a:xfrm>
              <a:off x="5410200" y="4921250"/>
              <a:ext cx="533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0" name="Google Shape;800;p42"/>
            <p:cNvCxnSpPr/>
            <p:nvPr/>
          </p:nvCxnSpPr>
          <p:spPr>
            <a:xfrm>
              <a:off x="7391400" y="1720850"/>
              <a:ext cx="5334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1" name="Google Shape;801;p42"/>
            <p:cNvCxnSpPr/>
            <p:nvPr/>
          </p:nvCxnSpPr>
          <p:spPr>
            <a:xfrm>
              <a:off x="7467600" y="2940050"/>
              <a:ext cx="457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2" name="Google Shape;802;p42"/>
            <p:cNvCxnSpPr/>
            <p:nvPr/>
          </p:nvCxnSpPr>
          <p:spPr>
            <a:xfrm>
              <a:off x="7467600" y="4921250"/>
              <a:ext cx="4572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3" name="Google Shape;803;p42"/>
            <p:cNvCxnSpPr/>
            <p:nvPr/>
          </p:nvCxnSpPr>
          <p:spPr>
            <a:xfrm>
              <a:off x="7924800" y="1720850"/>
              <a:ext cx="0" cy="44196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4" name="Google Shape;804;p42"/>
            <p:cNvCxnSpPr/>
            <p:nvPr/>
          </p:nvCxnSpPr>
          <p:spPr>
            <a:xfrm rot="10800000">
              <a:off x="1828800" y="6140450"/>
              <a:ext cx="60960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805" name="Google Shape;805;p42"/>
            <p:cNvSpPr txBox="1"/>
            <p:nvPr/>
          </p:nvSpPr>
          <p:spPr>
            <a:xfrm>
              <a:off x="6248400" y="2787650"/>
              <a:ext cx="10668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endParaRPr/>
            </a:p>
          </p:txBody>
        </p:sp>
        <p:sp>
          <p:nvSpPr>
            <p:cNvPr id="806" name="Google Shape;806;p42"/>
            <p:cNvSpPr/>
            <p:nvPr/>
          </p:nvSpPr>
          <p:spPr>
            <a:xfrm>
              <a:off x="6248400" y="1568450"/>
              <a:ext cx="10668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endParaRPr/>
            </a:p>
          </p:txBody>
        </p:sp>
        <p:sp>
          <p:nvSpPr>
            <p:cNvPr id="807" name="Google Shape;807;p42"/>
            <p:cNvSpPr/>
            <p:nvPr/>
          </p:nvSpPr>
          <p:spPr>
            <a:xfrm>
              <a:off x="6248400" y="4768850"/>
              <a:ext cx="11715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break</a:t>
              </a:r>
              <a:endParaRPr/>
            </a:p>
          </p:txBody>
        </p:sp>
        <p:sp>
          <p:nvSpPr>
            <p:cNvPr id="808" name="Google Shape;808;p42"/>
            <p:cNvSpPr txBox="1"/>
            <p:nvPr/>
          </p:nvSpPr>
          <p:spPr>
            <a:xfrm>
              <a:off x="3505200" y="1568450"/>
              <a:ext cx="20574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case a action(s)</a:t>
              </a:r>
              <a:endParaRPr/>
            </a:p>
          </p:txBody>
        </p:sp>
        <p:sp>
          <p:nvSpPr>
            <p:cNvPr id="809" name="Google Shape;809;p42"/>
            <p:cNvSpPr/>
            <p:nvPr/>
          </p:nvSpPr>
          <p:spPr>
            <a:xfrm>
              <a:off x="3581400" y="2787650"/>
              <a:ext cx="1784350" cy="336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case b action(s)</a:t>
              </a:r>
              <a:endParaRPr/>
            </a:p>
          </p:txBody>
        </p:sp>
        <p:sp>
          <p:nvSpPr>
            <p:cNvPr id="810" name="Google Shape;810;p42"/>
            <p:cNvSpPr/>
            <p:nvPr/>
          </p:nvSpPr>
          <p:spPr>
            <a:xfrm>
              <a:off x="3581400" y="4768850"/>
              <a:ext cx="1744663" cy="336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case z action(s)</a:t>
              </a:r>
              <a:endParaRPr/>
            </a:p>
          </p:txBody>
        </p:sp>
        <p:sp>
          <p:nvSpPr>
            <p:cNvPr id="811" name="Google Shape;811;p42"/>
            <p:cNvSpPr/>
            <p:nvPr/>
          </p:nvSpPr>
          <p:spPr>
            <a:xfrm>
              <a:off x="838200" y="5683250"/>
              <a:ext cx="2189956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default</a:t>
              </a: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action(s)</a:t>
              </a:r>
              <a:endParaRPr/>
            </a:p>
          </p:txBody>
        </p:sp>
        <p:sp>
          <p:nvSpPr>
            <p:cNvPr id="812" name="Google Shape;812;p42"/>
            <p:cNvSpPr/>
            <p:nvPr/>
          </p:nvSpPr>
          <p:spPr>
            <a:xfrm>
              <a:off x="1295400" y="1492250"/>
              <a:ext cx="12477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a</a:t>
              </a:r>
              <a:endParaRPr/>
            </a:p>
          </p:txBody>
        </p:sp>
        <p:sp>
          <p:nvSpPr>
            <p:cNvPr id="813" name="Google Shape;813;p42"/>
            <p:cNvSpPr/>
            <p:nvPr/>
          </p:nvSpPr>
          <p:spPr>
            <a:xfrm>
              <a:off x="1295400" y="2711450"/>
              <a:ext cx="10668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b</a:t>
              </a:r>
              <a:endParaRPr/>
            </a:p>
          </p:txBody>
        </p:sp>
        <p:sp>
          <p:nvSpPr>
            <p:cNvPr id="814" name="Google Shape;814;p42"/>
            <p:cNvSpPr/>
            <p:nvPr/>
          </p:nvSpPr>
          <p:spPr>
            <a:xfrm>
              <a:off x="1371600" y="4692650"/>
              <a:ext cx="11715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1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case</a:t>
              </a:r>
              <a:r>
                <a:rPr lang="en-US" sz="1800" b="1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 z</a:t>
              </a:r>
              <a:endParaRPr/>
            </a:p>
          </p:txBody>
        </p:sp>
        <p:sp>
          <p:nvSpPr>
            <p:cNvPr id="815" name="Google Shape;815;p42"/>
            <p:cNvSpPr/>
            <p:nvPr/>
          </p:nvSpPr>
          <p:spPr>
            <a:xfrm>
              <a:off x="2743200" y="1338275"/>
              <a:ext cx="79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true</a:t>
              </a:r>
              <a:endParaRPr/>
            </a:p>
          </p:txBody>
        </p:sp>
        <p:sp>
          <p:nvSpPr>
            <p:cNvPr id="816" name="Google Shape;816;p42"/>
            <p:cNvSpPr/>
            <p:nvPr/>
          </p:nvSpPr>
          <p:spPr>
            <a:xfrm>
              <a:off x="2743200" y="2557475"/>
              <a:ext cx="7953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true</a:t>
              </a:r>
              <a:endParaRPr/>
            </a:p>
          </p:txBody>
        </p:sp>
        <p:sp>
          <p:nvSpPr>
            <p:cNvPr id="817" name="Google Shape;817;p42"/>
            <p:cNvSpPr/>
            <p:nvPr/>
          </p:nvSpPr>
          <p:spPr>
            <a:xfrm>
              <a:off x="2743200" y="4538675"/>
              <a:ext cx="9336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true</a:t>
              </a:r>
              <a:endParaRPr/>
            </a:p>
          </p:txBody>
        </p:sp>
        <p:sp>
          <p:nvSpPr>
            <p:cNvPr id="818" name="Google Shape;818;p42"/>
            <p:cNvSpPr/>
            <p:nvPr/>
          </p:nvSpPr>
          <p:spPr>
            <a:xfrm>
              <a:off x="1905000" y="2100263"/>
              <a:ext cx="6381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false</a:t>
              </a:r>
              <a:endParaRPr/>
            </a:p>
          </p:txBody>
        </p:sp>
        <p:sp>
          <p:nvSpPr>
            <p:cNvPr id="819" name="Google Shape;819;p42"/>
            <p:cNvSpPr/>
            <p:nvPr/>
          </p:nvSpPr>
          <p:spPr>
            <a:xfrm>
              <a:off x="1905000" y="3395663"/>
              <a:ext cx="638175" cy="336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false</a:t>
              </a:r>
              <a:endParaRPr/>
            </a:p>
          </p:txBody>
        </p:sp>
        <p:sp>
          <p:nvSpPr>
            <p:cNvPr id="820" name="Google Shape;820;p42"/>
            <p:cNvSpPr/>
            <p:nvPr/>
          </p:nvSpPr>
          <p:spPr>
            <a:xfrm>
              <a:off x="1981200" y="5300675"/>
              <a:ext cx="933600" cy="336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Questrial"/>
                  <a:ea typeface="Questrial"/>
                  <a:cs typeface="Questrial"/>
                  <a:sym typeface="Questrial"/>
                </a:rPr>
                <a:t>false</a:t>
              </a:r>
              <a:endParaRPr/>
            </a:p>
          </p:txBody>
        </p:sp>
      </p:grpSp>
      <p:sp>
        <p:nvSpPr>
          <p:cNvPr id="821" name="Google Shape;821;p42"/>
          <p:cNvSpPr/>
          <p:nvPr/>
        </p:nvSpPr>
        <p:spPr>
          <a:xfrm>
            <a:off x="3200400" y="6292850"/>
            <a:ext cx="51054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Fig. 8: The </a:t>
            </a:r>
            <a:r>
              <a:rPr lang="en-US"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sz="1800" b="1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 multiple-selection structure.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43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27" name="Google Shape;827;p4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50</a:t>
            </a:fld>
            <a:endParaRPr/>
          </a:p>
        </p:txBody>
      </p:sp>
      <p:sp>
        <p:nvSpPr>
          <p:cNvPr id="828" name="Google Shape;828;p43"/>
          <p:cNvSpPr/>
          <p:nvPr/>
        </p:nvSpPr>
        <p:spPr>
          <a:xfrm>
            <a:off x="304800" y="0"/>
            <a:ext cx="8839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Counting letter grades with switch.</a:t>
            </a:r>
            <a:endParaRPr sz="1200" b="1">
              <a:solidFill>
                <a:srgbClr val="275A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5AFF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import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java.util.Scanner;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5AFF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public class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LetterGrades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5AFF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	public static void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main( String args[] ) 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{	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int total = 0;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sum of grades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 gradeCounter = 0;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number of grades entered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no. of As, Bs, Cs</a:t>
            </a:r>
            <a:endParaRPr sz="1200" b="1">
              <a:solidFill>
                <a:srgbClr val="000000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75AFF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275AFF"/>
                </a:solidFill>
                <a:latin typeface="Courier New"/>
                <a:ea typeface="Courier New"/>
                <a:cs typeface="Courier New"/>
                <a:sym typeface="Courier New"/>
              </a:rPr>
              <a:t>		int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aCount = 0, bCount = 0, cCount = 0, dCount = 0, fCount = 0;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Scanner input = 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new</a:t>
            </a:r>
            <a:r>
              <a:rPr lang="en-US" sz="1200" b="1">
                <a:solidFill>
                  <a:srgbClr val="0099F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Scanner(System.in);</a:t>
            </a:r>
            <a:r>
              <a:rPr lang="en-US" sz="1200" b="0">
                <a:solidFill>
                  <a:srgbClr val="275AFF"/>
                </a:solidFill>
                <a:latin typeface="Questrial"/>
                <a:ea typeface="Questrial"/>
                <a:cs typeface="Questrial"/>
                <a:sym typeface="Questrial"/>
              </a:rPr>
              <a:t>  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200" b="1">
              <a:solidFill>
                <a:schemeClr val="lt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FF33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66FF33"/>
                </a:solidFill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System.out.println(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"Enter the integer grades in the range of 0-100."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        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System.out.println(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"Enter the -1 to terminate the input"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while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 input.hasNext() )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		{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int grade = input.nextInt();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if(grade == -1)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break;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total += grade;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add grade to total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++gradeCounter;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switch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(grade / 10)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switch nested in while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{		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grade was between 90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and 100, both inclusive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		++aCount; 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necessary to exit switch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grade was between 80 and 89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	++bCount;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grade was between 70 and 79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	++cCount;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4"/>
          <p:cNvSpPr txBox="1">
            <a:spLocks noGrp="1"/>
          </p:cNvSpPr>
          <p:nvPr>
            <p:ph type="body" idx="1"/>
          </p:nvPr>
        </p:nvSpPr>
        <p:spPr>
          <a:xfrm>
            <a:off x="685800" y="685800"/>
            <a:ext cx="78486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34" name="Google Shape;834;p4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51</a:t>
            </a:fld>
            <a:endParaRPr/>
          </a:p>
        </p:txBody>
      </p:sp>
      <p:sp>
        <p:nvSpPr>
          <p:cNvPr id="835" name="Google Shape;835;p44"/>
          <p:cNvSpPr/>
          <p:nvPr/>
        </p:nvSpPr>
        <p:spPr>
          <a:xfrm>
            <a:off x="304800" y="0"/>
            <a:ext cx="8839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grade was between 60 and 69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	++dCount;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default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grade was less than 60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		++fCount;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		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break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	}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end switch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62D35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		}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end while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"\nGrade Report:"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// if user entered at least one grade...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(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gradeCounter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!= </a:t>
            </a: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0 )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	{</a:t>
            </a:r>
            <a:endParaRPr sz="1200" b="1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// calculate average of all grades entered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double average = (double) total / gradeCounter;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// output summary of results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"Total of the %d grades entered is %d\n",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gradeCounter, total 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"Class average is %.2f\n",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average 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endParaRPr sz="1200" b="1">
              <a:solidFill>
                <a:srgbClr val="00B05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System.out.printf(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"%s\n%s%d\n%s%d\n%s%d\n%s%d\n%s%d\n",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            "Number of students who received each grade:",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	  "A: ",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aCount,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// display number of A grades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                      "B: ",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bCount,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// display number of B grades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	                      "C: ",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cCount,  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display number of C grades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	            "D: ",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dCount,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// display number of D grades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	  "F: ",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fCount );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display number of F grades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}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end if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          </a:t>
            </a:r>
            <a:r>
              <a:rPr lang="en-US" sz="1200" b="1">
                <a:solidFill>
                  <a:srgbClr val="0070C0"/>
                </a:solidFill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// no grades were entered, so output appropriate message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		         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System.out.println(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 "No grades were entered" </a:t>
            </a:r>
            <a:r>
              <a:rPr lang="en-US" sz="1200" b="1">
                <a:solidFill>
                  <a:srgbClr val="262D35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	} </a:t>
            </a: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// end main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1200"/>
              <a:buFont typeface="Courier New"/>
              <a:buNone/>
            </a:pPr>
            <a:r>
              <a:rPr lang="en-US" sz="1200" b="1">
                <a:solidFill>
                  <a:srgbClr val="00B050"/>
                </a:solidFill>
                <a:latin typeface="Courier New"/>
                <a:ea typeface="Courier New"/>
                <a:cs typeface="Courier New"/>
                <a:sym typeface="Courier New"/>
              </a:rPr>
              <a:t>} // end class LetterGrades 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g32bdae7d500_0_5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52</a:t>
            </a:fld>
            <a:endParaRPr/>
          </a:p>
        </p:txBody>
      </p:sp>
      <p:sp>
        <p:nvSpPr>
          <p:cNvPr id="841" name="Google Shape;841;g32bdae7d500_0_50"/>
          <p:cNvSpPr txBox="1"/>
          <p:nvPr/>
        </p:nvSpPr>
        <p:spPr>
          <a:xfrm>
            <a:off x="653575" y="0"/>
            <a:ext cx="8115600" cy="697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// Counting letter grades with switch.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import java.util.Scanner;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public class Main {  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public static void main( String args[] ) 	{	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int total = 0; // sum of grades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int gradeCounter = 0; // number of grades entered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// no. of As, Bs, Cs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int aCount = 0, bCount = 0, cCount = 0, dCount = 0, fCount = 0;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Scanner input = new Scanner(System.in);        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System.out.println("Enter the integer grades in the range of 0-100.");       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System.out.println("Enter the -1 to terminate the input");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while ( input.hasNext() ) {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int grade = input.nextInt();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if(grade==-1)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	break;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total += grade; // add grade to total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++gradeCounter;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switch(grade/10) {		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case 9: // grade was between 90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case 10:// and 100, both inclusive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	++aCount;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		break; // necessary to exit switch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case 8: // grade was between 80 and 89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		++bCount;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	break;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			case 7: // grade was between 70 and 79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		++cCount;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    break;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			case 6: // grade was between 60 and 69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		++dCount;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    break;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			default: // grade was less than 60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		++fCount;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    break;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	} // end switch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} // end while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   System.out.println( "\nGrade Report:" );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   // if user entered at least one grade...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   if ( gradeCounter != 0 )		{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// calculate average of all grades entered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double average = (double) total / gradeCounter;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// output summary of results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System.out.printf( "Total of the %d grades entered is %d\n",gradeCounter, total );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System.out.printf( "Class average is %.2f\n", average );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System.out.printf( "%s\n%s%d\n%s%d\n%s%d\n%s%d\n%s%d\n","Number of students who received each grade:",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    "A: ", aCount,   // display number of A grades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           "B: ", bCount,   // display number of B grades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	    "C: ", cCount,   // display number of C grades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"D: ", dCount,   // display number of D grades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                 "F: ", fCount ); // display number of F grades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	} // end if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        else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	    System.out.println( "No grades were entered" );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	} // end main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/>
              <a:t>} // end class LetterGrades </a:t>
            </a: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45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Alter flow of control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Causes immediate exit from control structure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Used in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2600"/>
              <a:t>,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600"/>
              <a:t>,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do/while</a:t>
            </a:r>
            <a:r>
              <a:rPr lang="en-US" sz="2600"/>
              <a:t> or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switch</a:t>
            </a:r>
            <a:r>
              <a:rPr lang="en-US" sz="26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sz="2600"/>
              <a:t>statements</a:t>
            </a:r>
            <a:endParaRPr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47" name="Google Shape;847;p45"/>
          <p:cNvSpPr txBox="1"/>
          <p:nvPr/>
        </p:nvSpPr>
        <p:spPr>
          <a:xfrm>
            <a:off x="533400" y="-1524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break Statement</a:t>
            </a:r>
            <a:endParaRPr/>
          </a:p>
        </p:txBody>
      </p:sp>
      <p:sp>
        <p:nvSpPr>
          <p:cNvPr id="848" name="Google Shape;848;p4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53</a:t>
            </a:fld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3" name="Google Shape;853;p4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381000" y="472440"/>
            <a:ext cx="8537202" cy="539496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p46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break Statement</a:t>
            </a:r>
            <a:endParaRPr/>
          </a:p>
        </p:txBody>
      </p:sp>
      <p:sp>
        <p:nvSpPr>
          <p:cNvPr id="855" name="Google Shape;855;p46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54</a:t>
            </a:fld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47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Alter flow of control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Skips remaining statements in loop body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Proceeds to next iteration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Used in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-US" sz="2600"/>
              <a:t>,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-US" sz="2600"/>
              <a:t>, </a:t>
            </a:r>
            <a:r>
              <a:rPr lang="en-US" sz="2600" b="1">
                <a:latin typeface="Consolas"/>
                <a:ea typeface="Consolas"/>
                <a:cs typeface="Consolas"/>
                <a:sym typeface="Consolas"/>
              </a:rPr>
              <a:t>do/while</a:t>
            </a:r>
            <a:r>
              <a:rPr lang="en-US" sz="2600"/>
              <a:t> statements</a:t>
            </a:r>
            <a:endParaRPr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61" name="Google Shape;861;p47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continue Statement</a:t>
            </a:r>
            <a:endParaRPr/>
          </a:p>
        </p:txBody>
      </p:sp>
      <p:sp>
        <p:nvSpPr>
          <p:cNvPr id="862" name="Google Shape;862;p47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55</a:t>
            </a:fld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48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715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68" name="Google Shape;868;p48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The continue Statement</a:t>
            </a:r>
            <a:endParaRPr/>
          </a:p>
        </p:txBody>
      </p:sp>
      <p:sp>
        <p:nvSpPr>
          <p:cNvPr id="869" name="Google Shape;869;p48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56</a:t>
            </a:fld>
            <a:endParaRPr/>
          </a:p>
        </p:txBody>
      </p:sp>
      <p:pic>
        <p:nvPicPr>
          <p:cNvPr id="870" name="Google Shape;870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790" y="533400"/>
            <a:ext cx="8826210" cy="512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49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Allows for forming more complex conditions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Combines simple conditions</a:t>
            </a:r>
            <a:endParaRPr/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Char char="»"/>
            </a:pPr>
            <a:r>
              <a:rPr lang="en-US" sz="3600"/>
              <a:t>Java logical operators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&amp;&amp;   (logical AND)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&amp;     (boolean logical AND)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||   (logical OR)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|     (boolean logical inclusive OR)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^     (boolean logical exclusive OR)</a:t>
            </a:r>
            <a:endParaRPr/>
          </a:p>
          <a:p>
            <a:pPr marL="742950" lvl="1" indent="-2857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˃"/>
            </a:pPr>
            <a:r>
              <a:rPr lang="en-US" sz="2600"/>
              <a:t>!     (logical NOT)</a:t>
            </a:r>
            <a:endParaRPr/>
          </a:p>
          <a:p>
            <a:pPr marL="742950" lvl="1" indent="-120650" algn="l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76" name="Google Shape;876;p49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877" name="Google Shape;877;p49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57</a:t>
            </a:fld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50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83" name="Google Shape;883;p50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884" name="Google Shape;884;p50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58</a:t>
            </a:fld>
            <a:endParaRPr/>
          </a:p>
        </p:txBody>
      </p:sp>
      <p:pic>
        <p:nvPicPr>
          <p:cNvPr id="885" name="Google Shape;88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066800"/>
            <a:ext cx="6998771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1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91" name="Google Shape;891;p51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892" name="Google Shape;892;p51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59</a:t>
            </a:fld>
            <a:endParaRPr/>
          </a:p>
        </p:txBody>
      </p:sp>
      <p:pic>
        <p:nvPicPr>
          <p:cNvPr id="893" name="Google Shape;893;p5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43000" y="1143000"/>
            <a:ext cx="7195022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2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899" name="Google Shape;899;p52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900" name="Google Shape;900;p52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pic>
        <p:nvPicPr>
          <p:cNvPr id="901" name="Google Shape;901;p5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1143000"/>
            <a:ext cx="7224631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3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907" name="Google Shape;907;p53"/>
          <p:cNvSpPr txBox="1"/>
          <p:nvPr/>
        </p:nvSpPr>
        <p:spPr>
          <a:xfrm>
            <a:off x="533400" y="-3048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Calibri"/>
              <a:buNone/>
            </a:pPr>
            <a:r>
              <a:rPr lang="en-US" sz="32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908" name="Google Shape;908;p53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pic>
        <p:nvPicPr>
          <p:cNvPr id="909" name="Google Shape;909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929640"/>
            <a:ext cx="4460682" cy="310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4"/>
          <p:cNvSpPr txBox="1">
            <a:spLocks noGrp="1"/>
          </p:cNvSpPr>
          <p:nvPr>
            <p:ph type="body" idx="1"/>
          </p:nvPr>
        </p:nvSpPr>
        <p:spPr>
          <a:xfrm>
            <a:off x="381000" y="685800"/>
            <a:ext cx="868680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742950" lvl="1" indent="-1206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57150" lvl="0" indent="0" algn="l" rtl="0">
              <a:spcBef>
                <a:spcPts val="720"/>
              </a:spcBef>
              <a:spcAft>
                <a:spcPts val="0"/>
              </a:spcAft>
              <a:buClr>
                <a:schemeClr val="dk2"/>
              </a:buClr>
              <a:buSzPts val="3600"/>
              <a:buNone/>
            </a:pPr>
            <a:endParaRPr sz="3600"/>
          </a:p>
          <a:p>
            <a:pPr marL="34290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endParaRPr/>
          </a:p>
        </p:txBody>
      </p:sp>
      <p:sp>
        <p:nvSpPr>
          <p:cNvPr id="915" name="Google Shape;915;p54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62</a:t>
            </a:fld>
            <a:endParaRPr/>
          </a:p>
        </p:txBody>
      </p:sp>
      <p:pic>
        <p:nvPicPr>
          <p:cNvPr id="916" name="Google Shape;916;p5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400" y="533400"/>
            <a:ext cx="8234612" cy="5212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55"/>
          <p:cNvSpPr txBox="1"/>
          <p:nvPr/>
        </p:nvSpPr>
        <p:spPr>
          <a:xfrm>
            <a:off x="638175" y="2286000"/>
            <a:ext cx="80772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Questions/Answers &amp;</a:t>
            </a:r>
            <a:endParaRPr/>
          </a:p>
          <a:p>
            <a:pPr marL="0" marR="0" lvl="0" indent="0" algn="ctr" rtl="0">
              <a:spcBef>
                <a:spcPts val="800"/>
              </a:spcBef>
              <a:spcAft>
                <a:spcPts val="0"/>
              </a:spcAft>
              <a:buClr>
                <a:srgbClr val="C00000"/>
              </a:buClr>
              <a:buSzPts val="4000"/>
              <a:buFont typeface="Arial"/>
              <a:buNone/>
            </a:pPr>
            <a:r>
              <a:rPr lang="en-US" sz="4000" b="1" cap="small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Discussion</a:t>
            </a:r>
            <a:endParaRPr/>
          </a:p>
        </p:txBody>
      </p:sp>
      <p:sp>
        <p:nvSpPr>
          <p:cNvPr id="922" name="Google Shape;922;p55"/>
          <p:cNvSpPr txBox="1">
            <a:spLocks noGrp="1"/>
          </p:cNvSpPr>
          <p:nvPr>
            <p:ph type="sldNum" idx="12"/>
          </p:nvPr>
        </p:nvSpPr>
        <p:spPr>
          <a:xfrm>
            <a:off x="8686800" y="5740400"/>
            <a:ext cx="381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63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rmal">
  <a:themeElements>
    <a:clrScheme name="Thermal">
      <a:dk1>
        <a:srgbClr val="4D5B6B"/>
      </a:dk1>
      <a:lt1>
        <a:srgbClr val="FFFFFF"/>
      </a:lt1>
      <a:dk2>
        <a:srgbClr val="675D59"/>
      </a:dk2>
      <a:lt2>
        <a:srgbClr val="E8DED8"/>
      </a:lt2>
      <a:accent1>
        <a:srgbClr val="FF7605"/>
      </a:accent1>
      <a:accent2>
        <a:srgbClr val="7F7F7F"/>
      </a:accent2>
      <a:accent3>
        <a:srgbClr val="7F5185"/>
      </a:accent3>
      <a:accent4>
        <a:srgbClr val="89AAD3"/>
      </a:accent4>
      <a:accent5>
        <a:srgbClr val="8F5B4B"/>
      </a:accent5>
      <a:accent6>
        <a:srgbClr val="C84340"/>
      </a:accent6>
      <a:hlink>
        <a:srgbClr val="89AAD3"/>
      </a:hlink>
      <a:folHlink>
        <a:srgbClr val="7951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3946</Words>
  <Application>Microsoft Office PowerPoint</Application>
  <PresentationFormat>On-screen Show (4:3)</PresentationFormat>
  <Paragraphs>825</Paragraphs>
  <Slides>63</Slides>
  <Notes>63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2" baseType="lpstr">
      <vt:lpstr>Arial</vt:lpstr>
      <vt:lpstr>Courier</vt:lpstr>
      <vt:lpstr>Noto Sans Symbols</vt:lpstr>
      <vt:lpstr>Consolas</vt:lpstr>
      <vt:lpstr>Courier New</vt:lpstr>
      <vt:lpstr>Questrial</vt:lpstr>
      <vt:lpstr>Times New Roman</vt:lpstr>
      <vt:lpstr>Calibri</vt:lpstr>
      <vt:lpstr>Thermal</vt:lpstr>
      <vt:lpstr>CS212: Object-Oriented Programming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Dr. Mian M. Hamayun</dc:creator>
  <cp:lastModifiedBy>Ayesha Kanwal</cp:lastModifiedBy>
  <cp:revision>1</cp:revision>
  <dcterms:created xsi:type="dcterms:W3CDTF">2014-02-05T17:22:40Z</dcterms:created>
  <dcterms:modified xsi:type="dcterms:W3CDTF">2026-01-20T09:55:20Z</dcterms:modified>
</cp:coreProperties>
</file>