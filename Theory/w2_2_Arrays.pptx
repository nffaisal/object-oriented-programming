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302" r:id="rId40"/>
  </p:sldIdLst>
  <p:sldSz cx="9144000" cy="6858000" type="screen4x3"/>
  <p:notesSz cx="6858000" cy="9144000"/>
  <p:embeddedFontLst>
    <p:embeddedFont>
      <p:font typeface="Roboto Mono" panose="00000009000000000000" pitchFamily="49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8" roundtripDataSignature="AMtx7mjM1EvAV03wcJbd1hmgjzulSNiD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512797E-7F5F-4805-8BD1-D62190DEE8C0}">
  <a:tblStyle styleId="{3512797E-7F5F-4805-8BD1-D62190DEE8C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8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af74611e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2af74611e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2af74611e0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af74611e0c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2af74611e0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af74611e0c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2af74611e0c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af74611e0c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2af74611e0c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af74611e0c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2af74611e0c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af74611e0c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af74611e0c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af74611e0c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2af74611e0c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af74611e0c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2af74611e0c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f74611e0c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2af74611e0c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 Page 281 (same example using switch statement)</a:t>
            </a:r>
            <a:endParaRPr/>
          </a:p>
        </p:txBody>
      </p:sp>
      <p:sp>
        <p:nvSpPr>
          <p:cNvPr id="255" name="Google Shape;2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f83c5371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2af83c5371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af83c5371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2af83c5371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af83c53717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g2af83c53717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af83c53717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2af83c53717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af83c537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2af83c537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af83c53717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af83c53717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af83c53717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g2af83c53717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af83c53717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g2af83c53717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3"/>
          <p:cNvSpPr/>
          <p:nvPr/>
        </p:nvSpPr>
        <p:spPr>
          <a:xfrm>
            <a:off x="0" y="0"/>
            <a:ext cx="752475" cy="6858000"/>
          </a:xfrm>
          <a:prstGeom prst="rect">
            <a:avLst/>
          </a:prstGeom>
          <a:gradFill>
            <a:gsLst>
              <a:gs pos="0">
                <a:srgbClr val="FEAC69"/>
              </a:gs>
              <a:gs pos="50000">
                <a:schemeClr val="accent1"/>
              </a:gs>
              <a:gs pos="100000">
                <a:srgbClr val="992E2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3"/>
          <p:cNvSpPr txBox="1">
            <a:spLocks noGrp="1"/>
          </p:cNvSpPr>
          <p:nvPr>
            <p:ph type="ctrTitle"/>
          </p:nvPr>
        </p:nvSpPr>
        <p:spPr>
          <a:xfrm>
            <a:off x="1216152" y="1267485"/>
            <a:ext cx="7235981" cy="513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0"/>
              <a:buFont typeface="Calibri"/>
              <a:buNone/>
              <a:defRPr sz="1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>
            <a:spLocks noGrp="1"/>
          </p:cNvSpPr>
          <p:nvPr>
            <p:ph type="subTitle" idx="1"/>
          </p:nvPr>
        </p:nvSpPr>
        <p:spPr>
          <a:xfrm>
            <a:off x="1216151" y="201702"/>
            <a:ext cx="6189583" cy="949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480"/>
              </a:spcBef>
              <a:spcAft>
                <a:spcPts val="0"/>
              </a:spcAft>
              <a:buClr>
                <a:srgbClr val="A59B98"/>
              </a:buClr>
              <a:buSzPts val="2400"/>
              <a:buNone/>
              <a:defRPr sz="2400">
                <a:solidFill>
                  <a:srgbClr val="A59B98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3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3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3"/>
          <p:cNvSpPr txBox="1">
            <a:spLocks noGrp="1"/>
          </p:cNvSpPr>
          <p:nvPr>
            <p:ph type="sldNum" idx="12"/>
          </p:nvPr>
        </p:nvSpPr>
        <p:spPr>
          <a:xfrm>
            <a:off x="8150469" y="236415"/>
            <a:ext cx="7853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5" name="Google Shape;25;p33"/>
          <p:cNvGrpSpPr/>
          <p:nvPr/>
        </p:nvGrpSpPr>
        <p:grpSpPr>
          <a:xfrm>
            <a:off x="7467600" y="209550"/>
            <a:ext cx="657226" cy="431800"/>
            <a:chOff x="7467600" y="209550"/>
            <a:chExt cx="657226" cy="431800"/>
          </a:xfrm>
        </p:grpSpPr>
        <p:sp>
          <p:nvSpPr>
            <p:cNvPr id="26" name="Google Shape;26;p33"/>
            <p:cNvSpPr/>
            <p:nvPr/>
          </p:nvSpPr>
          <p:spPr>
            <a:xfrm>
              <a:off x="7467600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33"/>
            <p:cNvSpPr/>
            <p:nvPr/>
          </p:nvSpPr>
          <p:spPr>
            <a:xfrm>
              <a:off x="7677151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33"/>
            <p:cNvSpPr/>
            <p:nvPr/>
          </p:nvSpPr>
          <p:spPr>
            <a:xfrm>
              <a:off x="7881939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4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body" idx="1"/>
          </p:nvPr>
        </p:nvSpPr>
        <p:spPr>
          <a:xfrm>
            <a:off x="1219200" y="838200"/>
            <a:ext cx="7467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  <a:defRPr sz="28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 sz="1800">
                <a:solidFill>
                  <a:schemeClr val="dk1"/>
                </a:solidFill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 sz="1800">
                <a:solidFill>
                  <a:schemeClr val="dk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32" name="Google Shape;32;p34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 txBox="1">
            <a:spLocks noGrp="1"/>
          </p:cNvSpPr>
          <p:nvPr>
            <p:ph type="title"/>
          </p:nvPr>
        </p:nvSpPr>
        <p:spPr>
          <a:xfrm>
            <a:off x="7086600" y="152400"/>
            <a:ext cx="20574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body" idx="1"/>
          </p:nvPr>
        </p:nvSpPr>
        <p:spPr>
          <a:xfrm>
            <a:off x="7162800" y="1166813"/>
            <a:ext cx="914400" cy="2109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38" name="Google Shape;38;p35"/>
          <p:cNvSpPr txBox="1">
            <a:spLocks noGrp="1"/>
          </p:cNvSpPr>
          <p:nvPr>
            <p:ph type="body" idx="2"/>
          </p:nvPr>
        </p:nvSpPr>
        <p:spPr>
          <a:xfrm>
            <a:off x="8229600" y="1166813"/>
            <a:ext cx="914400" cy="2109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39" name="Google Shape;39;p35"/>
          <p:cNvSpPr txBox="1">
            <a:spLocks noGrp="1"/>
          </p:cNvSpPr>
          <p:nvPr>
            <p:ph type="sldNum" idx="12"/>
          </p:nvPr>
        </p:nvSpPr>
        <p:spPr>
          <a:xfrm>
            <a:off x="7010400" y="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7"/>
          <p:cNvSpPr txBox="1">
            <a:spLocks noGrp="1"/>
          </p:cNvSpPr>
          <p:nvPr>
            <p:ph type="body" idx="1"/>
          </p:nvPr>
        </p:nvSpPr>
        <p:spPr>
          <a:xfrm>
            <a:off x="1219199" y="4484080"/>
            <a:ext cx="7239001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 sz="1800">
                <a:solidFill>
                  <a:srgbClr val="949AA0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949AA0"/>
              </a:buClr>
              <a:buSzPts val="1600"/>
              <a:buNone/>
              <a:defRPr sz="1600">
                <a:solidFill>
                  <a:srgbClr val="949AA0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37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8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8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8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38"/>
          <p:cNvSpPr txBox="1">
            <a:spLocks noGrp="1"/>
          </p:cNvSpPr>
          <p:nvPr>
            <p:ph type="body" idx="1"/>
          </p:nvPr>
        </p:nvSpPr>
        <p:spPr>
          <a:xfrm>
            <a:off x="1216152" y="841248"/>
            <a:ext cx="3730752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58" name="Google Shape;58;p38"/>
          <p:cNvSpPr txBox="1">
            <a:spLocks noGrp="1"/>
          </p:cNvSpPr>
          <p:nvPr>
            <p:ph type="body" idx="2"/>
          </p:nvPr>
        </p:nvSpPr>
        <p:spPr>
          <a:xfrm>
            <a:off x="5102352" y="841248"/>
            <a:ext cx="3730752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9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body" idx="1"/>
          </p:nvPr>
        </p:nvSpPr>
        <p:spPr>
          <a:xfrm>
            <a:off x="1219200" y="841248"/>
            <a:ext cx="3733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39"/>
          <p:cNvSpPr txBox="1">
            <a:spLocks noGrp="1"/>
          </p:cNvSpPr>
          <p:nvPr>
            <p:ph type="body" idx="2"/>
          </p:nvPr>
        </p:nvSpPr>
        <p:spPr>
          <a:xfrm>
            <a:off x="5105400" y="841248"/>
            <a:ext cx="373526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39"/>
          <p:cNvSpPr txBox="1">
            <a:spLocks noGrp="1"/>
          </p:cNvSpPr>
          <p:nvPr>
            <p:ph type="body" idx="3"/>
          </p:nvPr>
        </p:nvSpPr>
        <p:spPr>
          <a:xfrm>
            <a:off x="1216152" y="1380744"/>
            <a:ext cx="373075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67" name="Google Shape;67;p39"/>
          <p:cNvSpPr txBox="1">
            <a:spLocks noGrp="1"/>
          </p:cNvSpPr>
          <p:nvPr>
            <p:ph type="body" idx="4"/>
          </p:nvPr>
        </p:nvSpPr>
        <p:spPr>
          <a:xfrm>
            <a:off x="5102352" y="1380743"/>
            <a:ext cx="373075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0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0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1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41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2"/>
          <p:cNvSpPr txBox="1">
            <a:spLocks noGrp="1"/>
          </p:cNvSpPr>
          <p:nvPr>
            <p:ph type="title"/>
          </p:nvPr>
        </p:nvSpPr>
        <p:spPr>
          <a:xfrm>
            <a:off x="5715000" y="395287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7605"/>
              </a:buClr>
              <a:buSzPts val="2000"/>
              <a:buFont typeface="Calibri"/>
              <a:buNone/>
              <a:defRPr sz="2000" b="1">
                <a:solidFill>
                  <a:srgbClr val="FF760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2"/>
          <p:cNvSpPr txBox="1">
            <a:spLocks noGrp="1"/>
          </p:cNvSpPr>
          <p:nvPr>
            <p:ph type="body" idx="1"/>
          </p:nvPr>
        </p:nvSpPr>
        <p:spPr>
          <a:xfrm>
            <a:off x="5715000" y="1557337"/>
            <a:ext cx="3008313" cy="438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9FACBA"/>
              </a:buClr>
              <a:buSzPts val="1400"/>
              <a:buNone/>
              <a:defRPr sz="1400">
                <a:solidFill>
                  <a:srgbClr val="9FACBA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42"/>
          <p:cNvSpPr txBox="1">
            <a:spLocks noGrp="1"/>
          </p:cNvSpPr>
          <p:nvPr>
            <p:ph type="body" idx="2"/>
          </p:nvPr>
        </p:nvSpPr>
        <p:spPr>
          <a:xfrm>
            <a:off x="914400" y="381000"/>
            <a:ext cx="48006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81" name="Google Shape;81;p42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42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3"/>
          <p:cNvSpPr txBox="1">
            <a:spLocks noGrp="1"/>
          </p:cNvSpPr>
          <p:nvPr>
            <p:ph type="title"/>
          </p:nvPr>
        </p:nvSpPr>
        <p:spPr>
          <a:xfrm>
            <a:off x="1219200" y="4624754"/>
            <a:ext cx="5486400" cy="40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3"/>
          <p:cNvSpPr>
            <a:spLocks noGrp="1"/>
          </p:cNvSpPr>
          <p:nvPr>
            <p:ph type="pic" idx="2"/>
          </p:nvPr>
        </p:nvSpPr>
        <p:spPr>
          <a:xfrm>
            <a:off x="1323975" y="381000"/>
            <a:ext cx="5867400" cy="4081462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43"/>
          <p:cNvSpPr txBox="1">
            <a:spLocks noGrp="1"/>
          </p:cNvSpPr>
          <p:nvPr>
            <p:ph type="body" idx="1"/>
          </p:nvPr>
        </p:nvSpPr>
        <p:spPr>
          <a:xfrm>
            <a:off x="1219200" y="5029200"/>
            <a:ext cx="4038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8" name="Google Shape;88;p43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3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4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4"/>
          <p:cNvSpPr txBox="1">
            <a:spLocks noGrp="1"/>
          </p:cNvSpPr>
          <p:nvPr>
            <p:ph type="body" idx="1"/>
          </p:nvPr>
        </p:nvSpPr>
        <p:spPr>
          <a:xfrm rot="5400000">
            <a:off x="2743200" y="-685800"/>
            <a:ext cx="4419600" cy="7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94" name="Google Shape;94;p44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4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4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100" name="Google Shape;100;p45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5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6"/>
          <p:cNvSpPr txBox="1">
            <a:spLocks noGrp="1"/>
          </p:cNvSpPr>
          <p:nvPr>
            <p:ph type="ctrTitle"/>
          </p:nvPr>
        </p:nvSpPr>
        <p:spPr>
          <a:xfrm>
            <a:off x="685800" y="609601"/>
            <a:ext cx="7772400" cy="198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6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4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46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6"/>
          <p:cNvSpPr txBox="1"/>
          <p:nvPr/>
        </p:nvSpPr>
        <p:spPr>
          <a:xfrm>
            <a:off x="609600" y="4953000"/>
            <a:ext cx="71628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Dr. Mian M. Hamayun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mian.hamayun@seecs.edu.pk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http://seecs.nust.edu.pk/faculty/mianhamayun.html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>
            <a:alphaModFix/>
          </a:blip>
          <a:tile tx="0" ty="0" sx="100000" sy="100000" flip="none" algn="tl"/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52000">
                <a:srgbClr val="992E2C"/>
              </a:gs>
              <a:gs pos="100000">
                <a:srgbClr val="661F1D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3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rgbClr val="FEAC69"/>
              </a:gs>
              <a:gs pos="50000">
                <a:schemeClr val="accent1"/>
              </a:gs>
              <a:gs pos="100000">
                <a:srgbClr val="992E2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32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 sz="7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body" idx="1"/>
          </p:nvPr>
        </p:nvSpPr>
        <p:spPr>
          <a:xfrm>
            <a:off x="1219200" y="838200"/>
            <a:ext cx="7467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  <a:defRPr sz="2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˃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+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&gt;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+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−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C9BA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3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32"/>
          <p:cNvSpPr/>
          <p:nvPr/>
        </p:nvSpPr>
        <p:spPr>
          <a:xfrm>
            <a:off x="8453438" y="5715000"/>
            <a:ext cx="242887" cy="431800"/>
          </a:xfrm>
          <a:custGeom>
            <a:avLst/>
            <a:gdLst/>
            <a:ahLst/>
            <a:cxnLst/>
            <a:rect l="l" t="t" r="r" b="b"/>
            <a:pathLst>
              <a:path w="153" h="272" extrusionOk="0">
                <a:moveTo>
                  <a:pt x="62" y="0"/>
                </a:moveTo>
                <a:lnTo>
                  <a:pt x="0" y="0"/>
                </a:lnTo>
                <a:lnTo>
                  <a:pt x="89" y="136"/>
                </a:lnTo>
                <a:lnTo>
                  <a:pt x="89" y="136"/>
                </a:lnTo>
                <a:lnTo>
                  <a:pt x="0" y="272"/>
                </a:lnTo>
                <a:lnTo>
                  <a:pt x="62" y="272"/>
                </a:lnTo>
                <a:lnTo>
                  <a:pt x="153" y="136"/>
                </a:lnTo>
                <a:lnTo>
                  <a:pt x="62" y="0"/>
                </a:lnTo>
                <a:close/>
              </a:path>
            </a:pathLst>
          </a:custGeom>
          <a:solidFill>
            <a:srgbClr val="A59B9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2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azia.perwaiz@seecs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af74611e0c_0_0"/>
          <p:cNvSpPr txBox="1">
            <a:spLocks noGrp="1"/>
          </p:cNvSpPr>
          <p:nvPr>
            <p:ph type="ctrTitle"/>
          </p:nvPr>
        </p:nvSpPr>
        <p:spPr>
          <a:xfrm>
            <a:off x="990600" y="685800"/>
            <a:ext cx="79248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C00000"/>
                </a:solidFill>
              </a:rPr>
              <a:t>CS212: Object-Oriented Programming</a:t>
            </a:r>
            <a:endParaRPr/>
          </a:p>
        </p:txBody>
      </p:sp>
      <p:sp>
        <p:nvSpPr>
          <p:cNvPr id="115" name="Google Shape;115;g2af74611e0c_0_0"/>
          <p:cNvSpPr txBox="1">
            <a:spLocks noGrp="1"/>
          </p:cNvSpPr>
          <p:nvPr>
            <p:ph type="subTitle" idx="1"/>
          </p:nvPr>
        </p:nvSpPr>
        <p:spPr>
          <a:xfrm>
            <a:off x="990600" y="1752600"/>
            <a:ext cx="6781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</a:pPr>
            <a:r>
              <a:rPr lang="en-US" sz="3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116" name="Google Shape;116;g2af74611e0c_0_0"/>
          <p:cNvSpPr txBox="1"/>
          <p:nvPr/>
        </p:nvSpPr>
        <p:spPr>
          <a:xfrm>
            <a:off x="990600" y="5105400"/>
            <a:ext cx="77724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ACBA"/>
              </a:buClr>
              <a:buSzPct val="100000"/>
              <a:buFont typeface="Noto Sans Symbols"/>
              <a:buNone/>
            </a:pPr>
            <a:endParaRPr sz="14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714"/>
              </a:spcBef>
              <a:spcAft>
                <a:spcPts val="0"/>
              </a:spcAft>
              <a:buClr>
                <a:srgbClr val="9FACBA"/>
              </a:buClr>
              <a:buSzPct val="100000"/>
              <a:buFont typeface="Noto Sans Symbols"/>
              <a:buNone/>
            </a:pPr>
            <a:r>
              <a:rPr lang="en-US" sz="4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Ayesha Kanwal</a:t>
            </a:r>
            <a:endParaRPr sz="33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408"/>
              </a:spcBef>
              <a:spcAft>
                <a:spcPts val="0"/>
              </a:spcAft>
              <a:buClr>
                <a:srgbClr val="9FACBA"/>
              </a:buClr>
              <a:buSzPct val="100000"/>
              <a:buFont typeface="Noto Sans Symbols"/>
              <a:buNone/>
            </a:pPr>
            <a:r>
              <a:rPr lang="en-US" sz="24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Ayesha.kanwal@seecs.edu.pk</a:t>
            </a:r>
            <a:endParaRPr sz="24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8"/>
              </a:spcBef>
              <a:spcAft>
                <a:spcPts val="0"/>
              </a:spcAft>
              <a:buClr>
                <a:srgbClr val="9FACBA"/>
              </a:buClr>
              <a:buSzPct val="100000"/>
              <a:buFont typeface="Noto Sans Symbols"/>
              <a:buNone/>
            </a:pPr>
            <a:r>
              <a:rPr lang="en-US" sz="24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Slides Courtesy (Dr Nazia </a:t>
            </a:r>
            <a:r>
              <a:rPr lang="en-US" sz="2400" dirty="0" err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Perwaiz</a:t>
            </a:r>
            <a:r>
              <a:rPr lang="en-US" sz="24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g2af74611e0c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8450" y="5019675"/>
            <a:ext cx="2495550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af74611e0c_0_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23" name="Google Shape;123;g2af74611e0c_0_8"/>
          <p:cNvSpPr txBox="1"/>
          <p:nvPr/>
        </p:nvSpPr>
        <p:spPr>
          <a:xfrm>
            <a:off x="1066800" y="223296"/>
            <a:ext cx="7086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RECAP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2af74611e0c_0_8"/>
          <p:cNvSpPr txBox="1"/>
          <p:nvPr/>
        </p:nvSpPr>
        <p:spPr>
          <a:xfrm>
            <a:off x="398075" y="1722175"/>
            <a:ext cx="8226600" cy="36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Structures in Java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○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structure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○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Selection structure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○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Repetition structure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○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Break/ Continue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spcBef>
                <a:spcPts val="52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Increment/ decrement operators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operators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af74611e0c_0_10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30" name="Google Shape;130;g2af74611e0c_0_109"/>
          <p:cNvSpPr txBox="1"/>
          <p:nvPr/>
        </p:nvSpPr>
        <p:spPr>
          <a:xfrm>
            <a:off x="1066800" y="223296"/>
            <a:ext cx="7086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2af74611e0c_0_109"/>
          <p:cNvSpPr txBox="1"/>
          <p:nvPr/>
        </p:nvSpPr>
        <p:spPr>
          <a:xfrm>
            <a:off x="398075" y="1722175"/>
            <a:ext cx="8226600" cy="20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Arrays in Java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○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arrays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○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arrays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○"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spcBef>
                <a:spcPts val="52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af74611e0c_0_21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7" name="Google Shape;137;g2af74611e0c_0_213"/>
          <p:cNvSpPr txBox="1"/>
          <p:nvPr/>
        </p:nvSpPr>
        <p:spPr>
          <a:xfrm>
            <a:off x="1066800" y="223296"/>
            <a:ext cx="7086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Class Activity (Predict Output)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2af74611e0c_0_213"/>
          <p:cNvSpPr txBox="1"/>
          <p:nvPr/>
        </p:nvSpPr>
        <p:spPr>
          <a:xfrm>
            <a:off x="349600" y="1143000"/>
            <a:ext cx="5579100" cy="30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/>
              <a:t>public class Test {</a:t>
            </a:r>
            <a:endParaRPr sz="2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/>
              <a:t>    public </a:t>
            </a:r>
            <a:r>
              <a:rPr lang="en-US" sz="2300" dirty="0">
                <a:solidFill>
                  <a:srgbClr val="0000FF"/>
                </a:solidFill>
              </a:rPr>
              <a:t>static void main</a:t>
            </a:r>
            <a:r>
              <a:rPr lang="en-US" sz="2300" dirty="0"/>
              <a:t>(String[] </a:t>
            </a:r>
            <a:r>
              <a:rPr lang="en-US" sz="2300" dirty="0" err="1"/>
              <a:t>args</a:t>
            </a:r>
            <a:r>
              <a:rPr lang="en-US" sz="2300" dirty="0"/>
              <a:t>) {</a:t>
            </a:r>
            <a:endParaRPr sz="2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/>
              <a:t>        int x = 5;</a:t>
            </a:r>
            <a:endParaRPr sz="2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/>
              <a:t>        int y = ++x + x++ + --x + x--;</a:t>
            </a:r>
            <a:endParaRPr sz="2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/>
              <a:t>        </a:t>
            </a:r>
            <a:r>
              <a:rPr lang="en-US" sz="2300" dirty="0" err="1"/>
              <a:t>System.out</a:t>
            </a:r>
            <a:r>
              <a:rPr lang="en-US" sz="2300" dirty="0" err="1">
                <a:solidFill>
                  <a:srgbClr val="0000FF"/>
                </a:solidFill>
              </a:rPr>
              <a:t>.println</a:t>
            </a:r>
            <a:r>
              <a:rPr lang="en-US" sz="2300" dirty="0"/>
              <a:t>("x = " + x);</a:t>
            </a:r>
            <a:endParaRPr sz="2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/>
              <a:t>        </a:t>
            </a:r>
            <a:r>
              <a:rPr lang="en-US" sz="2300" dirty="0" err="1"/>
              <a:t>System.out.</a:t>
            </a:r>
            <a:r>
              <a:rPr lang="en-US" sz="2300" dirty="0" err="1">
                <a:solidFill>
                  <a:srgbClr val="0000FF"/>
                </a:solidFill>
              </a:rPr>
              <a:t>println</a:t>
            </a:r>
            <a:r>
              <a:rPr lang="en-US" sz="2300" dirty="0"/>
              <a:t>("y = " + y);</a:t>
            </a:r>
            <a:endParaRPr sz="2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/>
              <a:t>    }</a:t>
            </a:r>
            <a:endParaRPr sz="2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/>
              <a:t>}</a:t>
            </a:r>
            <a:endParaRPr sz="2300" dirty="0"/>
          </a:p>
        </p:txBody>
      </p:sp>
      <p:graphicFrame>
        <p:nvGraphicFramePr>
          <p:cNvPr id="139" name="Google Shape;139;g2af74611e0c_0_213"/>
          <p:cNvGraphicFramePr/>
          <p:nvPr/>
        </p:nvGraphicFramePr>
        <p:xfrm>
          <a:off x="5522325" y="2681175"/>
          <a:ext cx="3164475" cy="2560170"/>
        </p:xfrm>
        <a:graphic>
          <a:graphicData uri="http://schemas.openxmlformats.org/drawingml/2006/table">
            <a:tbl>
              <a:tblPr>
                <a:noFill/>
                <a:tableStyleId>{3512797E-7F5F-4805-8BD1-D62190DEE8C0}</a:tableStyleId>
              </a:tblPr>
              <a:tblGrid>
                <a:gridCol w="105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Expression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Value Used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New Value</a:t>
                      </a:r>
                      <a:endParaRPr sz="1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0" name="Google Shape;140;g2af74611e0c_0_213"/>
          <p:cNvSpPr txBox="1"/>
          <p:nvPr/>
        </p:nvSpPr>
        <p:spPr>
          <a:xfrm>
            <a:off x="753050" y="4385900"/>
            <a:ext cx="3000000" cy="16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Options: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A) x = 5, y = 23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B) x = 6, y = 22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C) x = 5, y = 24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D) x = 4, y = 21</a:t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af74611e0c_0_22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6" name="Google Shape;146;g2af74611e0c_0_224"/>
          <p:cNvSpPr txBox="1"/>
          <p:nvPr/>
        </p:nvSpPr>
        <p:spPr>
          <a:xfrm>
            <a:off x="1066800" y="223296"/>
            <a:ext cx="7086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Class Activity (Predict Output)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2af74611e0c_0_224"/>
          <p:cNvSpPr txBox="1"/>
          <p:nvPr/>
        </p:nvSpPr>
        <p:spPr>
          <a:xfrm>
            <a:off x="349600" y="1143000"/>
            <a:ext cx="5579100" cy="4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public class </a:t>
            </a:r>
            <a:r>
              <a:rPr lang="en-US" sz="2000" dirty="0" err="1"/>
              <a:t>BooleanTest</a:t>
            </a:r>
            <a:r>
              <a:rPr lang="en-US" sz="2000" dirty="0"/>
              <a:t> {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   public </a:t>
            </a:r>
            <a:r>
              <a:rPr lang="en-US" sz="2300" dirty="0">
                <a:solidFill>
                  <a:srgbClr val="0000FF"/>
                </a:solidFill>
              </a:rPr>
              <a:t>static void main</a:t>
            </a:r>
            <a:r>
              <a:rPr lang="en-US" sz="2000" dirty="0"/>
              <a:t>(String[] </a:t>
            </a:r>
            <a:r>
              <a:rPr lang="en-US" sz="2000" dirty="0" err="1"/>
              <a:t>args</a:t>
            </a:r>
            <a:r>
              <a:rPr lang="en-US" sz="2000" dirty="0"/>
              <a:t>) {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       </a:t>
            </a:r>
            <a:r>
              <a:rPr lang="en-US" sz="2000" dirty="0" err="1"/>
              <a:t>boolean</a:t>
            </a:r>
            <a:r>
              <a:rPr lang="en-US" sz="2000" dirty="0"/>
              <a:t> a = false;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       </a:t>
            </a:r>
            <a:r>
              <a:rPr lang="en-US" sz="2000" dirty="0" err="1"/>
              <a:t>boolean</a:t>
            </a:r>
            <a:r>
              <a:rPr lang="en-US" sz="2000" dirty="0"/>
              <a:t> b = false;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       </a:t>
            </a:r>
            <a:r>
              <a:rPr lang="en-US" sz="2000" dirty="0" err="1"/>
              <a:t>boolean</a:t>
            </a:r>
            <a:r>
              <a:rPr lang="en-US" sz="2000" dirty="0"/>
              <a:t> c = (a = true) || (b = true);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       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       </a:t>
            </a:r>
            <a:r>
              <a:rPr lang="en-US" sz="2000" dirty="0" err="1"/>
              <a:t>System.out.</a:t>
            </a:r>
            <a:r>
              <a:rPr lang="en-US" sz="2300" dirty="0" err="1">
                <a:solidFill>
                  <a:srgbClr val="0000FF"/>
                </a:solidFill>
              </a:rPr>
              <a:t>println</a:t>
            </a:r>
            <a:r>
              <a:rPr lang="en-US" sz="2000" dirty="0"/>
              <a:t>("a = " + a);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       </a:t>
            </a:r>
            <a:r>
              <a:rPr lang="en-US" sz="2000" dirty="0" err="1"/>
              <a:t>System.out.</a:t>
            </a:r>
            <a:r>
              <a:rPr lang="en-US" sz="2300" dirty="0" err="1">
                <a:solidFill>
                  <a:srgbClr val="0000FF"/>
                </a:solidFill>
              </a:rPr>
              <a:t>println</a:t>
            </a:r>
            <a:r>
              <a:rPr lang="en-US" sz="2000" dirty="0"/>
              <a:t>("b = " + b);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       </a:t>
            </a:r>
            <a:r>
              <a:rPr lang="en-US" sz="2000" dirty="0" err="1"/>
              <a:t>System.out.</a:t>
            </a:r>
            <a:r>
              <a:rPr lang="en-US" sz="2300" dirty="0" err="1">
                <a:solidFill>
                  <a:srgbClr val="0000FF"/>
                </a:solidFill>
              </a:rPr>
              <a:t>println</a:t>
            </a:r>
            <a:r>
              <a:rPr lang="en-US" sz="2000" dirty="0"/>
              <a:t>("c = " + c);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   }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}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graphicFrame>
        <p:nvGraphicFramePr>
          <p:cNvPr id="148" name="Google Shape;148;g2af74611e0c_0_224"/>
          <p:cNvGraphicFramePr/>
          <p:nvPr/>
        </p:nvGraphicFramePr>
        <p:xfrm>
          <a:off x="5522325" y="2681175"/>
          <a:ext cx="3164475" cy="2335140"/>
        </p:xfrm>
        <a:graphic>
          <a:graphicData uri="http://schemas.openxmlformats.org/drawingml/2006/table">
            <a:tbl>
              <a:tblPr>
                <a:noFill/>
                <a:tableStyleId>{3512797E-7F5F-4805-8BD1-D62190DEE8C0}</a:tableStyleId>
              </a:tblPr>
              <a:tblGrid>
                <a:gridCol w="105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</a:t>
                      </a:r>
                      <a:endParaRPr sz="1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9" name="Google Shape;149;g2af74611e0c_0_224"/>
          <p:cNvSpPr txBox="1"/>
          <p:nvPr/>
        </p:nvSpPr>
        <p:spPr>
          <a:xfrm>
            <a:off x="753050" y="4768900"/>
            <a:ext cx="4153500" cy="16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Options: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A) a = false, b = true, c = true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B) a = true, b = true, c = true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C) a = true, b = false, c = true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D) a = true, b = true, c = false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af74611e0c_0_23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55" name="Google Shape;155;g2af74611e0c_0_234"/>
          <p:cNvSpPr txBox="1"/>
          <p:nvPr/>
        </p:nvSpPr>
        <p:spPr>
          <a:xfrm>
            <a:off x="1066800" y="223296"/>
            <a:ext cx="7086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Class Activity (Predict Output)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2af74611e0c_0_234"/>
          <p:cNvSpPr txBox="1"/>
          <p:nvPr/>
        </p:nvSpPr>
        <p:spPr>
          <a:xfrm>
            <a:off x="470625" y="1534100"/>
            <a:ext cx="7367400" cy="47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public class Test {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    public </a:t>
            </a:r>
            <a:r>
              <a:rPr lang="en-US" sz="2300">
                <a:solidFill>
                  <a:srgbClr val="0000FF"/>
                </a:solidFill>
              </a:rPr>
              <a:t>static void main</a:t>
            </a:r>
            <a:r>
              <a:rPr lang="en-US" sz="1900"/>
              <a:t>(String[] args) {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        int x = -2;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        int total = 0;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        </a:t>
            </a:r>
            <a:r>
              <a:rPr lang="en-US" sz="2300">
                <a:solidFill>
                  <a:srgbClr val="0000FF"/>
                </a:solidFill>
              </a:rPr>
              <a:t>while (x &lt;= 5) {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            int y = x + 2;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            x++;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            total += y;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            System.out</a:t>
            </a:r>
            <a:r>
              <a:rPr lang="en-US" sz="2300">
                <a:solidFill>
                  <a:srgbClr val="0000FF"/>
                </a:solidFill>
              </a:rPr>
              <a:t>.printf</a:t>
            </a:r>
            <a:r>
              <a:rPr lang="en-US" sz="1900"/>
              <a:t>("Y is: %d and total is %d\n", y, total);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        }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    }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}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graphicFrame>
        <p:nvGraphicFramePr>
          <p:cNvPr id="157" name="Google Shape;157;g2af74611e0c_0_234"/>
          <p:cNvGraphicFramePr/>
          <p:nvPr/>
        </p:nvGraphicFramePr>
        <p:xfrm>
          <a:off x="6087125" y="1215425"/>
          <a:ext cx="2532450" cy="2335140"/>
        </p:xfrm>
        <a:graphic>
          <a:graphicData uri="http://schemas.openxmlformats.org/drawingml/2006/table">
            <a:tbl>
              <a:tblPr>
                <a:noFill/>
                <a:tableStyleId>{3512797E-7F5F-4805-8BD1-D62190DEE8C0}</a:tableStyleId>
              </a:tblPr>
              <a:tblGrid>
                <a:gridCol w="84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x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y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total</a:t>
                      </a:r>
                      <a:endParaRPr sz="1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af74611e0c_0_115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Java Datatypes</a:t>
            </a:r>
            <a:endParaRPr/>
          </a:p>
        </p:txBody>
      </p:sp>
      <p:sp>
        <p:nvSpPr>
          <p:cNvPr id="163" name="Google Shape;163;g2af74611e0c_0_11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64" name="Google Shape;164;g2af74611e0c_0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150" y="1295400"/>
            <a:ext cx="8914850" cy="517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>
            <a:spLocks noGrp="1"/>
          </p:cNvSpPr>
          <p:nvPr>
            <p:ph type="sldNum" idx="12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800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cap="small">
                <a:solidFill>
                  <a:srgbClr val="C00000"/>
                </a:solidFill>
              </a:rPr>
              <a:t>Introduction - Arrays</a:t>
            </a:r>
            <a:endParaRPr sz="3200" cap="small">
              <a:solidFill>
                <a:srgbClr val="C00000"/>
              </a:solidFill>
            </a:endParaRPr>
          </a:p>
        </p:txBody>
      </p:sp>
      <p:pic>
        <p:nvPicPr>
          <p:cNvPr id="171" name="Google Shape;171;p2" descr="AAEMYRO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895600"/>
            <a:ext cx="7391400" cy="395128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"/>
          <p:cNvSpPr txBox="1">
            <a:spLocks noGrp="1"/>
          </p:cNvSpPr>
          <p:nvPr>
            <p:ph type="body" idx="1"/>
          </p:nvPr>
        </p:nvSpPr>
        <p:spPr>
          <a:xfrm>
            <a:off x="685800" y="838200"/>
            <a:ext cx="8001000" cy="2100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5938" lvl="0" indent="-452438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❖"/>
            </a:pPr>
            <a:r>
              <a:rPr lang="en-US"/>
              <a:t>It’s a Data structure</a:t>
            </a:r>
            <a:endParaRPr/>
          </a:p>
          <a:p>
            <a:pPr marL="515938" lvl="0" indent="-452438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❖"/>
            </a:pPr>
            <a:r>
              <a:rPr lang="en-US"/>
              <a:t>A Group of variables having the same data type</a:t>
            </a:r>
            <a:endParaRPr/>
          </a:p>
          <a:p>
            <a:pPr marL="515938" lvl="0" indent="-452438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❖"/>
            </a:pPr>
            <a:r>
              <a:rPr lang="en-US"/>
              <a:t>Remain same size once created.</a:t>
            </a:r>
            <a:endParaRPr/>
          </a:p>
          <a:p>
            <a:pPr marL="1028700" lvl="1" indent="-571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Fixed-length entries</a:t>
            </a:r>
            <a:endParaRPr/>
          </a:p>
          <a:p>
            <a:pPr marL="1428750" lvl="2" indent="-4064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endParaRPr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"/>
          <p:cNvSpPr txBox="1">
            <a:spLocks noGrp="1"/>
          </p:cNvSpPr>
          <p:nvPr>
            <p:ph type="sldNum" idx="12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 txBox="1">
            <a:spLocks noGrp="1"/>
          </p:cNvSpPr>
          <p:nvPr>
            <p:ph type="title"/>
          </p:nvPr>
        </p:nvSpPr>
        <p:spPr>
          <a:xfrm>
            <a:off x="6858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cap="small">
                <a:solidFill>
                  <a:srgbClr val="C00000"/>
                </a:solidFill>
              </a:rPr>
              <a:t>Arrays Index</a:t>
            </a:r>
            <a:endParaRPr sz="3200" cap="small">
              <a:solidFill>
                <a:srgbClr val="C00000"/>
              </a:solidFill>
            </a:endParaRPr>
          </a:p>
        </p:txBody>
      </p:sp>
      <p:sp>
        <p:nvSpPr>
          <p:cNvPr id="179" name="Google Shape;179;p3"/>
          <p:cNvSpPr txBox="1">
            <a:spLocks noGrp="1"/>
          </p:cNvSpPr>
          <p:nvPr>
            <p:ph type="body" idx="1"/>
          </p:nvPr>
        </p:nvSpPr>
        <p:spPr>
          <a:xfrm>
            <a:off x="533400" y="990600"/>
            <a:ext cx="81534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5938" lvl="0" indent="-452438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❖"/>
            </a:pPr>
            <a:r>
              <a:rPr lang="en-US"/>
              <a:t>Index</a:t>
            </a:r>
            <a:endParaRPr/>
          </a:p>
          <a:p>
            <a:pPr marL="684213" lvl="1" indent="-22066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Also called subscript</a:t>
            </a:r>
            <a:endParaRPr/>
          </a:p>
          <a:p>
            <a:pPr marL="684213" lvl="1" indent="-22066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Position number in square brackets</a:t>
            </a:r>
            <a:endParaRPr/>
          </a:p>
          <a:p>
            <a:pPr marL="684213" lvl="1" indent="-22066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Must be positive integer or integer expression</a:t>
            </a:r>
            <a:endParaRPr/>
          </a:p>
          <a:p>
            <a:pPr marL="684213" lvl="1" indent="-22066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First element has index zero</a:t>
            </a:r>
            <a:br>
              <a:rPr lang="en-US" sz="2400"/>
            </a:br>
            <a:endParaRPr sz="240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		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a = 5;</a:t>
            </a:r>
            <a:b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	b = 6;</a:t>
            </a:r>
            <a:b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	c[a + b] += </a:t>
            </a:r>
            <a:r>
              <a:rPr lang="en-US" sz="2400">
                <a:solidFill>
                  <a:schemeClr val="accen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; </a:t>
            </a:r>
            <a:r>
              <a:rPr lang="en-US" sz="2400">
                <a:solidFill>
                  <a:srgbClr val="00B05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// </a:t>
            </a:r>
            <a:r>
              <a:rPr lang="en-US" sz="2400">
                <a:solidFill>
                  <a:srgbClr val="00B050"/>
                </a:solidFill>
              </a:rPr>
              <a:t>Adds</a:t>
            </a:r>
            <a:r>
              <a:rPr lang="en-US" sz="2400">
                <a:solidFill>
                  <a:srgbClr val="00B05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2 </a:t>
            </a:r>
            <a:r>
              <a:rPr lang="en-US" sz="2400">
                <a:solidFill>
                  <a:srgbClr val="00B050"/>
                </a:solidFill>
              </a:rPr>
              <a:t>to</a:t>
            </a:r>
            <a:r>
              <a:rPr lang="en-US" sz="2400">
                <a:solidFill>
                  <a:srgbClr val="00B05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c[ 11 ]</a:t>
            </a:r>
            <a:endParaRPr sz="24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"/>
          <p:cNvSpPr txBox="1">
            <a:spLocks noGrp="1"/>
          </p:cNvSpPr>
          <p:nvPr>
            <p:ph type="sldNum" idx="12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 txBox="1">
            <a:spLocks noGrp="1"/>
          </p:cNvSpPr>
          <p:nvPr>
            <p:ph type="title"/>
          </p:nvPr>
        </p:nvSpPr>
        <p:spPr>
          <a:xfrm>
            <a:off x="838200" y="152400"/>
            <a:ext cx="723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cap="small">
                <a:solidFill>
                  <a:srgbClr val="C00000"/>
                </a:solidFill>
              </a:rPr>
              <a:t>Declaring and Creating Arrays (in Java)</a:t>
            </a:r>
            <a:endParaRPr sz="3200" cap="small">
              <a:solidFill>
                <a:srgbClr val="C00000"/>
              </a:solidFill>
            </a:endParaRPr>
          </a:p>
        </p:txBody>
      </p:sp>
      <p:sp>
        <p:nvSpPr>
          <p:cNvPr id="186" name="Google Shape;186;p4"/>
          <p:cNvSpPr txBox="1">
            <a:spLocks noGrp="1"/>
          </p:cNvSpPr>
          <p:nvPr>
            <p:ph type="body" idx="1"/>
          </p:nvPr>
        </p:nvSpPr>
        <p:spPr>
          <a:xfrm>
            <a:off x="685800" y="838200"/>
            <a:ext cx="80772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5938" lvl="0" indent="-452438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❖"/>
            </a:pPr>
            <a:r>
              <a:rPr lang="en-US" dirty="0"/>
              <a:t>Declaring and Creating arrays</a:t>
            </a:r>
            <a:endParaRPr dirty="0"/>
          </a:p>
          <a:p>
            <a:pPr marL="684213" lvl="1" indent="-22066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dirty="0"/>
              <a:t>Arrays are objects that occupy memory</a:t>
            </a:r>
            <a:endParaRPr dirty="0"/>
          </a:p>
          <a:p>
            <a:pPr marL="684213" lvl="1" indent="-22066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dirty="0"/>
              <a:t>Created dynamically with keyword new</a:t>
            </a:r>
            <a:endParaRPr dirty="0"/>
          </a:p>
          <a:p>
            <a:pPr marL="685800" lvl="2" indent="-228600" algn="l" rtl="0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Droid Sans Mono"/>
              <a:buNone/>
            </a:pPr>
            <a:r>
              <a:rPr lang="en-US" sz="2400" dirty="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2400" dirty="0">
                <a:latin typeface="Droid Sans Mono"/>
                <a:ea typeface="Droid Sans Mono"/>
                <a:cs typeface="Droid Sans Mono"/>
                <a:sym typeface="Droid Sans Mono"/>
              </a:rPr>
              <a:t> c[] = </a:t>
            </a:r>
            <a:r>
              <a:rPr lang="en-US" sz="2400" dirty="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new</a:t>
            </a:r>
            <a:r>
              <a:rPr lang="en-US" sz="2400" dirty="0"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2400" dirty="0">
                <a:latin typeface="Droid Sans Mono"/>
                <a:ea typeface="Droid Sans Mono"/>
                <a:cs typeface="Droid Sans Mono"/>
                <a:sym typeface="Droid Sans Mono"/>
              </a:rPr>
              <a:t>[ </a:t>
            </a:r>
            <a:r>
              <a:rPr lang="en-US" sz="2400" dirty="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12</a:t>
            </a:r>
            <a:r>
              <a:rPr lang="en-US" sz="2400" dirty="0">
                <a:latin typeface="Droid Sans Mono"/>
                <a:ea typeface="Droid Sans Mono"/>
                <a:cs typeface="Droid Sans Mono"/>
                <a:sym typeface="Droid Sans Mono"/>
              </a:rPr>
              <a:t> ];</a:t>
            </a:r>
            <a:endParaRPr dirty="0"/>
          </a:p>
          <a:p>
            <a:pPr marL="685800" lvl="3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 dirty="0"/>
              <a:t>Equivalent to</a:t>
            </a:r>
            <a:endParaRPr dirty="0"/>
          </a:p>
          <a:p>
            <a:pPr marL="457200" lvl="3" indent="0" algn="l" rtl="0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None/>
            </a:pPr>
            <a:r>
              <a:rPr lang="en-US" sz="2400" dirty="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2400" dirty="0">
                <a:latin typeface="Droid Sans Mono"/>
                <a:ea typeface="Droid Sans Mono"/>
                <a:cs typeface="Droid Sans Mono"/>
                <a:sym typeface="Droid Sans Mono"/>
              </a:rPr>
              <a:t> c[]; or </a:t>
            </a:r>
            <a:r>
              <a:rPr lang="en-US" sz="2400" dirty="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2400" dirty="0">
                <a:latin typeface="Droid Sans Mono"/>
                <a:ea typeface="Droid Sans Mono"/>
                <a:cs typeface="Droid Sans Mono"/>
                <a:sym typeface="Droid Sans Mono"/>
              </a:rPr>
              <a:t>[] c </a:t>
            </a:r>
            <a:r>
              <a:rPr lang="en-US" sz="2400" dirty="0">
                <a:solidFill>
                  <a:srgbClr val="33CC33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// declare array variable</a:t>
            </a:r>
            <a:br>
              <a:rPr lang="en-US" sz="2400" dirty="0"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lang="en-US" sz="2400" dirty="0">
                <a:latin typeface="Droid Sans Mono"/>
                <a:ea typeface="Droid Sans Mono"/>
                <a:cs typeface="Droid Sans Mono"/>
                <a:sym typeface="Droid Sans Mono"/>
              </a:rPr>
              <a:t>c = </a:t>
            </a:r>
            <a:r>
              <a:rPr lang="en-US" sz="2400" dirty="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new</a:t>
            </a:r>
            <a:r>
              <a:rPr lang="en-US" sz="2400" dirty="0"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2400" dirty="0">
                <a:latin typeface="Droid Sans Mono"/>
                <a:ea typeface="Droid Sans Mono"/>
                <a:cs typeface="Droid Sans Mono"/>
                <a:sym typeface="Droid Sans Mono"/>
              </a:rPr>
              <a:t>[ </a:t>
            </a:r>
            <a:r>
              <a:rPr lang="en-US" sz="2400" dirty="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12</a:t>
            </a:r>
            <a:r>
              <a:rPr lang="en-US" sz="2400" dirty="0">
                <a:latin typeface="Droid Sans Mono"/>
                <a:ea typeface="Droid Sans Mono"/>
                <a:cs typeface="Droid Sans Mono"/>
                <a:sym typeface="Droid Sans Mono"/>
              </a:rPr>
              <a:t> ]; </a:t>
            </a:r>
            <a:r>
              <a:rPr lang="en-US" sz="2400" dirty="0">
                <a:solidFill>
                  <a:srgbClr val="33CC33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// create array</a:t>
            </a:r>
            <a:endParaRPr dirty="0"/>
          </a:p>
          <a:p>
            <a:pPr marL="685800" lvl="2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  <a:p>
            <a:pPr marL="684213" lvl="1" indent="-22066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dirty="0"/>
              <a:t>We can create arrays of objects too</a:t>
            </a:r>
            <a:endParaRPr dirty="0"/>
          </a:p>
          <a:p>
            <a:pPr marL="685800" lvl="3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latin typeface="Droid Sans Mono"/>
                <a:ea typeface="Droid Sans Mono"/>
                <a:cs typeface="Droid Sans Mono"/>
                <a:sym typeface="Droid Sans Mono"/>
              </a:rPr>
              <a:t>String b[] = </a:t>
            </a:r>
            <a:r>
              <a:rPr lang="en-US" sz="2400" dirty="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new</a:t>
            </a:r>
            <a:r>
              <a:rPr lang="en-US" sz="2400" dirty="0">
                <a:latin typeface="Droid Sans Mono"/>
                <a:ea typeface="Droid Sans Mono"/>
                <a:cs typeface="Droid Sans Mono"/>
                <a:sym typeface="Droid Sans Mono"/>
              </a:rPr>
              <a:t> String[ </a:t>
            </a:r>
            <a:r>
              <a:rPr lang="en-US" sz="2400" dirty="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100</a:t>
            </a:r>
            <a:r>
              <a:rPr lang="en-US" sz="2400" dirty="0">
                <a:latin typeface="Droid Sans Mono"/>
                <a:ea typeface="Droid Sans Mono"/>
                <a:cs typeface="Droid Sans Mono"/>
                <a:sym typeface="Droid Sans Mono"/>
              </a:rPr>
              <a:t> ];</a:t>
            </a:r>
            <a:endParaRPr dirty="0"/>
          </a:p>
          <a:p>
            <a:pPr marL="685800" lvl="3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latin typeface="Droid Sans Mono"/>
                <a:ea typeface="Droid Sans Mono"/>
                <a:cs typeface="Droid Sans Mono"/>
                <a:sym typeface="Droid Sans Mono"/>
              </a:rPr>
              <a:t>String[] b = </a:t>
            </a:r>
            <a:r>
              <a:rPr lang="en-US" sz="2400" dirty="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new</a:t>
            </a:r>
            <a:r>
              <a:rPr lang="en-US" sz="2400" dirty="0">
                <a:latin typeface="Droid Sans Mono"/>
                <a:ea typeface="Droid Sans Mono"/>
                <a:cs typeface="Droid Sans Mono"/>
                <a:sym typeface="Droid Sans Mono"/>
              </a:rPr>
              <a:t> String[ </a:t>
            </a:r>
            <a:r>
              <a:rPr lang="en-US" sz="2400" dirty="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100</a:t>
            </a:r>
            <a:r>
              <a:rPr lang="en-US" sz="2400" dirty="0">
                <a:latin typeface="Droid Sans Mono"/>
                <a:ea typeface="Droid Sans Mono"/>
                <a:cs typeface="Droid Sans Mono"/>
                <a:sym typeface="Droid Sans Mono"/>
              </a:rPr>
              <a:t> ], x = </a:t>
            </a:r>
            <a:r>
              <a:rPr lang="en-US" sz="2400" dirty="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new</a:t>
            </a:r>
            <a:r>
              <a:rPr lang="en-US" sz="2400" dirty="0">
                <a:latin typeface="Droid Sans Mono"/>
                <a:ea typeface="Droid Sans Mono"/>
                <a:cs typeface="Droid Sans Mono"/>
                <a:sym typeface="Droid Sans Mono"/>
              </a:rPr>
              <a:t> String[ </a:t>
            </a:r>
            <a:r>
              <a:rPr lang="en-US" sz="2400" dirty="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27</a:t>
            </a:r>
            <a:r>
              <a:rPr lang="en-US" sz="2400" dirty="0">
                <a:latin typeface="Droid Sans Mono"/>
                <a:ea typeface="Droid Sans Mono"/>
                <a:cs typeface="Droid Sans Mono"/>
                <a:sym typeface="Droid Sans Mono"/>
              </a:rPr>
              <a:t> ];</a:t>
            </a:r>
            <a:endParaRPr dirty="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 txBox="1">
            <a:spLocks noGrp="1"/>
          </p:cNvSpPr>
          <p:nvPr>
            <p:ph type="sldNum" idx="12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>
            <a:spLocks noGrp="1"/>
          </p:cNvSpPr>
          <p:nvPr>
            <p:ph type="title"/>
          </p:nvPr>
        </p:nvSpPr>
        <p:spPr>
          <a:xfrm>
            <a:off x="685800" y="533401"/>
            <a:ext cx="799941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cap="small">
                <a:solidFill>
                  <a:srgbClr val="C00000"/>
                </a:solidFill>
              </a:rPr>
              <a:t>Important Notes</a:t>
            </a:r>
            <a:endParaRPr sz="3200" cap="small">
              <a:solidFill>
                <a:srgbClr val="C00000"/>
              </a:solidFill>
            </a:endParaRPr>
          </a:p>
        </p:txBody>
      </p:sp>
      <p:sp>
        <p:nvSpPr>
          <p:cNvPr id="193" name="Google Shape;193;p5"/>
          <p:cNvSpPr txBox="1">
            <a:spLocks noGrp="1"/>
          </p:cNvSpPr>
          <p:nvPr>
            <p:ph type="body" idx="1"/>
          </p:nvPr>
        </p:nvSpPr>
        <p:spPr>
          <a:xfrm>
            <a:off x="609600" y="1371600"/>
            <a:ext cx="8366125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342900" lvl="0" indent="-356235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</a:pPr>
            <a:r>
              <a:rPr lang="en-US"/>
              <a:t>Declaring multiple array variables in a single declaration can lead to subtle errors. </a:t>
            </a:r>
            <a:endParaRPr/>
          </a:p>
          <a:p>
            <a:pPr marL="342900" lvl="0" indent="0" algn="l" rtl="0">
              <a:spcBef>
                <a:spcPts val="518"/>
              </a:spcBef>
              <a:spcAft>
                <a:spcPts val="0"/>
              </a:spcAft>
              <a:buNone/>
            </a:pPr>
            <a:endParaRPr/>
          </a:p>
          <a:p>
            <a:pPr marL="342900" lvl="0" indent="-356235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</a:pPr>
            <a:r>
              <a:rPr lang="en-US"/>
              <a:t>Consider the declaration </a:t>
            </a:r>
            <a:r>
              <a:rPr lang="en-US" sz="2400" b="1">
                <a:solidFill>
                  <a:srgbClr val="1155CC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int[] a, b, c;</a:t>
            </a:r>
            <a:r>
              <a:rPr lang="en-US"/>
              <a:t>. If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a</a:t>
            </a:r>
            <a:r>
              <a:rPr lang="en-US"/>
              <a:t>,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 b</a:t>
            </a:r>
            <a:r>
              <a:rPr lang="en-US"/>
              <a:t> and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c</a:t>
            </a:r>
            <a:r>
              <a:rPr lang="en-US"/>
              <a:t> should be declared as array variables, then this declaration is correct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—</a:t>
            </a:r>
            <a:r>
              <a:rPr lang="en-US"/>
              <a:t>placing square brackets directly following the type indicates that all the identifiers in the declaration are array variables. </a:t>
            </a:r>
            <a:endParaRPr/>
          </a:p>
          <a:p>
            <a:pPr marL="342900" lvl="0" indent="-356235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</a:pPr>
            <a:r>
              <a:rPr lang="en-US"/>
              <a:t>However, if only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a</a:t>
            </a:r>
            <a:r>
              <a:rPr lang="en-US"/>
              <a:t> is intended to be an array variable, and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b</a:t>
            </a:r>
            <a:r>
              <a:rPr lang="en-US"/>
              <a:t> and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 c</a:t>
            </a:r>
            <a:r>
              <a:rPr lang="en-US"/>
              <a:t> are intended to be individual int variables, then this declaration is incorrect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—</a:t>
            </a:r>
            <a:r>
              <a:rPr lang="en-US"/>
              <a:t>the declaration </a:t>
            </a:r>
            <a:r>
              <a:rPr lang="en-US" sz="2400" b="1">
                <a:solidFill>
                  <a:srgbClr val="1155CC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 a[], b, c</a:t>
            </a:r>
            <a:r>
              <a:rPr lang="en-US" sz="2400">
                <a:solidFill>
                  <a:srgbClr val="1155CC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;</a:t>
            </a:r>
            <a:r>
              <a:rPr lang="en-US"/>
              <a:t> would achieve the desired result.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af74611e0c_0_244"/>
          <p:cNvSpPr txBox="1">
            <a:spLocks noGrp="1"/>
          </p:cNvSpPr>
          <p:nvPr>
            <p:ph type="sldNum" idx="12"/>
          </p:nvPr>
        </p:nvSpPr>
        <p:spPr>
          <a:xfrm rot="-5400000">
            <a:off x="-1198647" y="4821151"/>
            <a:ext cx="2625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2af74611e0c_0_244"/>
          <p:cNvSpPr txBox="1">
            <a:spLocks noGrp="1"/>
          </p:cNvSpPr>
          <p:nvPr>
            <p:ph type="title"/>
          </p:nvPr>
        </p:nvSpPr>
        <p:spPr>
          <a:xfrm>
            <a:off x="685800" y="533401"/>
            <a:ext cx="7999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cap="small">
                <a:solidFill>
                  <a:srgbClr val="C00000"/>
                </a:solidFill>
              </a:rPr>
              <a:t>Important Notes</a:t>
            </a:r>
            <a:endParaRPr sz="3200" cap="small">
              <a:solidFill>
                <a:srgbClr val="C00000"/>
              </a:solidFill>
            </a:endParaRPr>
          </a:p>
        </p:txBody>
      </p:sp>
      <p:sp>
        <p:nvSpPr>
          <p:cNvPr id="200" name="Google Shape;200;g2af74611e0c_0_244"/>
          <p:cNvSpPr txBox="1">
            <a:spLocks noGrp="1"/>
          </p:cNvSpPr>
          <p:nvPr>
            <p:ph type="body" idx="1"/>
          </p:nvPr>
        </p:nvSpPr>
        <p:spPr>
          <a:xfrm>
            <a:off x="609600" y="1371600"/>
            <a:ext cx="83661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»"/>
            </a:pPr>
            <a:r>
              <a:rPr lang="en-US" dirty="0"/>
              <a:t>In an array declaration, specifying the number of elements in the square brackets of the declaration </a:t>
            </a:r>
            <a:r>
              <a:rPr lang="en-US" sz="2400" b="1" dirty="0">
                <a:latin typeface="Droid Sans Mono"/>
                <a:ea typeface="Droid Sans Mono"/>
                <a:cs typeface="Droid Sans Mono"/>
                <a:sym typeface="Droid Sans Mono"/>
              </a:rPr>
              <a:t>(e.g., int c[12];)</a:t>
            </a:r>
            <a:r>
              <a:rPr lang="en-US" b="1" dirty="0"/>
              <a:t> is a syntax error. </a:t>
            </a:r>
            <a:endParaRPr b="1" dirty="0"/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342900" lvl="0" indent="-356235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</a:pPr>
            <a:r>
              <a:rPr lang="en-US" dirty="0"/>
              <a:t>Can we declare and initialize an array </a:t>
            </a:r>
            <a:r>
              <a:rPr lang="en-US" b="1" dirty="0"/>
              <a:t>without using the new keyword?		</a:t>
            </a:r>
            <a:endParaRPr b="1" dirty="0"/>
          </a:p>
          <a:p>
            <a:pPr marL="342900" lvl="0" indent="-356235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</a:pPr>
            <a:r>
              <a:rPr lang="en-US" b="1" dirty="0"/>
              <a:t>yes  </a:t>
            </a:r>
            <a:endParaRPr b="1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int[ ] c = {1, 2, 3, 4, 5}; 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" name="Google Shape;205;p6"/>
          <p:cNvGraphicFramePr/>
          <p:nvPr/>
        </p:nvGraphicFramePr>
        <p:xfrm>
          <a:off x="381000" y="457200"/>
          <a:ext cx="7543800" cy="6255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543800" imgH="6255216" progId="Word.Document.8">
                  <p:embed/>
                </p:oleObj>
              </mc:Choice>
              <mc:Fallback>
                <p:oleObj r:id="rId3" imgW="7543800" imgH="6255216" progId="Word.Document.8">
                  <p:embed/>
                  <p:pic>
                    <p:nvPicPr>
                      <p:cNvPr id="205" name="Google Shape;205;p6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381000" y="457200"/>
                        <a:ext cx="7543800" cy="62552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6" name="Google Shape;206;p6"/>
          <p:cNvGrpSpPr/>
          <p:nvPr/>
        </p:nvGrpSpPr>
        <p:grpSpPr>
          <a:xfrm>
            <a:off x="1905000" y="798335"/>
            <a:ext cx="3810000" cy="1182688"/>
            <a:chOff x="1248" y="528"/>
            <a:chExt cx="2400" cy="745"/>
          </a:xfrm>
        </p:grpSpPr>
        <p:sp>
          <p:nvSpPr>
            <p:cNvPr id="207" name="Google Shape;207;p6"/>
            <p:cNvSpPr txBox="1"/>
            <p:nvPr/>
          </p:nvSpPr>
          <p:spPr>
            <a:xfrm>
              <a:off x="2160" y="528"/>
              <a:ext cx="1488" cy="372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Declare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array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as an array of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int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8" name="Google Shape;208;p6"/>
            <p:cNvCxnSpPr/>
            <p:nvPr/>
          </p:nvCxnSpPr>
          <p:spPr>
            <a:xfrm flipH="1">
              <a:off x="1248" y="720"/>
              <a:ext cx="912" cy="55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09" name="Google Shape;209;p6"/>
          <p:cNvSpPr txBox="1"/>
          <p:nvPr/>
        </p:nvSpPr>
        <p:spPr>
          <a:xfrm>
            <a:off x="6400800" y="969962"/>
            <a:ext cx="2743200" cy="923330"/>
          </a:xfrm>
          <a:prstGeom prst="rect">
            <a:avLst/>
          </a:prstGeom>
          <a:solidFill>
            <a:srgbClr val="F0F7F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</a:t>
            </a: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10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for </a:t>
            </a: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array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each </a:t>
            </a: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initialized to </a:t>
            </a: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0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default</a:t>
            </a:r>
            <a:endParaRPr/>
          </a:p>
        </p:txBody>
      </p:sp>
      <p:cxnSp>
        <p:nvCxnSpPr>
          <p:cNvPr id="210" name="Google Shape;210;p6"/>
          <p:cNvCxnSpPr/>
          <p:nvPr/>
        </p:nvCxnSpPr>
        <p:spPr>
          <a:xfrm flipH="1">
            <a:off x="2895600" y="1693862"/>
            <a:ext cx="3505200" cy="74453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11" name="Google Shape;211;p6"/>
          <p:cNvGrpSpPr/>
          <p:nvPr/>
        </p:nvGrpSpPr>
        <p:grpSpPr>
          <a:xfrm>
            <a:off x="4686300" y="2055812"/>
            <a:ext cx="4038600" cy="1295400"/>
            <a:chOff x="1824" y="1440"/>
            <a:chExt cx="2544" cy="816"/>
          </a:xfrm>
        </p:grpSpPr>
        <p:sp>
          <p:nvSpPr>
            <p:cNvPr id="212" name="Google Shape;212;p6"/>
            <p:cNvSpPr txBox="1"/>
            <p:nvPr/>
          </p:nvSpPr>
          <p:spPr>
            <a:xfrm>
              <a:off x="2688" y="1440"/>
              <a:ext cx="1680" cy="372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array.length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returns length of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array</a:t>
              </a:r>
              <a:endParaRPr/>
            </a:p>
          </p:txBody>
        </p:sp>
        <p:cxnSp>
          <p:nvCxnSpPr>
            <p:cNvPr id="213" name="Google Shape;213;p6"/>
            <p:cNvCxnSpPr/>
            <p:nvPr/>
          </p:nvCxnSpPr>
          <p:spPr>
            <a:xfrm flipH="1">
              <a:off x="1824" y="1824"/>
              <a:ext cx="1632" cy="43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14" name="Google Shape;214;p6"/>
          <p:cNvSpPr txBox="1"/>
          <p:nvPr/>
        </p:nvSpPr>
        <p:spPr>
          <a:xfrm>
            <a:off x="5315656" y="5011165"/>
            <a:ext cx="3429000" cy="646331"/>
          </a:xfrm>
          <a:prstGeom prst="rect">
            <a:avLst/>
          </a:prstGeom>
          <a:solidFill>
            <a:srgbClr val="F0F7F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array[counter]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returns </a:t>
            </a: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associated with index in </a:t>
            </a: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array</a:t>
            </a:r>
            <a:endParaRPr/>
          </a:p>
        </p:txBody>
      </p:sp>
      <p:cxnSp>
        <p:nvCxnSpPr>
          <p:cNvPr id="215" name="Google Shape;215;p6"/>
          <p:cNvCxnSpPr/>
          <p:nvPr/>
        </p:nvCxnSpPr>
        <p:spPr>
          <a:xfrm rot="10800000">
            <a:off x="5562600" y="3789362"/>
            <a:ext cx="990600" cy="122180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16" name="Google Shape;216;p6"/>
          <p:cNvGrpSpPr/>
          <p:nvPr/>
        </p:nvGrpSpPr>
        <p:grpSpPr>
          <a:xfrm>
            <a:off x="1676617" y="4550124"/>
            <a:ext cx="3352584" cy="936278"/>
            <a:chOff x="2738" y="1152"/>
            <a:chExt cx="1822" cy="679"/>
          </a:xfrm>
        </p:grpSpPr>
        <p:sp>
          <p:nvSpPr>
            <p:cNvPr id="217" name="Google Shape;217;p6"/>
            <p:cNvSpPr txBox="1"/>
            <p:nvPr/>
          </p:nvSpPr>
          <p:spPr>
            <a:xfrm>
              <a:off x="3264" y="1152"/>
              <a:ext cx="1296" cy="582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Each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int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is initialized to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0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by default</a:t>
              </a:r>
              <a:endParaRPr/>
            </a:p>
          </p:txBody>
        </p:sp>
        <p:cxnSp>
          <p:nvCxnSpPr>
            <p:cNvPr id="218" name="Google Shape;218;p6"/>
            <p:cNvCxnSpPr/>
            <p:nvPr/>
          </p:nvCxnSpPr>
          <p:spPr>
            <a:xfrm flipH="1">
              <a:off x="2738" y="1344"/>
              <a:ext cx="526" cy="48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19" name="Google Shape;219;p6"/>
          <p:cNvSpPr txBox="1">
            <a:spLocks noGrp="1"/>
          </p:cNvSpPr>
          <p:nvPr>
            <p:ph type="sldNum" idx="12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 txBox="1">
            <a:spLocks noGrp="1"/>
          </p:cNvSpPr>
          <p:nvPr>
            <p:ph type="sldNum" idx="12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>
            <a:spLocks noGrp="1"/>
          </p:cNvSpPr>
          <p:nvPr>
            <p:ph type="title"/>
          </p:nvPr>
        </p:nvSpPr>
        <p:spPr>
          <a:xfrm>
            <a:off x="685800" y="152400"/>
            <a:ext cx="7239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cap="small">
                <a:solidFill>
                  <a:srgbClr val="C00000"/>
                </a:solidFill>
              </a:rPr>
              <a:t>Examples Using Arrays (Cont.)</a:t>
            </a:r>
            <a:endParaRPr/>
          </a:p>
        </p:txBody>
      </p:sp>
      <p:sp>
        <p:nvSpPr>
          <p:cNvPr id="226" name="Google Shape;226;p7"/>
          <p:cNvSpPr txBox="1">
            <a:spLocks noGrp="1"/>
          </p:cNvSpPr>
          <p:nvPr>
            <p:ph type="body" idx="1"/>
          </p:nvPr>
        </p:nvSpPr>
        <p:spPr>
          <a:xfrm>
            <a:off x="609600" y="1066800"/>
            <a:ext cx="7924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5938" lvl="0" indent="-452438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❖"/>
            </a:pPr>
            <a:r>
              <a:rPr lang="en-US"/>
              <a:t>Using an array initializer</a:t>
            </a:r>
            <a:endParaRPr/>
          </a:p>
          <a:p>
            <a:pPr marL="684213" lvl="1" indent="-22066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Use initializer list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-US" sz="2400"/>
              <a:t>Items enclosed in braces (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{}</a:t>
            </a:r>
            <a:r>
              <a:rPr lang="en-US" sz="2400"/>
              <a:t>)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-US" sz="2400"/>
              <a:t>Items in list separated by commas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roid Sans Mono"/>
              <a:buNone/>
            </a:pP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	</a:t>
            </a:r>
            <a:r>
              <a:rPr lang="en-US" sz="240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 n[] = { </a:t>
            </a:r>
            <a:r>
              <a:rPr lang="en-US" sz="24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10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, </a:t>
            </a:r>
            <a:r>
              <a:rPr lang="en-US" sz="24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20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, </a:t>
            </a:r>
            <a:r>
              <a:rPr lang="en-US" sz="24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30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, </a:t>
            </a:r>
            <a:r>
              <a:rPr lang="en-US" sz="24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40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, </a:t>
            </a:r>
            <a:r>
              <a:rPr lang="en-US" sz="24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50</a:t>
            </a:r>
            <a:r>
              <a:rPr lang="en-US" sz="2400">
                <a:solidFill>
                  <a:schemeClr val="accen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};</a:t>
            </a:r>
            <a:endParaRPr/>
          </a:p>
          <a:p>
            <a:pPr marL="1600200" lvl="3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Creates a five-element array</a:t>
            </a:r>
            <a:endParaRPr/>
          </a:p>
          <a:p>
            <a:pPr marL="1600200" lvl="3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Index values of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0</a:t>
            </a:r>
            <a:r>
              <a:rPr lang="en-US" sz="2400"/>
              <a:t>,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1</a:t>
            </a:r>
            <a:r>
              <a:rPr lang="en-US" sz="2400"/>
              <a:t>,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2</a:t>
            </a:r>
            <a:r>
              <a:rPr lang="en-US" sz="2400"/>
              <a:t>,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3</a:t>
            </a:r>
            <a:r>
              <a:rPr lang="en-US" sz="2400"/>
              <a:t>,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4</a:t>
            </a:r>
            <a:endParaRPr sz="2400"/>
          </a:p>
          <a:p>
            <a:pPr marL="684213" lvl="1" indent="-22066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Do not need keyword new</a:t>
            </a:r>
            <a:endParaRPr/>
          </a:p>
          <a:p>
            <a:pPr marL="342900" lvl="0" indent="-88900" algn="l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</a:pPr>
            <a:endParaRPr sz="40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"/>
          <p:cNvSpPr txBox="1">
            <a:spLocks noGrp="1"/>
          </p:cNvSpPr>
          <p:nvPr>
            <p:ph type="sldNum" idx="12"/>
          </p:nvPr>
        </p:nvSpPr>
        <p:spPr>
          <a:xfrm>
            <a:off x="7010400" y="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graphicFrame>
        <p:nvGraphicFramePr>
          <p:cNvPr id="232" name="Google Shape;232;p8"/>
          <p:cNvGraphicFramePr/>
          <p:nvPr/>
        </p:nvGraphicFramePr>
        <p:xfrm>
          <a:off x="457200" y="381000"/>
          <a:ext cx="7920037" cy="6466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920037" imgH="6466665" progId="Word.Document.8">
                  <p:embed/>
                </p:oleObj>
              </mc:Choice>
              <mc:Fallback>
                <p:oleObj r:id="rId3" imgW="7920037" imgH="6466665" progId="Word.Document.8">
                  <p:embed/>
                  <p:pic>
                    <p:nvPicPr>
                      <p:cNvPr id="232" name="Google Shape;232;p8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457200" y="381000"/>
                        <a:ext cx="7920037" cy="6466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" name="Google Shape;233;p8"/>
          <p:cNvSpPr txBox="1"/>
          <p:nvPr/>
        </p:nvSpPr>
        <p:spPr>
          <a:xfrm>
            <a:off x="4191000" y="381000"/>
            <a:ext cx="2362200" cy="590550"/>
          </a:xfrm>
          <a:prstGeom prst="rect">
            <a:avLst/>
          </a:prstGeom>
          <a:solidFill>
            <a:srgbClr val="F0F7F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 </a:t>
            </a: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array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an array of </a:t>
            </a: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cxnSp>
        <p:nvCxnSpPr>
          <p:cNvPr id="234" name="Google Shape;234;p8"/>
          <p:cNvCxnSpPr/>
          <p:nvPr/>
        </p:nvCxnSpPr>
        <p:spPr>
          <a:xfrm flipH="1">
            <a:off x="1905000" y="762000"/>
            <a:ext cx="2286000" cy="1447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5" name="Google Shape;235;p8"/>
          <p:cNvSpPr txBox="1"/>
          <p:nvPr/>
        </p:nvSpPr>
        <p:spPr>
          <a:xfrm>
            <a:off x="6400800" y="1089991"/>
            <a:ext cx="2514600" cy="590550"/>
          </a:xfrm>
          <a:prstGeom prst="rect">
            <a:avLst/>
          </a:prstGeom>
          <a:solidFill>
            <a:srgbClr val="F0F7F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 uses initializer list to allocate array</a:t>
            </a:r>
            <a:endParaRPr/>
          </a:p>
        </p:txBody>
      </p:sp>
      <p:cxnSp>
        <p:nvCxnSpPr>
          <p:cNvPr id="236" name="Google Shape;236;p8"/>
          <p:cNvCxnSpPr/>
          <p:nvPr/>
        </p:nvCxnSpPr>
        <p:spPr>
          <a:xfrm flipH="1">
            <a:off x="3810000" y="1385266"/>
            <a:ext cx="2590800" cy="82453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7" name="Google Shape;237;p8"/>
          <p:cNvSpPr txBox="1"/>
          <p:nvPr/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>
              <a:solidFill>
                <a:srgbClr val="A59B9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"/>
          <p:cNvSpPr txBox="1">
            <a:spLocks noGrp="1"/>
          </p:cNvSpPr>
          <p:nvPr>
            <p:ph type="sldNum" idx="12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 txBox="1">
            <a:spLocks noGrp="1"/>
          </p:cNvSpPr>
          <p:nvPr>
            <p:ph type="title"/>
          </p:nvPr>
        </p:nvSpPr>
        <p:spPr>
          <a:xfrm>
            <a:off x="762000" y="1524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cap="small">
                <a:solidFill>
                  <a:srgbClr val="C00000"/>
                </a:solidFill>
              </a:rPr>
              <a:t>Important Notes</a:t>
            </a:r>
            <a:endParaRPr sz="3200" cap="small">
              <a:solidFill>
                <a:srgbClr val="C00000"/>
              </a:solidFill>
            </a:endParaRPr>
          </a:p>
        </p:txBody>
      </p:sp>
      <p:sp>
        <p:nvSpPr>
          <p:cNvPr id="244" name="Google Shape;244;p9"/>
          <p:cNvSpPr txBox="1">
            <a:spLocks noGrp="1"/>
          </p:cNvSpPr>
          <p:nvPr>
            <p:ph type="body" idx="1"/>
          </p:nvPr>
        </p:nvSpPr>
        <p:spPr>
          <a:xfrm>
            <a:off x="685800" y="1219200"/>
            <a:ext cx="8289925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</a:pPr>
            <a:r>
              <a:rPr lang="en-US"/>
              <a:t>Constant variables also are called </a:t>
            </a:r>
            <a:r>
              <a:rPr lang="en-US" b="1">
                <a:solidFill>
                  <a:srgbClr val="4F87C6"/>
                </a:solidFill>
              </a:rPr>
              <a:t>named constants</a:t>
            </a:r>
            <a:r>
              <a:rPr lang="en-US" b="1"/>
              <a:t> </a:t>
            </a:r>
            <a:r>
              <a:rPr lang="en-US"/>
              <a:t>or </a:t>
            </a:r>
            <a:r>
              <a:rPr lang="en-US" b="1">
                <a:solidFill>
                  <a:srgbClr val="4F87C6"/>
                </a:solidFill>
              </a:rPr>
              <a:t>read-only variables</a:t>
            </a:r>
            <a:r>
              <a:rPr lang="en-US" b="1"/>
              <a:t>. </a:t>
            </a:r>
            <a:endParaRPr b="1"/>
          </a:p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</a:pPr>
            <a:r>
              <a:rPr lang="en-US"/>
              <a:t>Declared with the keyword </a:t>
            </a:r>
            <a:r>
              <a:rPr lang="en-US" b="1">
                <a:solidFill>
                  <a:srgbClr val="4F87C6"/>
                </a:solidFill>
              </a:rPr>
              <a:t>Final</a:t>
            </a:r>
            <a:endParaRPr b="1"/>
          </a:p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</a:pPr>
            <a:r>
              <a:rPr lang="en-US"/>
              <a:t>Such variables often make programs more readable than programs that use literal values (e.g., 10)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—</a:t>
            </a:r>
            <a:r>
              <a:rPr lang="en-US"/>
              <a:t>a named constant such as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ARRAY_LENGTH</a:t>
            </a:r>
            <a:r>
              <a:rPr lang="en-US"/>
              <a:t> clearly indicates its purpose, whereas a literal value could have different meanings based on the context in which it is used.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</a:pPr>
            <a:r>
              <a:rPr lang="en-US"/>
              <a:t>Assigning a value to a constant after the variable has been initialized is a compilation error.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</a:pPr>
            <a:r>
              <a:rPr lang="en-US"/>
              <a:t>Attempting to use a constant before it is initialized is a compilation error.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af74611e0c_0_254"/>
          <p:cNvSpPr txBox="1">
            <a:spLocks noGrp="1"/>
          </p:cNvSpPr>
          <p:nvPr>
            <p:ph type="sldNum" idx="12"/>
          </p:nvPr>
        </p:nvSpPr>
        <p:spPr>
          <a:xfrm rot="-5400000">
            <a:off x="-1198647" y="4821151"/>
            <a:ext cx="2625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2af74611e0c_0_254"/>
          <p:cNvSpPr txBox="1">
            <a:spLocks noGrp="1"/>
          </p:cNvSpPr>
          <p:nvPr>
            <p:ph type="title"/>
          </p:nvPr>
        </p:nvSpPr>
        <p:spPr>
          <a:xfrm>
            <a:off x="762000" y="1524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cap="small">
                <a:solidFill>
                  <a:srgbClr val="C00000"/>
                </a:solidFill>
              </a:rPr>
              <a:t>Calculate the values to store in array</a:t>
            </a:r>
            <a:endParaRPr sz="3200" cap="small">
              <a:solidFill>
                <a:srgbClr val="C00000"/>
              </a:solidFill>
            </a:endParaRPr>
          </a:p>
        </p:txBody>
      </p:sp>
      <p:pic>
        <p:nvPicPr>
          <p:cNvPr id="251" name="Google Shape;251;g2af74611e0c_0_2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219200"/>
            <a:ext cx="8087500" cy="45034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2" name="Google Shape;252;g2af74611e0c_0_2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1325" y="4686300"/>
            <a:ext cx="1522675" cy="22332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7" name="Google Shape;257;p10"/>
          <p:cNvGraphicFramePr/>
          <p:nvPr/>
        </p:nvGraphicFramePr>
        <p:xfrm>
          <a:off x="533400" y="787400"/>
          <a:ext cx="7032625" cy="607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032625" imgH="6070600" progId="Word.Document.8">
                  <p:embed/>
                </p:oleObj>
              </mc:Choice>
              <mc:Fallback>
                <p:oleObj r:id="rId3" imgW="7032625" imgH="6070600" progId="Word.Document.8">
                  <p:embed/>
                  <p:pic>
                    <p:nvPicPr>
                      <p:cNvPr id="257" name="Google Shape;257;p10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533400" y="787400"/>
                        <a:ext cx="7032625" cy="607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8" name="Google Shape;258;p10"/>
          <p:cNvGrpSpPr/>
          <p:nvPr/>
        </p:nvGrpSpPr>
        <p:grpSpPr>
          <a:xfrm>
            <a:off x="3962400" y="1625600"/>
            <a:ext cx="4191000" cy="1066800"/>
            <a:chOff x="1584" y="384"/>
            <a:chExt cx="2640" cy="672"/>
          </a:xfrm>
        </p:grpSpPr>
        <p:sp>
          <p:nvSpPr>
            <p:cNvPr id="259" name="Google Shape;259;p10"/>
            <p:cNvSpPr txBox="1"/>
            <p:nvPr/>
          </p:nvSpPr>
          <p:spPr>
            <a:xfrm>
              <a:off x="2736" y="384"/>
              <a:ext cx="1488" cy="372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Declare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frequency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as array of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7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int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/>
            </a:p>
          </p:txBody>
        </p:sp>
        <p:cxnSp>
          <p:nvCxnSpPr>
            <p:cNvPr id="260" name="Google Shape;260;p10"/>
            <p:cNvCxnSpPr/>
            <p:nvPr/>
          </p:nvCxnSpPr>
          <p:spPr>
            <a:xfrm flipH="1">
              <a:off x="1584" y="576"/>
              <a:ext cx="1152" cy="48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61" name="Google Shape;261;p10"/>
          <p:cNvGrpSpPr/>
          <p:nvPr/>
        </p:nvGrpSpPr>
        <p:grpSpPr>
          <a:xfrm>
            <a:off x="4876800" y="2895790"/>
            <a:ext cx="4114800" cy="590550"/>
            <a:chOff x="2304" y="1296"/>
            <a:chExt cx="2592" cy="372"/>
          </a:xfrm>
        </p:grpSpPr>
        <p:sp>
          <p:nvSpPr>
            <p:cNvPr id="262" name="Google Shape;262;p10"/>
            <p:cNvSpPr txBox="1"/>
            <p:nvPr/>
          </p:nvSpPr>
          <p:spPr>
            <a:xfrm>
              <a:off x="3360" y="1296"/>
              <a:ext cx="1536" cy="372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Generate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6000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random integers in range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1-6</a:t>
              </a:r>
              <a:endParaRPr/>
            </a:p>
          </p:txBody>
        </p:sp>
        <p:cxnSp>
          <p:nvCxnSpPr>
            <p:cNvPr id="263" name="Google Shape;263;p10"/>
            <p:cNvCxnSpPr/>
            <p:nvPr/>
          </p:nvCxnSpPr>
          <p:spPr>
            <a:xfrm flipH="1">
              <a:off x="2304" y="1488"/>
              <a:ext cx="1056" cy="18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64" name="Google Shape;264;p10"/>
          <p:cNvGrpSpPr/>
          <p:nvPr/>
        </p:nvGrpSpPr>
        <p:grpSpPr>
          <a:xfrm>
            <a:off x="1676077" y="3683000"/>
            <a:ext cx="7163123" cy="742950"/>
            <a:chOff x="363" y="2304"/>
            <a:chExt cx="4437" cy="468"/>
          </a:xfrm>
        </p:grpSpPr>
        <p:sp>
          <p:nvSpPr>
            <p:cNvPr id="265" name="Google Shape;265;p10"/>
            <p:cNvSpPr txBox="1"/>
            <p:nvPr/>
          </p:nvSpPr>
          <p:spPr>
            <a:xfrm>
              <a:off x="2736" y="2400"/>
              <a:ext cx="2064" cy="372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Increment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frequency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values at index associated with random number</a:t>
              </a:r>
              <a:endParaRPr/>
            </a:p>
          </p:txBody>
        </p:sp>
        <p:cxnSp>
          <p:nvCxnSpPr>
            <p:cNvPr id="266" name="Google Shape;266;p10"/>
            <p:cNvCxnSpPr/>
            <p:nvPr/>
          </p:nvCxnSpPr>
          <p:spPr>
            <a:xfrm rot="10800000">
              <a:off x="363" y="2304"/>
              <a:ext cx="2373" cy="28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67" name="Google Shape;267;p10"/>
          <p:cNvSpPr txBox="1"/>
          <p:nvPr/>
        </p:nvSpPr>
        <p:spPr>
          <a:xfrm>
            <a:off x="533400" y="6824"/>
            <a:ext cx="723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Examples Using Arrays (Cont.)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 txBox="1">
            <a:spLocks noGrp="1"/>
          </p:cNvSpPr>
          <p:nvPr>
            <p:ph type="sldNum" idx="12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"/>
          <p:cNvSpPr txBox="1">
            <a:spLocks noGrp="1"/>
          </p:cNvSpPr>
          <p:nvPr>
            <p:ph type="body" idx="1"/>
          </p:nvPr>
        </p:nvSpPr>
        <p:spPr>
          <a:xfrm>
            <a:off x="533400" y="838200"/>
            <a:ext cx="81534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Using arrays to analyze survey results</a:t>
            </a:r>
            <a:endParaRPr/>
          </a:p>
          <a:p>
            <a:pPr marL="796925" lvl="1" indent="-4000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/>
              <a:t>40 students rate the quality of food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1-10</a:t>
            </a:r>
            <a:r>
              <a:rPr lang="en-US" sz="2400"/>
              <a:t> Rating scale: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1</a:t>
            </a:r>
            <a:r>
              <a:rPr lang="en-US" sz="2400"/>
              <a:t> mean awful,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10</a:t>
            </a:r>
            <a:r>
              <a:rPr lang="en-US" sz="2400"/>
              <a:t> means excellent</a:t>
            </a:r>
            <a:endParaRPr/>
          </a:p>
          <a:p>
            <a:pPr marL="796925" lvl="1" indent="-4000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/>
              <a:t>Place 40 responses in array of integers</a:t>
            </a:r>
            <a:endParaRPr/>
          </a:p>
          <a:p>
            <a:pPr marL="796925" lvl="1" indent="-4000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/>
              <a:t>Summarize results</a:t>
            </a:r>
            <a:endParaRPr/>
          </a:p>
        </p:txBody>
      </p:sp>
      <p:sp>
        <p:nvSpPr>
          <p:cNvPr id="274" name="Google Shape;274;p11"/>
          <p:cNvSpPr txBox="1">
            <a:spLocks noGrp="1"/>
          </p:cNvSpPr>
          <p:nvPr>
            <p:ph type="sldNum" idx="12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 txBox="1"/>
          <p:nvPr/>
        </p:nvSpPr>
        <p:spPr>
          <a:xfrm>
            <a:off x="533400" y="152400"/>
            <a:ext cx="723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Examples Using Arrays (Cont.)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6" name="Google Shape;276;p11"/>
          <p:cNvGraphicFramePr/>
          <p:nvPr/>
        </p:nvGraphicFramePr>
        <p:xfrm>
          <a:off x="990600" y="3581400"/>
          <a:ext cx="7048500" cy="233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048500" imgH="2332038" progId="Word.Document.8">
                  <p:embed/>
                </p:oleObj>
              </mc:Choice>
              <mc:Fallback>
                <p:oleObj r:id="rId3" imgW="7048500" imgH="2332038" progId="Word.Document.8">
                  <p:embed/>
                  <p:pic>
                    <p:nvPicPr>
                      <p:cNvPr id="276" name="Google Shape;276;p11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990600" y="3581400"/>
                        <a:ext cx="7048500" cy="233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"/>
          <p:cNvSpPr txBox="1">
            <a:spLocks noGrp="1"/>
          </p:cNvSpPr>
          <p:nvPr>
            <p:ph type="sldNum" idx="12"/>
          </p:nvPr>
        </p:nvSpPr>
        <p:spPr>
          <a:xfrm>
            <a:off x="7010400" y="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graphicFrame>
        <p:nvGraphicFramePr>
          <p:cNvPr id="282" name="Google Shape;282;p12"/>
          <p:cNvGraphicFramePr/>
          <p:nvPr/>
        </p:nvGraphicFramePr>
        <p:xfrm>
          <a:off x="523875" y="614363"/>
          <a:ext cx="7486650" cy="601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486650" imgH="6016625" progId="Word.Document.8">
                  <p:embed/>
                </p:oleObj>
              </mc:Choice>
              <mc:Fallback>
                <p:oleObj r:id="rId3" imgW="7486650" imgH="6016625" progId="Word.Document.8">
                  <p:embed/>
                  <p:pic>
                    <p:nvPicPr>
                      <p:cNvPr id="282" name="Google Shape;282;p12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523875" y="614363"/>
                        <a:ext cx="7486650" cy="601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3" name="Google Shape;283;p12"/>
          <p:cNvGrpSpPr/>
          <p:nvPr/>
        </p:nvGrpSpPr>
        <p:grpSpPr>
          <a:xfrm>
            <a:off x="2361693" y="993531"/>
            <a:ext cx="5405438" cy="1371600"/>
            <a:chOff x="1138" y="672"/>
            <a:chExt cx="3405" cy="864"/>
          </a:xfrm>
        </p:grpSpPr>
        <p:sp>
          <p:nvSpPr>
            <p:cNvPr id="284" name="Google Shape;284;p12"/>
            <p:cNvSpPr txBox="1"/>
            <p:nvPr/>
          </p:nvSpPr>
          <p:spPr>
            <a:xfrm>
              <a:off x="3024" y="672"/>
              <a:ext cx="1519" cy="372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Declare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responses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as array to store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40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responses</a:t>
              </a:r>
              <a:endParaRPr/>
            </a:p>
          </p:txBody>
        </p:sp>
        <p:cxnSp>
          <p:nvCxnSpPr>
            <p:cNvPr id="285" name="Google Shape;285;p12"/>
            <p:cNvCxnSpPr/>
            <p:nvPr/>
          </p:nvCxnSpPr>
          <p:spPr>
            <a:xfrm flipH="1">
              <a:off x="1138" y="864"/>
              <a:ext cx="1886" cy="67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86" name="Google Shape;286;p12"/>
          <p:cNvGrpSpPr/>
          <p:nvPr/>
        </p:nvGrpSpPr>
        <p:grpSpPr>
          <a:xfrm>
            <a:off x="2514958" y="2365131"/>
            <a:ext cx="6476641" cy="1047343"/>
            <a:chOff x="1302" y="1104"/>
            <a:chExt cx="3882" cy="372"/>
          </a:xfrm>
        </p:grpSpPr>
        <p:sp>
          <p:nvSpPr>
            <p:cNvPr id="287" name="Google Shape;287;p12"/>
            <p:cNvSpPr txBox="1"/>
            <p:nvPr/>
          </p:nvSpPr>
          <p:spPr>
            <a:xfrm>
              <a:off x="3168" y="1104"/>
              <a:ext cx="2016" cy="372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Declare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frequency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as array of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11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int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ignore the first element</a:t>
              </a:r>
              <a:endParaRPr/>
            </a:p>
          </p:txBody>
        </p:sp>
        <p:cxnSp>
          <p:nvCxnSpPr>
            <p:cNvPr id="288" name="Google Shape;288;p12"/>
            <p:cNvCxnSpPr/>
            <p:nvPr/>
          </p:nvCxnSpPr>
          <p:spPr>
            <a:xfrm flipH="1">
              <a:off x="1302" y="1344"/>
              <a:ext cx="1866" cy="5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89" name="Google Shape;289;p12"/>
          <p:cNvGrpSpPr/>
          <p:nvPr/>
        </p:nvGrpSpPr>
        <p:grpSpPr>
          <a:xfrm>
            <a:off x="2514588" y="4117731"/>
            <a:ext cx="6629412" cy="1292469"/>
            <a:chOff x="899" y="2208"/>
            <a:chExt cx="4105" cy="526"/>
          </a:xfrm>
        </p:grpSpPr>
        <p:sp>
          <p:nvSpPr>
            <p:cNvPr id="290" name="Google Shape;290;p12"/>
            <p:cNvSpPr txBox="1"/>
            <p:nvPr/>
          </p:nvSpPr>
          <p:spPr>
            <a:xfrm>
              <a:off x="3264" y="2208"/>
              <a:ext cx="1740" cy="526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each response, increment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frequency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values at index associated with that response</a:t>
              </a:r>
              <a:endParaRPr/>
            </a:p>
          </p:txBody>
        </p:sp>
        <p:cxnSp>
          <p:nvCxnSpPr>
            <p:cNvPr id="291" name="Google Shape;291;p12"/>
            <p:cNvCxnSpPr/>
            <p:nvPr/>
          </p:nvCxnSpPr>
          <p:spPr>
            <a:xfrm rot="10800000">
              <a:off x="899" y="2393"/>
              <a:ext cx="2365" cy="5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92" name="Google Shape;292;p12"/>
          <p:cNvSpPr txBox="1"/>
          <p:nvPr/>
        </p:nvSpPr>
        <p:spPr>
          <a:xfrm rot="-5400000">
            <a:off x="-1198683" y="4932485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200" b="0">
              <a:solidFill>
                <a:srgbClr val="A59B9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"/>
          <p:cNvSpPr txBox="1">
            <a:spLocks noGrp="1"/>
          </p:cNvSpPr>
          <p:nvPr>
            <p:ph type="sldNum" idx="12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999413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cap="small">
                <a:solidFill>
                  <a:srgbClr val="C00000"/>
                </a:solidFill>
              </a:rPr>
              <a:t>Error-Prevention Tips</a:t>
            </a:r>
            <a:endParaRPr sz="3200" cap="small">
              <a:solidFill>
                <a:srgbClr val="C00000"/>
              </a:solidFill>
            </a:endParaRPr>
          </a:p>
        </p:txBody>
      </p:sp>
      <p:sp>
        <p:nvSpPr>
          <p:cNvPr id="299" name="Google Shape;299;p13"/>
          <p:cNvSpPr txBox="1">
            <a:spLocks noGrp="1"/>
          </p:cNvSpPr>
          <p:nvPr>
            <p:ph type="body" idx="1"/>
          </p:nvPr>
        </p:nvSpPr>
        <p:spPr>
          <a:xfrm>
            <a:off x="533400" y="1219200"/>
            <a:ext cx="8442325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</a:pPr>
            <a:r>
              <a:rPr lang="en-US"/>
              <a:t>When writing code to loop through an array, ensure that the array index is always greater than or equal to 0 and less than the length of the array. The loop-continuation condition should prevent the accessing of elements outside this range.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</a:pPr>
            <a:r>
              <a:rPr lang="en-US"/>
              <a:t>An exception indicates that an error has occurred in a program. A programmer often can write code to recover from an exception and continue program execution, rather than abnormally terminating the program. When a program attempts to access an element outside the array bounds, an </a:t>
            </a:r>
            <a:r>
              <a:rPr lang="en-US" sz="2400" b="1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ArrayIndexOutOfBoundsException</a:t>
            </a:r>
            <a:r>
              <a:rPr lang="en-US" b="1">
                <a:solidFill>
                  <a:srgbClr val="0000FF"/>
                </a:solidFill>
              </a:rPr>
              <a:t> </a:t>
            </a:r>
            <a:r>
              <a:rPr lang="en-US"/>
              <a:t>occurs.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"/>
          <p:cNvSpPr txBox="1">
            <a:spLocks noGrp="1"/>
          </p:cNvSpPr>
          <p:nvPr>
            <p:ph type="sldNum" idx="12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23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cap="small">
                <a:solidFill>
                  <a:srgbClr val="C00000"/>
                </a:solidFill>
              </a:rPr>
              <a:t>Enhanced For Loop Statement</a:t>
            </a:r>
            <a:endParaRPr sz="3200" cap="small">
              <a:solidFill>
                <a:srgbClr val="C00000"/>
              </a:solidFill>
            </a:endParaRPr>
          </a:p>
        </p:txBody>
      </p:sp>
      <p:sp>
        <p:nvSpPr>
          <p:cNvPr id="306" name="Google Shape;306;p14"/>
          <p:cNvSpPr txBox="1">
            <a:spLocks noGrp="1"/>
          </p:cNvSpPr>
          <p:nvPr>
            <p:ph type="body" idx="1"/>
          </p:nvPr>
        </p:nvSpPr>
        <p:spPr>
          <a:xfrm>
            <a:off x="609600" y="990600"/>
            <a:ext cx="80772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»"/>
            </a:pPr>
            <a:r>
              <a:rPr lang="en-US" sz="3200"/>
              <a:t>Enhanced </a:t>
            </a:r>
            <a:r>
              <a:rPr lang="en-US">
                <a:latin typeface="Droid Sans Mono"/>
                <a:ea typeface="Droid Sans Mono"/>
                <a:cs typeface="Droid Sans Mono"/>
                <a:sym typeface="Droid Sans Mono"/>
              </a:rPr>
              <a:t>for</a:t>
            </a:r>
            <a:r>
              <a:rPr lang="en-US"/>
              <a:t> </a:t>
            </a:r>
            <a:r>
              <a:rPr lang="en-US" sz="3200"/>
              <a:t>statement</a:t>
            </a:r>
            <a:endParaRPr/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Allows </a:t>
            </a:r>
            <a:r>
              <a:rPr lang="en-US" sz="2400" b="1">
                <a:solidFill>
                  <a:srgbClr val="0000FF"/>
                </a:solidFill>
              </a:rPr>
              <a:t>iterates through elements </a:t>
            </a:r>
            <a:r>
              <a:rPr lang="en-US" sz="2400"/>
              <a:t>of an array or a collection without using a counter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Avoiding the possibility of “stepping outside” the array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Syntax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Droid Sans Mono"/>
              <a:buNone/>
            </a:pPr>
            <a:r>
              <a:rPr lang="en-US" sz="240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for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 (</a:t>
            </a:r>
            <a:r>
              <a:rPr lang="en-US" sz="2400" i="1">
                <a:latin typeface="Droid Sans Mono"/>
                <a:ea typeface="Droid Sans Mono"/>
                <a:cs typeface="Droid Sans Mono"/>
                <a:sym typeface="Droid Sans Mono"/>
              </a:rPr>
              <a:t>parameter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 : </a:t>
            </a:r>
            <a:r>
              <a:rPr lang="en-US" sz="2400" i="1">
                <a:latin typeface="Droid Sans Mono"/>
                <a:ea typeface="Droid Sans Mono"/>
                <a:cs typeface="Droid Sans Mono"/>
                <a:sym typeface="Droid Sans Mono"/>
              </a:rPr>
              <a:t>arrayName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)</a:t>
            </a:r>
            <a:endParaRPr sz="24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1600200" lvl="3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1">
                <a:latin typeface="Droid Sans Mono"/>
                <a:ea typeface="Droid Sans Mono"/>
                <a:cs typeface="Droid Sans Mono"/>
                <a:sym typeface="Droid Sans Mono"/>
              </a:rPr>
              <a:t>statement</a:t>
            </a:r>
            <a:endParaRPr sz="240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where parameter has a </a:t>
            </a:r>
            <a:r>
              <a:rPr lang="en-US" sz="2400">
                <a:solidFill>
                  <a:srgbClr val="FF0000"/>
                </a:solidFill>
              </a:rPr>
              <a:t>type</a:t>
            </a:r>
            <a:r>
              <a:rPr lang="en-US" sz="2400"/>
              <a:t> and an </a:t>
            </a:r>
            <a:r>
              <a:rPr lang="en-US" sz="2400">
                <a:solidFill>
                  <a:srgbClr val="FF0000"/>
                </a:solidFill>
              </a:rPr>
              <a:t>identifier.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type of the parameter must be consistent with the type of the elements in the array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1" name="Google Shape;311;p15"/>
          <p:cNvGraphicFramePr/>
          <p:nvPr/>
        </p:nvGraphicFramePr>
        <p:xfrm>
          <a:off x="457200" y="1381125"/>
          <a:ext cx="8372475" cy="500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372475" imgH="5006975" progId="Word.Document.8">
                  <p:embed/>
                </p:oleObj>
              </mc:Choice>
              <mc:Fallback>
                <p:oleObj r:id="rId3" imgW="8372475" imgH="5006975" progId="Word.Document.8">
                  <p:embed/>
                  <p:pic>
                    <p:nvPicPr>
                      <p:cNvPr id="311" name="Google Shape;311;p15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457200" y="1381125"/>
                        <a:ext cx="8372475" cy="500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2" name="Google Shape;312;p15"/>
          <p:cNvGrpSpPr/>
          <p:nvPr/>
        </p:nvGrpSpPr>
        <p:grpSpPr>
          <a:xfrm>
            <a:off x="2895600" y="1982293"/>
            <a:ext cx="5886451" cy="2132508"/>
            <a:chOff x="1248" y="1161"/>
            <a:chExt cx="3708" cy="732"/>
          </a:xfrm>
        </p:grpSpPr>
        <p:sp>
          <p:nvSpPr>
            <p:cNvPr id="313" name="Google Shape;313;p15"/>
            <p:cNvSpPr txBox="1"/>
            <p:nvPr/>
          </p:nvSpPr>
          <p:spPr>
            <a:xfrm>
              <a:off x="2652" y="1161"/>
              <a:ext cx="2304" cy="317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each iteration, assign the next element of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array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to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int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variable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number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then add it to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total</a:t>
              </a:r>
              <a:endParaRPr/>
            </a:p>
          </p:txBody>
        </p:sp>
        <p:cxnSp>
          <p:nvCxnSpPr>
            <p:cNvPr id="314" name="Google Shape;314;p15"/>
            <p:cNvCxnSpPr/>
            <p:nvPr/>
          </p:nvCxnSpPr>
          <p:spPr>
            <a:xfrm flipH="1">
              <a:off x="1248" y="1248"/>
              <a:ext cx="1605" cy="64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315" name="Google Shape;315;p15"/>
          <p:cNvSpPr txBox="1"/>
          <p:nvPr/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 b="0">
              <a:solidFill>
                <a:srgbClr val="A59B9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23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cap="small">
                <a:solidFill>
                  <a:srgbClr val="C00000"/>
                </a:solidFill>
              </a:rPr>
              <a:t>Enhanced For Loop Statement</a:t>
            </a:r>
            <a:endParaRPr sz="3200" cap="small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"/>
          <p:cNvSpPr txBox="1">
            <a:spLocks noGrp="1"/>
          </p:cNvSpPr>
          <p:nvPr>
            <p:ph type="sldNum" idx="12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 txBox="1">
            <a:spLocks noGrp="1"/>
          </p:cNvSpPr>
          <p:nvPr>
            <p:ph type="body" idx="1"/>
          </p:nvPr>
        </p:nvSpPr>
        <p:spPr>
          <a:xfrm>
            <a:off x="304800" y="838200"/>
            <a:ext cx="88392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»"/>
            </a:pPr>
            <a:r>
              <a:rPr lang="en-US" sz="3200"/>
              <a:t>Lines 12-13 are equivalent to</a:t>
            </a:r>
            <a:endParaRPr sz="3200"/>
          </a:p>
          <a:p>
            <a:pPr marL="742950" lvl="0" indent="-28575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for</a:t>
            </a:r>
            <a:r>
              <a:rPr lang="en-US" sz="1900" b="1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(</a:t>
            </a:r>
            <a:r>
              <a:rPr lang="en-US" sz="1900" b="1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1900" b="1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number : array)</a:t>
            </a:r>
            <a:br>
              <a:rPr lang="en-US" sz="1900" b="1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lang="en-US" sz="1900" b="1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total += number;</a:t>
            </a:r>
            <a:endParaRPr sz="3200" b="1"/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1900" b="1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for</a:t>
            </a:r>
            <a:r>
              <a:rPr lang="en-US" sz="1900" b="1">
                <a:latin typeface="Droid Sans Mono"/>
                <a:ea typeface="Droid Sans Mono"/>
                <a:cs typeface="Droid Sans Mono"/>
                <a:sym typeface="Droid Sans Mono"/>
              </a:rPr>
              <a:t> (</a:t>
            </a:r>
            <a:r>
              <a:rPr lang="en-US" sz="1900" b="1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1900" b="1">
                <a:latin typeface="Droid Sans Mono"/>
                <a:ea typeface="Droid Sans Mono"/>
                <a:cs typeface="Droid Sans Mono"/>
                <a:sym typeface="Droid Sans Mono"/>
              </a:rPr>
              <a:t> counter = </a:t>
            </a:r>
            <a:r>
              <a:rPr lang="en-US" sz="1900" b="1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0</a:t>
            </a:r>
            <a:r>
              <a:rPr lang="en-US" sz="1900" b="1">
                <a:latin typeface="Droid Sans Mono"/>
                <a:ea typeface="Droid Sans Mono"/>
                <a:cs typeface="Droid Sans Mono"/>
                <a:sym typeface="Droid Sans Mono"/>
              </a:rPr>
              <a:t>; counter &lt; array.length; counter++)</a:t>
            </a:r>
            <a:br>
              <a:rPr lang="en-US" sz="1900" b="1"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lang="en-US" sz="1900" b="1">
                <a:latin typeface="Droid Sans Mono"/>
                <a:ea typeface="Droid Sans Mono"/>
                <a:cs typeface="Droid Sans Mono"/>
                <a:sym typeface="Droid Sans Mono"/>
              </a:rPr>
              <a:t>  total += array[ counter ];</a:t>
            </a:r>
            <a:endParaRPr sz="1900" b="1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»"/>
            </a:pPr>
            <a:r>
              <a:rPr lang="en-US" sz="3200"/>
              <a:t>Usage Limitations</a:t>
            </a:r>
            <a:endParaRPr sz="320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˃"/>
            </a:pPr>
            <a:r>
              <a:rPr lang="en-US" sz="2400"/>
              <a:t>Can access array elements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˃"/>
            </a:pPr>
            <a:r>
              <a:rPr lang="en-US" sz="2400">
                <a:solidFill>
                  <a:srgbClr val="FF0000"/>
                </a:solidFill>
              </a:rPr>
              <a:t>Cannot</a:t>
            </a:r>
            <a:r>
              <a:rPr lang="en-US" sz="2400"/>
              <a:t> modify array elements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˃"/>
            </a:pPr>
            <a:r>
              <a:rPr lang="en-US" sz="2400"/>
              <a:t>Cannot access the counter indicating the index </a:t>
            </a:r>
            <a:endParaRPr/>
          </a:p>
        </p:txBody>
      </p:sp>
      <p:sp>
        <p:nvSpPr>
          <p:cNvPr id="323" name="Google Shape;323;p1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23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cap="small">
                <a:solidFill>
                  <a:srgbClr val="C00000"/>
                </a:solidFill>
              </a:rPr>
              <a:t>Enhanced For Loop Statement</a:t>
            </a:r>
            <a:endParaRPr sz="3200" cap="small">
              <a:solidFill>
                <a:srgbClr val="C00000"/>
              </a:solidFill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699675" y="1330875"/>
            <a:ext cx="6006000" cy="754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699675" y="2488700"/>
            <a:ext cx="8321100" cy="754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7287800" y="1330875"/>
            <a:ext cx="1627200" cy="827700"/>
          </a:xfrm>
          <a:prstGeom prst="cloudCallout">
            <a:avLst>
              <a:gd name="adj1" fmla="val -63821"/>
              <a:gd name="adj2" fmla="val 61170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SAME</a:t>
            </a:r>
            <a:endParaRPr sz="2000" b="1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"/>
          <p:cNvSpPr txBox="1">
            <a:spLocks noGrp="1"/>
          </p:cNvSpPr>
          <p:nvPr>
            <p:ph type="sldNum" idx="12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800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cap="small">
                <a:solidFill>
                  <a:srgbClr val="C00000"/>
                </a:solidFill>
              </a:rPr>
              <a:t>Passing Arrays to Methods</a:t>
            </a:r>
            <a:endParaRPr/>
          </a:p>
        </p:txBody>
      </p:sp>
      <p:sp>
        <p:nvSpPr>
          <p:cNvPr id="333" name="Google Shape;333;p17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To pass array argument to a method</a:t>
            </a:r>
            <a:endParaRPr/>
          </a:p>
          <a:p>
            <a:pPr marL="796925" lvl="1" indent="-4000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/>
              <a:t>Specify array name </a:t>
            </a:r>
            <a:r>
              <a:rPr lang="en-US" sz="2400" b="1">
                <a:solidFill>
                  <a:srgbClr val="CC4125"/>
                </a:solidFill>
              </a:rPr>
              <a:t>without brackets</a:t>
            </a:r>
            <a:endParaRPr b="1">
              <a:solidFill>
                <a:srgbClr val="CC4125"/>
              </a:solidFill>
            </a:endParaRPr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Array </a:t>
            </a:r>
            <a:r>
              <a:rPr lang="en-US" sz="2000">
                <a:latin typeface="Droid Sans Mono"/>
                <a:ea typeface="Droid Sans Mono"/>
                <a:cs typeface="Droid Sans Mono"/>
                <a:sym typeface="Droid Sans Mono"/>
              </a:rPr>
              <a:t>hourlyTemperatures</a:t>
            </a:r>
            <a:r>
              <a:rPr lang="en-US" sz="2000"/>
              <a:t> is declared as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Droid Sans Mono"/>
              <a:buNone/>
            </a:pPr>
            <a:r>
              <a:rPr lang="en-US" sz="2000">
                <a:solidFill>
                  <a:schemeClr val="hlink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</a:t>
            </a:r>
            <a:r>
              <a:rPr lang="en-US" sz="2000" b="1">
                <a:solidFill>
                  <a:schemeClr val="hlink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en-US" sz="2000" b="1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2000" b="1">
                <a:latin typeface="Droid Sans Mono"/>
                <a:ea typeface="Droid Sans Mono"/>
                <a:cs typeface="Droid Sans Mono"/>
                <a:sym typeface="Droid Sans Mono"/>
              </a:rPr>
              <a:t> hourlyTemperatures[] = </a:t>
            </a:r>
            <a:r>
              <a:rPr lang="en-US" sz="2000" b="1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new</a:t>
            </a:r>
            <a:r>
              <a:rPr lang="en-US" sz="2000" b="1"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en-US" sz="2000" b="1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2000" b="1">
                <a:latin typeface="Droid Sans Mono"/>
                <a:ea typeface="Droid Sans Mono"/>
                <a:cs typeface="Droid Sans Mono"/>
                <a:sym typeface="Droid Sans Mono"/>
              </a:rPr>
              <a:t>[ </a:t>
            </a:r>
            <a:r>
              <a:rPr lang="en-US" sz="2000" b="1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24</a:t>
            </a:r>
            <a:r>
              <a:rPr lang="en-US" sz="2000" b="1">
                <a:latin typeface="Droid Sans Mono"/>
                <a:ea typeface="Droid Sans Mono"/>
                <a:cs typeface="Droid Sans Mono"/>
                <a:sym typeface="Droid Sans Mono"/>
              </a:rPr>
              <a:t> ];</a:t>
            </a:r>
            <a:br>
              <a:rPr lang="en-US" sz="2000" b="1">
                <a:latin typeface="Droid Sans Mono"/>
                <a:ea typeface="Droid Sans Mono"/>
                <a:cs typeface="Droid Sans Mono"/>
                <a:sym typeface="Droid Sans Mono"/>
              </a:rPr>
            </a:br>
            <a:endParaRPr sz="2000" b="1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The method call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roid Sans Mono"/>
              <a:buNone/>
            </a:pPr>
            <a:r>
              <a:rPr lang="en-US" sz="2000">
                <a:latin typeface="Droid Sans Mono"/>
                <a:ea typeface="Droid Sans Mono"/>
                <a:cs typeface="Droid Sans Mono"/>
                <a:sym typeface="Droid Sans Mono"/>
              </a:rPr>
              <a:t>	   </a:t>
            </a:r>
            <a:r>
              <a:rPr lang="en-US" sz="2000" b="1">
                <a:latin typeface="Droid Sans Mono"/>
                <a:ea typeface="Droid Sans Mono"/>
                <a:cs typeface="Droid Sans Mono"/>
                <a:sym typeface="Droid Sans Mono"/>
              </a:rPr>
              <a:t>modifyArray( hourlyTemperatures );</a:t>
            </a:r>
            <a:br>
              <a:rPr lang="en-US" sz="2000" b="1">
                <a:latin typeface="Droid Sans Mono"/>
                <a:ea typeface="Droid Sans Mono"/>
                <a:cs typeface="Droid Sans Mono"/>
                <a:sym typeface="Droid Sans Mono"/>
              </a:rPr>
            </a:br>
            <a:endParaRPr sz="2000" b="1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Passes array </a:t>
            </a:r>
            <a:r>
              <a:rPr lang="en-US" sz="2000">
                <a:latin typeface="Droid Sans Mono"/>
                <a:ea typeface="Droid Sans Mono"/>
                <a:cs typeface="Droid Sans Mono"/>
                <a:sym typeface="Droid Sans Mono"/>
              </a:rPr>
              <a:t>hourlyTemperatures</a:t>
            </a:r>
            <a:r>
              <a:rPr lang="en-US" sz="2000"/>
              <a:t> to method </a:t>
            </a:r>
            <a:r>
              <a:rPr lang="en-US" sz="2000">
                <a:latin typeface="Droid Sans Mono"/>
                <a:ea typeface="Droid Sans Mono"/>
                <a:cs typeface="Droid Sans Mono"/>
                <a:sym typeface="Droid Sans Mono"/>
              </a:rPr>
              <a:t>modifyArray</a:t>
            </a:r>
            <a:endParaRPr sz="20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endParaRPr sz="3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af83c53717_0_10"/>
          <p:cNvSpPr txBox="1">
            <a:spLocks noGrp="1"/>
          </p:cNvSpPr>
          <p:nvPr>
            <p:ph type="sldNum" idx="12"/>
          </p:nvPr>
        </p:nvSpPr>
        <p:spPr>
          <a:xfrm rot="-5400000">
            <a:off x="-1198647" y="4821151"/>
            <a:ext cx="2625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2af83c53717_0_10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800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cap="small">
                <a:solidFill>
                  <a:srgbClr val="C00000"/>
                </a:solidFill>
              </a:rPr>
              <a:t>Passing Arrays to Methods</a:t>
            </a:r>
            <a:endParaRPr/>
          </a:p>
        </p:txBody>
      </p:sp>
      <p:sp>
        <p:nvSpPr>
          <p:cNvPr id="340" name="Google Shape;340;g2af83c53717_0_10"/>
          <p:cNvSpPr txBox="1"/>
          <p:nvPr/>
        </p:nvSpPr>
        <p:spPr>
          <a:xfrm>
            <a:off x="394050" y="3099975"/>
            <a:ext cx="85845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✔   </a:t>
            </a:r>
            <a:r>
              <a:rPr lang="en-US" sz="1800" b="1"/>
              <a:t>Valid Call:</a:t>
            </a:r>
            <a:r>
              <a:rPr lang="en-US" sz="1800"/>
              <a:t>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printArray(numbers);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❌ </a:t>
            </a:r>
            <a:r>
              <a:rPr lang="en-US" sz="1800" b="1"/>
              <a:t>Invalid Call:</a:t>
            </a:r>
            <a:r>
              <a:rPr lang="en-US" sz="1800"/>
              <a:t>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printArray(int[] numbers);</a:t>
            </a:r>
            <a:r>
              <a:rPr lang="en-US" sz="1800"/>
              <a:t> 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// (Array type and square brackets are not allowed in method call)</a:t>
            </a:r>
            <a:endParaRPr sz="2100"/>
          </a:p>
        </p:txBody>
      </p:sp>
      <p:sp>
        <p:nvSpPr>
          <p:cNvPr id="341" name="Google Shape;341;g2af83c53717_0_10"/>
          <p:cNvSpPr txBox="1"/>
          <p:nvPr/>
        </p:nvSpPr>
        <p:spPr>
          <a:xfrm>
            <a:off x="394050" y="1261750"/>
            <a:ext cx="85845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While calling a method with passing array as parameter, </a:t>
            </a:r>
            <a:r>
              <a:rPr lang="en-US" sz="1900" b="1"/>
              <a:t>you cannot use</a:t>
            </a:r>
            <a:r>
              <a:rPr lang="en-US" sz="1900"/>
              <a:t> the array </a:t>
            </a:r>
            <a:r>
              <a:rPr lang="en-US" sz="1900" b="1"/>
              <a:t>type</a:t>
            </a:r>
            <a:r>
              <a:rPr lang="en-US" sz="1900"/>
              <a:t> and </a:t>
            </a:r>
            <a:r>
              <a:rPr lang="en-US" sz="1900" b="1"/>
              <a:t>square brackets</a:t>
            </a:r>
            <a:r>
              <a:rPr lang="en-US" sz="1900"/>
              <a:t>.</a:t>
            </a:r>
            <a:endParaRPr sz="1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af83c53717_0_17"/>
          <p:cNvSpPr txBox="1">
            <a:spLocks noGrp="1"/>
          </p:cNvSpPr>
          <p:nvPr>
            <p:ph type="sldNum" idx="12"/>
          </p:nvPr>
        </p:nvSpPr>
        <p:spPr>
          <a:xfrm rot="-5400000">
            <a:off x="-1198647" y="4821151"/>
            <a:ext cx="2625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2af83c53717_0_17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800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cap="small">
                <a:solidFill>
                  <a:srgbClr val="C00000"/>
                </a:solidFill>
              </a:rPr>
              <a:t>Defining Methods with Array Parameters</a:t>
            </a:r>
            <a:endParaRPr/>
          </a:p>
        </p:txBody>
      </p:sp>
      <p:sp>
        <p:nvSpPr>
          <p:cNvPr id="348" name="Google Shape;348;g2af83c53717_0_17"/>
          <p:cNvSpPr txBox="1"/>
          <p:nvPr/>
        </p:nvSpPr>
        <p:spPr>
          <a:xfrm>
            <a:off x="419300" y="1019600"/>
            <a:ext cx="8875200" cy="43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You cannot skip</a:t>
            </a:r>
            <a:r>
              <a:rPr lang="en-US" sz="1900"/>
              <a:t> the array </a:t>
            </a:r>
            <a:r>
              <a:rPr lang="en-US" sz="1900" b="1"/>
              <a:t>type</a:t>
            </a:r>
            <a:r>
              <a:rPr lang="en-US" sz="1900"/>
              <a:t> and </a:t>
            </a:r>
            <a:r>
              <a:rPr lang="en-US" sz="1900" b="1"/>
              <a:t>square brackets</a:t>
            </a:r>
            <a:r>
              <a:rPr lang="en-US" sz="1900"/>
              <a:t> when defining a method.</a:t>
            </a:r>
            <a:endParaRPr sz="1900"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b="1" u="sng"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u="sng"/>
              <a:t>Valid ways to declare an array parameter:</a:t>
            </a:r>
            <a:br>
              <a:rPr lang="en-US" sz="1900" b="1"/>
            </a:br>
            <a:r>
              <a:rPr lang="en-US" sz="1900"/>
              <a:t>✅ 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public static void printArray(int[] arr)</a:t>
            </a:r>
            <a:r>
              <a:rPr lang="en-US" sz="1900"/>
              <a:t> </a:t>
            </a:r>
            <a:r>
              <a:rPr lang="en-US" sz="1900" i="1"/>
              <a:t>(Preferred syntax)</a:t>
            </a:r>
            <a:br>
              <a:rPr lang="en-US" sz="1900" i="1"/>
            </a:br>
            <a:r>
              <a:rPr lang="en-US" sz="1900"/>
              <a:t>✅ 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public static void printArray(int arr[])</a:t>
            </a:r>
            <a:r>
              <a:rPr lang="en-US" sz="1900"/>
              <a:t> </a:t>
            </a:r>
            <a:r>
              <a:rPr lang="en-US" sz="1900" i="1"/>
              <a:t>(Less common/ valid)</a:t>
            </a:r>
            <a:endParaRPr sz="1900" i="1"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b="1" u="sng"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u="sng"/>
              <a:t>Invalid syntax:</a:t>
            </a:r>
            <a:br>
              <a:rPr lang="en-US" sz="1900" b="1"/>
            </a:br>
            <a:r>
              <a:rPr lang="en-US" sz="1900"/>
              <a:t>❌ 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public static void printArray(arr)</a:t>
            </a:r>
            <a:r>
              <a:rPr lang="en-US" sz="1900"/>
              <a:t> </a:t>
            </a:r>
            <a:r>
              <a:rPr lang="en-US" sz="1900" i="1"/>
              <a:t>(Missing type &amp; brackets → Compilation Error!)</a:t>
            </a:r>
            <a:endParaRPr sz="1900" i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8"/>
          <p:cNvSpPr txBox="1">
            <a:spLocks noGrp="1"/>
          </p:cNvSpPr>
          <p:nvPr>
            <p:ph type="sldNum" idx="12"/>
          </p:nvPr>
        </p:nvSpPr>
        <p:spPr>
          <a:xfrm>
            <a:off x="7010400" y="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graphicFrame>
        <p:nvGraphicFramePr>
          <p:cNvPr id="354" name="Google Shape;354;p18"/>
          <p:cNvGraphicFramePr/>
          <p:nvPr/>
        </p:nvGraphicFramePr>
        <p:xfrm>
          <a:off x="457200" y="304798"/>
          <a:ext cx="7620000" cy="6562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620000" imgH="6562811" progId="Word.Document.8">
                  <p:embed/>
                </p:oleObj>
              </mc:Choice>
              <mc:Fallback>
                <p:oleObj r:id="rId3" imgW="7620000" imgH="6562811" progId="Word.Document.8">
                  <p:embed/>
                  <p:pic>
                    <p:nvPicPr>
                      <p:cNvPr id="354" name="Google Shape;354;p18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457200" y="304798"/>
                        <a:ext cx="7620000" cy="65628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5" name="Google Shape;355;p18"/>
          <p:cNvGrpSpPr/>
          <p:nvPr/>
        </p:nvGrpSpPr>
        <p:grpSpPr>
          <a:xfrm>
            <a:off x="1981200" y="685799"/>
            <a:ext cx="4419600" cy="1447800"/>
            <a:chOff x="1200" y="624"/>
            <a:chExt cx="2784" cy="912"/>
          </a:xfrm>
        </p:grpSpPr>
        <p:sp>
          <p:nvSpPr>
            <p:cNvPr id="356" name="Google Shape;356;p18"/>
            <p:cNvSpPr txBox="1"/>
            <p:nvPr/>
          </p:nvSpPr>
          <p:spPr>
            <a:xfrm>
              <a:off x="2496" y="624"/>
              <a:ext cx="1488" cy="372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Declare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5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int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array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with initializer list </a:t>
              </a:r>
              <a:endParaRPr/>
            </a:p>
          </p:txBody>
        </p:sp>
        <p:cxnSp>
          <p:nvCxnSpPr>
            <p:cNvPr id="357" name="Google Shape;357;p18"/>
            <p:cNvCxnSpPr/>
            <p:nvPr/>
          </p:nvCxnSpPr>
          <p:spPr>
            <a:xfrm flipH="1">
              <a:off x="2016" y="816"/>
              <a:ext cx="480" cy="67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8" name="Google Shape;358;p18"/>
            <p:cNvCxnSpPr/>
            <p:nvPr/>
          </p:nvCxnSpPr>
          <p:spPr>
            <a:xfrm flipH="1">
              <a:off x="1200" y="816"/>
              <a:ext cx="1296" cy="72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359" name="Google Shape;359;p18"/>
          <p:cNvGrpSpPr/>
          <p:nvPr/>
        </p:nvGrpSpPr>
        <p:grpSpPr>
          <a:xfrm>
            <a:off x="2885661" y="2398642"/>
            <a:ext cx="4800600" cy="1981200"/>
            <a:chOff x="1344" y="2160"/>
            <a:chExt cx="3024" cy="1248"/>
          </a:xfrm>
        </p:grpSpPr>
        <p:sp>
          <p:nvSpPr>
            <p:cNvPr id="360" name="Google Shape;360;p18"/>
            <p:cNvSpPr txBox="1"/>
            <p:nvPr/>
          </p:nvSpPr>
          <p:spPr>
            <a:xfrm>
              <a:off x="2784" y="2160"/>
              <a:ext cx="1584" cy="372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Pass entire array to method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modifyArray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/>
            </a:p>
          </p:txBody>
        </p:sp>
        <p:cxnSp>
          <p:nvCxnSpPr>
            <p:cNvPr id="361" name="Google Shape;361;p18"/>
            <p:cNvCxnSpPr/>
            <p:nvPr/>
          </p:nvCxnSpPr>
          <p:spPr>
            <a:xfrm flipH="1">
              <a:off x="1344" y="2304"/>
              <a:ext cx="1440" cy="110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362" name="Google Shape;362;p18"/>
          <p:cNvSpPr txBox="1"/>
          <p:nvPr/>
        </p:nvSpPr>
        <p:spPr>
          <a:xfrm rot="-5400000">
            <a:off x="-1198683" y="4780085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1200" b="0">
              <a:solidFill>
                <a:srgbClr val="A59B9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" name="Google Shape;367;p19"/>
          <p:cNvGraphicFramePr/>
          <p:nvPr/>
        </p:nvGraphicFramePr>
        <p:xfrm>
          <a:off x="381000" y="446087"/>
          <a:ext cx="7046913" cy="641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046913" imgH="6411913" progId="Word.Document.8">
                  <p:embed/>
                </p:oleObj>
              </mc:Choice>
              <mc:Fallback>
                <p:oleObj r:id="rId3" imgW="7046913" imgH="6411913" progId="Word.Document.8">
                  <p:embed/>
                  <p:pic>
                    <p:nvPicPr>
                      <p:cNvPr id="367" name="Google Shape;367;p19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381000" y="446087"/>
                        <a:ext cx="7046913" cy="6411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8" name="Google Shape;368;p19"/>
          <p:cNvGrpSpPr/>
          <p:nvPr/>
        </p:nvGrpSpPr>
        <p:grpSpPr>
          <a:xfrm>
            <a:off x="3123902" y="827087"/>
            <a:ext cx="6020098" cy="849314"/>
            <a:chOff x="1079" y="288"/>
            <a:chExt cx="3241" cy="372"/>
          </a:xfrm>
        </p:grpSpPr>
        <p:sp>
          <p:nvSpPr>
            <p:cNvPr id="369" name="Google Shape;369;p19"/>
            <p:cNvSpPr txBox="1"/>
            <p:nvPr/>
          </p:nvSpPr>
          <p:spPr>
            <a:xfrm>
              <a:off x="2640" y="288"/>
              <a:ext cx="1680" cy="372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Pass array element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array[3]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to method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modifyElement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/>
            </a:p>
          </p:txBody>
        </p:sp>
        <p:cxnSp>
          <p:nvCxnSpPr>
            <p:cNvPr id="370" name="Google Shape;370;p19"/>
            <p:cNvCxnSpPr/>
            <p:nvPr/>
          </p:nvCxnSpPr>
          <p:spPr>
            <a:xfrm rot="10800000">
              <a:off x="1079" y="288"/>
              <a:ext cx="1561" cy="19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371" name="Google Shape;371;p19"/>
          <p:cNvSpPr txBox="1"/>
          <p:nvPr/>
        </p:nvSpPr>
        <p:spPr>
          <a:xfrm>
            <a:off x="6068646" y="2771844"/>
            <a:ext cx="2935357" cy="646331"/>
          </a:xfrm>
          <a:prstGeom prst="rect">
            <a:avLst/>
          </a:prstGeom>
          <a:solidFill>
            <a:srgbClr val="F0F7F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</a:t>
            </a: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modifyArray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manipulates the array directly</a:t>
            </a:r>
            <a:endParaRPr/>
          </a:p>
        </p:txBody>
      </p:sp>
      <p:cxnSp>
        <p:nvCxnSpPr>
          <p:cNvPr id="372" name="Google Shape;372;p19"/>
          <p:cNvCxnSpPr/>
          <p:nvPr/>
        </p:nvCxnSpPr>
        <p:spPr>
          <a:xfrm rot="10800000">
            <a:off x="4343810" y="2057399"/>
            <a:ext cx="1679620" cy="103760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73" name="Google Shape;373;p19"/>
          <p:cNvGrpSpPr/>
          <p:nvPr/>
        </p:nvGrpSpPr>
        <p:grpSpPr>
          <a:xfrm>
            <a:off x="4343810" y="3352800"/>
            <a:ext cx="4660193" cy="1402080"/>
            <a:chOff x="1396" y="1980"/>
            <a:chExt cx="2972" cy="552"/>
          </a:xfrm>
        </p:grpSpPr>
        <p:sp>
          <p:nvSpPr>
            <p:cNvPr id="374" name="Google Shape;374;p19"/>
            <p:cNvSpPr txBox="1"/>
            <p:nvPr/>
          </p:nvSpPr>
          <p:spPr>
            <a:xfrm>
              <a:off x="2496" y="2160"/>
              <a:ext cx="1872" cy="372"/>
            </a:xfrm>
            <a:prstGeom prst="rect">
              <a:avLst/>
            </a:prstGeom>
            <a:solidFill>
              <a:srgbClr val="F0F7F7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Method </a:t>
              </a:r>
              <a:r>
                <a:rPr lang="en-US" sz="1800">
                  <a:solidFill>
                    <a:schemeClr val="dk1"/>
                  </a:solidFill>
                  <a:latin typeface="Droid Sans Mono"/>
                  <a:ea typeface="Droid Sans Mono"/>
                  <a:cs typeface="Droid Sans Mono"/>
                  <a:sym typeface="Droid Sans Mono"/>
                </a:rPr>
                <a:t>modifyElement</a:t>
              </a: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manipulates a primitive’s copy</a:t>
              </a:r>
              <a:endParaRPr/>
            </a:p>
          </p:txBody>
        </p:sp>
        <p:cxnSp>
          <p:nvCxnSpPr>
            <p:cNvPr id="375" name="Google Shape;375;p19"/>
            <p:cNvCxnSpPr/>
            <p:nvPr/>
          </p:nvCxnSpPr>
          <p:spPr>
            <a:xfrm rot="10800000">
              <a:off x="1396" y="1980"/>
              <a:ext cx="1100" cy="23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376" name="Google Shape;376;p19"/>
          <p:cNvSpPr txBox="1"/>
          <p:nvPr/>
        </p:nvSpPr>
        <p:spPr>
          <a:xfrm rot="-5400000">
            <a:off x="-1220216" y="4780085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sz="1200" b="0">
              <a:solidFill>
                <a:srgbClr val="A59B9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af83c53717_0_55"/>
          <p:cNvSpPr txBox="1">
            <a:spLocks noGrp="1"/>
          </p:cNvSpPr>
          <p:nvPr>
            <p:ph type="sldNum" idx="12"/>
          </p:nvPr>
        </p:nvSpPr>
        <p:spPr>
          <a:xfrm rot="-5400000">
            <a:off x="-1198647" y="4821151"/>
            <a:ext cx="2625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2af83c53717_0_55"/>
          <p:cNvSpPr txBox="1"/>
          <p:nvPr/>
        </p:nvSpPr>
        <p:spPr>
          <a:xfrm>
            <a:off x="685800" y="228600"/>
            <a:ext cx="800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Test Yourself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g2af83c53717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999" y="990600"/>
            <a:ext cx="6334699" cy="402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g2af83c53717_0_55"/>
          <p:cNvSpPr txBox="1"/>
          <p:nvPr/>
        </p:nvSpPr>
        <p:spPr>
          <a:xfrm>
            <a:off x="6938350" y="1629875"/>
            <a:ext cx="1843200" cy="28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Output?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Error 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af83c53717_0_63"/>
          <p:cNvSpPr txBox="1">
            <a:spLocks noGrp="1"/>
          </p:cNvSpPr>
          <p:nvPr>
            <p:ph type="sldNum" idx="12"/>
          </p:nvPr>
        </p:nvSpPr>
        <p:spPr>
          <a:xfrm rot="-5400000">
            <a:off x="-1198647" y="4821151"/>
            <a:ext cx="2625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2af83c53717_0_63"/>
          <p:cNvSpPr txBox="1"/>
          <p:nvPr/>
        </p:nvSpPr>
        <p:spPr>
          <a:xfrm>
            <a:off x="685800" y="228600"/>
            <a:ext cx="800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Test Yourself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2af83c53717_0_63"/>
          <p:cNvSpPr txBox="1"/>
          <p:nvPr/>
        </p:nvSpPr>
        <p:spPr>
          <a:xfrm>
            <a:off x="5602450" y="4713400"/>
            <a:ext cx="2205600" cy="20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 b="1"/>
              <a:t>A) </a:t>
            </a:r>
            <a:r>
              <a:rPr lang="en-US" sz="19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99 2 99</a:t>
            </a:r>
            <a:endParaRPr sz="19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 b="1"/>
              <a:t>B) </a:t>
            </a:r>
            <a:r>
              <a:rPr lang="en-US" sz="19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1 2 99</a:t>
            </a:r>
            <a:endParaRPr sz="19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 b="1"/>
              <a:t>C) </a:t>
            </a:r>
            <a:r>
              <a:rPr lang="en-US" sz="19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1 2 1</a:t>
            </a:r>
            <a:endParaRPr sz="1900"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US" sz="1900" b="1"/>
              <a:t>D) </a:t>
            </a:r>
            <a:r>
              <a:rPr lang="en-US" sz="19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1 2 99 10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g2af83c53717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990600"/>
            <a:ext cx="8782225" cy="347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1"/>
          <p:cNvSpPr txBox="1">
            <a:spLocks noGrp="1"/>
          </p:cNvSpPr>
          <p:nvPr>
            <p:ph type="sldNum" idx="12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1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239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cap="small">
                <a:solidFill>
                  <a:srgbClr val="C00000"/>
                </a:solidFill>
              </a:rPr>
              <a:t>Multidimensional Arrays</a:t>
            </a:r>
            <a:endParaRPr/>
          </a:p>
        </p:txBody>
      </p:sp>
      <p:sp>
        <p:nvSpPr>
          <p:cNvPr id="406" name="Google Shape;406;p21"/>
          <p:cNvSpPr txBox="1">
            <a:spLocks noGrp="1"/>
          </p:cNvSpPr>
          <p:nvPr>
            <p:ph type="body" idx="1"/>
          </p:nvPr>
        </p:nvSpPr>
        <p:spPr>
          <a:xfrm>
            <a:off x="533400" y="1066800"/>
            <a:ext cx="81534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Char char="»"/>
            </a:pPr>
            <a:r>
              <a:rPr lang="en-US" sz="3400"/>
              <a:t>Tables with rows and columns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˃"/>
            </a:pPr>
            <a:r>
              <a:rPr lang="en-US" sz="2400"/>
              <a:t>Two-dimensional array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˃"/>
            </a:pPr>
            <a:r>
              <a:rPr lang="en-US" sz="2400"/>
              <a:t>m-by-n array</a:t>
            </a:r>
            <a:endParaRPr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</p:txBody>
      </p:sp>
      <p:pic>
        <p:nvPicPr>
          <p:cNvPr id="407" name="Google Shape;407;p21" descr="AAEMYRP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304" y="3276600"/>
            <a:ext cx="77724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2"/>
          <p:cNvSpPr txBox="1">
            <a:spLocks noGrp="1"/>
          </p:cNvSpPr>
          <p:nvPr>
            <p:ph type="sldNum" idx="12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2"/>
          <p:cNvSpPr txBox="1">
            <a:spLocks noGrp="1"/>
          </p:cNvSpPr>
          <p:nvPr>
            <p:ph type="body" idx="1"/>
          </p:nvPr>
        </p:nvSpPr>
        <p:spPr>
          <a:xfrm>
            <a:off x="533400" y="10668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»"/>
            </a:pPr>
            <a:r>
              <a:rPr lang="en-US" sz="3200"/>
              <a:t>Arrays of one-dimensional array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Declaring two-dimensional array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b[2][2]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Droid Sans Mono"/>
              <a:buNone/>
            </a:pPr>
            <a:r>
              <a:rPr lang="en-US" sz="2400">
                <a:solidFill>
                  <a:schemeClr val="hlink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</a:t>
            </a:r>
            <a:r>
              <a:rPr lang="en-US" sz="240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 b[][] = { { </a:t>
            </a:r>
            <a:r>
              <a:rPr lang="en-US" sz="24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, </a:t>
            </a:r>
            <a:r>
              <a:rPr lang="en-US" sz="24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 }, { </a:t>
            </a:r>
            <a:r>
              <a:rPr lang="en-US" sz="24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3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, </a:t>
            </a:r>
            <a:r>
              <a:rPr lang="en-US" sz="24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4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 } };</a:t>
            </a:r>
            <a:endParaRPr/>
          </a:p>
          <a:p>
            <a:pPr marL="1600200" lvl="3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1</a:t>
            </a:r>
            <a:r>
              <a:rPr lang="en-US" sz="2400"/>
              <a:t> and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2</a:t>
            </a:r>
            <a:r>
              <a:rPr lang="en-US" sz="2400"/>
              <a:t> initialize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b[0][0]</a:t>
            </a:r>
            <a:r>
              <a:rPr lang="en-US" sz="2400"/>
              <a:t> and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b[0][1]</a:t>
            </a:r>
            <a:endParaRPr/>
          </a:p>
          <a:p>
            <a:pPr marL="1600200" lvl="3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3</a:t>
            </a:r>
            <a:r>
              <a:rPr lang="en-US" sz="2400"/>
              <a:t> and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4</a:t>
            </a:r>
            <a:r>
              <a:rPr lang="en-US" sz="2400"/>
              <a:t> initialize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b[1][0]</a:t>
            </a:r>
            <a:r>
              <a:rPr lang="en-US" sz="2400"/>
              <a:t> and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b[1][1]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Droid Sans Mono"/>
              <a:buNone/>
            </a:pPr>
            <a:r>
              <a:rPr lang="en-US" sz="2400">
                <a:solidFill>
                  <a:schemeClr val="hlink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</a:t>
            </a:r>
            <a:r>
              <a:rPr lang="en-US" sz="240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 b[][] = { { </a:t>
            </a:r>
            <a:r>
              <a:rPr lang="en-US" sz="24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, </a:t>
            </a:r>
            <a:r>
              <a:rPr lang="en-US" sz="24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 }, { </a:t>
            </a:r>
            <a:r>
              <a:rPr lang="en-US" sz="24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3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, </a:t>
            </a:r>
            <a:r>
              <a:rPr lang="en-US" sz="24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4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, </a:t>
            </a:r>
            <a:r>
              <a:rPr lang="en-US" sz="24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5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 } };</a:t>
            </a:r>
            <a:endParaRPr/>
          </a:p>
          <a:p>
            <a:pPr marL="1600200" lvl="3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row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0</a:t>
            </a:r>
            <a:r>
              <a:rPr lang="en-US" sz="2400"/>
              <a:t> contains elements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1</a:t>
            </a:r>
            <a:r>
              <a:rPr lang="en-US" sz="2400"/>
              <a:t> and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2</a:t>
            </a:r>
            <a:endParaRPr/>
          </a:p>
          <a:p>
            <a:pPr marL="1600200" lvl="3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row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1</a:t>
            </a:r>
            <a:r>
              <a:rPr lang="en-US" sz="2400"/>
              <a:t> contains elements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3</a:t>
            </a:r>
            <a:r>
              <a:rPr lang="en-US" sz="2400"/>
              <a:t>,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4</a:t>
            </a:r>
            <a:r>
              <a:rPr lang="en-US" sz="2400"/>
              <a:t> and 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5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Lengths of rows in array are not required to be the same!</a:t>
            </a:r>
            <a:endParaRPr sz="240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endParaRPr sz="3200"/>
          </a:p>
        </p:txBody>
      </p:sp>
      <p:sp>
        <p:nvSpPr>
          <p:cNvPr id="414" name="Google Shape;414;p22"/>
          <p:cNvSpPr txBox="1"/>
          <p:nvPr/>
        </p:nvSpPr>
        <p:spPr>
          <a:xfrm>
            <a:off x="609600" y="304800"/>
            <a:ext cx="7239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Multidimensional Arrays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3"/>
          <p:cNvSpPr txBox="1">
            <a:spLocks noGrp="1"/>
          </p:cNvSpPr>
          <p:nvPr>
            <p:ph type="sldNum" idx="12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3"/>
          <p:cNvSpPr txBox="1">
            <a:spLocks noGrp="1"/>
          </p:cNvSpPr>
          <p:nvPr>
            <p:ph type="body" idx="1"/>
          </p:nvPr>
        </p:nvSpPr>
        <p:spPr>
          <a:xfrm>
            <a:off x="228600" y="838200"/>
            <a:ext cx="88530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»"/>
            </a:pPr>
            <a:r>
              <a:rPr lang="en-US" sz="3200"/>
              <a:t>Creating two-dimensional arrays with array-creation expressions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/>
              <a:t> Can be created dynamically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3</a:t>
            </a:r>
            <a:r>
              <a:rPr lang="en-US" sz="2400"/>
              <a:t>-by-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4</a:t>
            </a:r>
            <a:r>
              <a:rPr lang="en-US" sz="2400"/>
              <a:t> array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roid Sans Mono"/>
              <a:buNone/>
            </a:pP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	 </a:t>
            </a:r>
            <a:r>
              <a:rPr lang="en-US" sz="240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 b[][];</a:t>
            </a:r>
            <a:b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 b = </a:t>
            </a:r>
            <a:r>
              <a:rPr lang="en-US" sz="240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new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en-US" sz="240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[ </a:t>
            </a:r>
            <a:r>
              <a:rPr lang="en-US" sz="24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3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 ][</a:t>
            </a:r>
            <a:r>
              <a:rPr lang="en-US" sz="2400">
                <a:solidFill>
                  <a:schemeClr val="accen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en-US" sz="24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4</a:t>
            </a:r>
            <a:r>
              <a:rPr lang="en-US" sz="2400">
                <a:latin typeface="Droid Sans Mono"/>
                <a:ea typeface="Droid Sans Mono"/>
                <a:cs typeface="Droid Sans Mono"/>
                <a:sym typeface="Droid Sans Mono"/>
              </a:rPr>
              <a:t> ];</a:t>
            </a:r>
            <a:endParaRPr/>
          </a:p>
          <a:p>
            <a:pPr marL="1143000" lvl="2" indent="-2222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▪"/>
            </a:pPr>
            <a:r>
              <a:rPr lang="en-US" sz="2300"/>
              <a:t>Rows can have different number of columns</a:t>
            </a:r>
            <a:endParaRPr sz="1700"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Droid Sans Mono"/>
              <a:buNone/>
            </a:pPr>
            <a:r>
              <a:rPr lang="en-US" sz="1900">
                <a:solidFill>
                  <a:schemeClr val="hlink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en-US" sz="190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 b[][];</a:t>
            </a:r>
            <a:endParaRPr sz="1700"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roid Sans Mono"/>
              <a:buNone/>
            </a:pP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 b = </a:t>
            </a:r>
            <a:r>
              <a:rPr lang="en-US" sz="190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new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en-US" sz="190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[ </a:t>
            </a:r>
            <a:r>
              <a:rPr lang="en-US" sz="19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 ][ ];   </a:t>
            </a:r>
            <a:r>
              <a:rPr lang="en-US" sz="1900">
                <a:solidFill>
                  <a:srgbClr val="33CC33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// create 2 rows</a:t>
            </a:r>
            <a:b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b[ </a:t>
            </a:r>
            <a:r>
              <a:rPr lang="en-US" sz="19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0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 ] = </a:t>
            </a:r>
            <a:r>
              <a:rPr lang="en-US" sz="190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new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en-US" sz="190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[ </a:t>
            </a:r>
            <a:r>
              <a:rPr lang="en-US" sz="19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5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 ]; </a:t>
            </a:r>
            <a:r>
              <a:rPr lang="en-US" sz="1900">
                <a:solidFill>
                  <a:srgbClr val="33CC33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// create 5 cols for row 0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b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b[ </a:t>
            </a:r>
            <a:r>
              <a:rPr lang="en-US" sz="19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 ] = </a:t>
            </a:r>
            <a:r>
              <a:rPr lang="en-US" sz="190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new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en-US" sz="1900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[ </a:t>
            </a:r>
            <a:r>
              <a:rPr lang="en-US" sz="1900">
                <a:solidFill>
                  <a:srgbClr val="0099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3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 ]; </a:t>
            </a:r>
            <a:r>
              <a:rPr lang="en-US" sz="1900">
                <a:solidFill>
                  <a:srgbClr val="33CC33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// create 3 cols</a:t>
            </a:r>
            <a:r>
              <a:rPr lang="en-US" sz="2300">
                <a:solidFill>
                  <a:srgbClr val="33CC33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en-US" sz="1900">
                <a:solidFill>
                  <a:srgbClr val="33CC33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for row 1</a:t>
            </a:r>
            <a:endParaRPr sz="1700"/>
          </a:p>
        </p:txBody>
      </p:sp>
      <p:sp>
        <p:nvSpPr>
          <p:cNvPr id="421" name="Google Shape;421;p23"/>
          <p:cNvSpPr txBox="1"/>
          <p:nvPr/>
        </p:nvSpPr>
        <p:spPr>
          <a:xfrm>
            <a:off x="609600" y="304800"/>
            <a:ext cx="7239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Multidimensional Arrays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af83c53717_0_0"/>
          <p:cNvSpPr txBox="1">
            <a:spLocks noGrp="1"/>
          </p:cNvSpPr>
          <p:nvPr>
            <p:ph type="sldNum" idx="12"/>
          </p:nvPr>
        </p:nvSpPr>
        <p:spPr>
          <a:xfrm rot="-5400000">
            <a:off x="-1198647" y="4821151"/>
            <a:ext cx="2625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2af83c53717_0_0"/>
          <p:cNvSpPr txBox="1">
            <a:spLocks noGrp="1"/>
          </p:cNvSpPr>
          <p:nvPr>
            <p:ph type="body" idx="1"/>
          </p:nvPr>
        </p:nvSpPr>
        <p:spPr>
          <a:xfrm>
            <a:off x="444025" y="838200"/>
            <a:ext cx="86376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»"/>
            </a:pPr>
            <a:r>
              <a:rPr lang="en-US" sz="3200"/>
              <a:t>Creating two-dimensional arrays </a:t>
            </a:r>
            <a:endParaRPr sz="3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int[][] b = new int[2][];</a:t>
            </a: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2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</a:t>
            </a:r>
            <a:endParaRPr sz="23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int[][] b = new int[][];</a:t>
            </a: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2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Invalid (compiler error)</a:t>
            </a:r>
            <a:endParaRPr sz="23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int[][] b = new int[3][4];</a:t>
            </a: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2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</a:t>
            </a:r>
            <a:endParaRPr sz="23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int[][] b = { {1,2}, {3,4,5} };</a:t>
            </a: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2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</a:t>
            </a:r>
            <a:endParaRPr sz="23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428" name="Google Shape;428;g2af83c53717_0_0"/>
          <p:cNvSpPr txBox="1"/>
          <p:nvPr/>
        </p:nvSpPr>
        <p:spPr>
          <a:xfrm>
            <a:off x="609600" y="304800"/>
            <a:ext cx="7239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Multidimensional Arrays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af83c53717_0_28"/>
          <p:cNvSpPr txBox="1">
            <a:spLocks noGrp="1"/>
          </p:cNvSpPr>
          <p:nvPr>
            <p:ph type="sldNum" idx="12"/>
          </p:nvPr>
        </p:nvSpPr>
        <p:spPr>
          <a:xfrm rot="-5400000">
            <a:off x="-1198647" y="4821151"/>
            <a:ext cx="2625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2af83c53717_0_28"/>
          <p:cNvSpPr txBox="1"/>
          <p:nvPr/>
        </p:nvSpPr>
        <p:spPr>
          <a:xfrm>
            <a:off x="609600" y="304800"/>
            <a:ext cx="7239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Multidimensional Arrays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5" name="Google Shape;435;g2af83c53717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236" y="1238000"/>
            <a:ext cx="8539925" cy="368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af83c53717_0_35"/>
          <p:cNvSpPr txBox="1">
            <a:spLocks noGrp="1"/>
          </p:cNvSpPr>
          <p:nvPr>
            <p:ph type="sldNum" idx="12"/>
          </p:nvPr>
        </p:nvSpPr>
        <p:spPr>
          <a:xfrm rot="-5400000">
            <a:off x="-1198647" y="4821151"/>
            <a:ext cx="2625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2af83c53717_0_35"/>
          <p:cNvSpPr txBox="1"/>
          <p:nvPr/>
        </p:nvSpPr>
        <p:spPr>
          <a:xfrm>
            <a:off x="609600" y="304800"/>
            <a:ext cx="7239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Multidimensional Arrays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2" name="Google Shape;442;g2af83c53717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999" y="838200"/>
            <a:ext cx="8593074" cy="462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g2af83c53717_0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7788" y="4905363"/>
            <a:ext cx="4486275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af83c53717_0_43"/>
          <p:cNvSpPr txBox="1">
            <a:spLocks noGrp="1"/>
          </p:cNvSpPr>
          <p:nvPr>
            <p:ph type="sldNum" idx="12"/>
          </p:nvPr>
        </p:nvSpPr>
        <p:spPr>
          <a:xfrm rot="-5400000">
            <a:off x="-1198647" y="4821151"/>
            <a:ext cx="2625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38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2af83c53717_0_43"/>
          <p:cNvSpPr txBox="1"/>
          <p:nvPr/>
        </p:nvSpPr>
        <p:spPr>
          <a:xfrm>
            <a:off x="609600" y="304800"/>
            <a:ext cx="7239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Multidimensional Arrays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2af83c53717_0_43"/>
          <p:cNvSpPr txBox="1"/>
          <p:nvPr/>
        </p:nvSpPr>
        <p:spPr>
          <a:xfrm>
            <a:off x="6554875" y="838200"/>
            <a:ext cx="1843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Output?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g2af83c53717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3" y="1524000"/>
            <a:ext cx="754380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g2af83c53717_0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3" y="4140113"/>
            <a:ext cx="8105775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g2af83c53717_0_43"/>
          <p:cNvSpPr txBox="1"/>
          <p:nvPr/>
        </p:nvSpPr>
        <p:spPr>
          <a:xfrm>
            <a:off x="6484625" y="3514100"/>
            <a:ext cx="1843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Output?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1"/>
          <p:cNvSpPr txBox="1"/>
          <p:nvPr/>
        </p:nvSpPr>
        <p:spPr>
          <a:xfrm>
            <a:off x="638175" y="2286000"/>
            <a:ext cx="80772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rial"/>
              <a:buNone/>
            </a:pPr>
            <a:r>
              <a:rPr lang="en-US" sz="40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Questions/Answers &amp;</a:t>
            </a:r>
            <a:endParaRPr/>
          </a:p>
          <a:p>
            <a:pPr marL="0" marR="0" lvl="0" indent="0" algn="ctr" rtl="0"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rial"/>
              <a:buNone/>
            </a:pPr>
            <a:r>
              <a:rPr lang="en-US" sz="40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/>
          </a:p>
        </p:txBody>
      </p:sp>
      <p:sp>
        <p:nvSpPr>
          <p:cNvPr id="542" name="Google Shape;542;p3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rmal">
  <a:themeElements>
    <a:clrScheme name="Thermal">
      <a:dk1>
        <a:srgbClr val="4D5B6B"/>
      </a:dk1>
      <a:lt1>
        <a:srgbClr val="FFFFFF"/>
      </a:lt1>
      <a:dk2>
        <a:srgbClr val="675D59"/>
      </a:dk2>
      <a:lt2>
        <a:srgbClr val="E8DED8"/>
      </a:lt2>
      <a:accent1>
        <a:srgbClr val="FF7605"/>
      </a:accent1>
      <a:accent2>
        <a:srgbClr val="7F7F7F"/>
      </a:accent2>
      <a:accent3>
        <a:srgbClr val="7F5185"/>
      </a:accent3>
      <a:accent4>
        <a:srgbClr val="89AAD3"/>
      </a:accent4>
      <a:accent5>
        <a:srgbClr val="8F5B4B"/>
      </a:accent5>
      <a:accent6>
        <a:srgbClr val="C84340"/>
      </a:accent6>
      <a:hlink>
        <a:srgbClr val="89AAD3"/>
      </a:hlink>
      <a:folHlink>
        <a:srgbClr val="7951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1920</Words>
  <Application>Microsoft Office PowerPoint</Application>
  <PresentationFormat>On-screen Show (4:3)</PresentationFormat>
  <Paragraphs>288</Paragraphs>
  <Slides>39</Slides>
  <Notes>39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Times New Roman</vt:lpstr>
      <vt:lpstr>Calibri</vt:lpstr>
      <vt:lpstr>Arial</vt:lpstr>
      <vt:lpstr>Droid Sans Mono</vt:lpstr>
      <vt:lpstr>Noto Sans Symbols</vt:lpstr>
      <vt:lpstr>Roboto Mono</vt:lpstr>
      <vt:lpstr>Courier New</vt:lpstr>
      <vt:lpstr>Thermal</vt:lpstr>
      <vt:lpstr>Microsoft Word 97 - 2003 Document</vt:lpstr>
      <vt:lpstr>CS212: Object-Oriented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- Arrays</vt:lpstr>
      <vt:lpstr>Arrays Index</vt:lpstr>
      <vt:lpstr>Declaring and Creating Arrays (in Java)</vt:lpstr>
      <vt:lpstr>Important Notes</vt:lpstr>
      <vt:lpstr>Important Notes</vt:lpstr>
      <vt:lpstr>PowerPoint Presentation</vt:lpstr>
      <vt:lpstr>Examples Using Arrays (Cont.)</vt:lpstr>
      <vt:lpstr>PowerPoint Presentation</vt:lpstr>
      <vt:lpstr>Important Notes</vt:lpstr>
      <vt:lpstr>Calculate the values to store in array</vt:lpstr>
      <vt:lpstr>PowerPoint Presentation</vt:lpstr>
      <vt:lpstr>PowerPoint Presentation</vt:lpstr>
      <vt:lpstr>PowerPoint Presentation</vt:lpstr>
      <vt:lpstr>Error-Prevention Tips</vt:lpstr>
      <vt:lpstr>Enhanced For Loop Statement</vt:lpstr>
      <vt:lpstr>Enhanced For Loop Statement</vt:lpstr>
      <vt:lpstr>Enhanced For Loop Statement</vt:lpstr>
      <vt:lpstr>Passing Arrays to Methods</vt:lpstr>
      <vt:lpstr>Passing Arrays to Methods</vt:lpstr>
      <vt:lpstr>Defining Methods with Array Parameters</vt:lpstr>
      <vt:lpstr>PowerPoint Presentation</vt:lpstr>
      <vt:lpstr>PowerPoint Presentation</vt:lpstr>
      <vt:lpstr>PowerPoint Presentation</vt:lpstr>
      <vt:lpstr>PowerPoint Presentation</vt:lpstr>
      <vt:lpstr>Multidimensional 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Mian M. Hamayun</dc:creator>
  <cp:lastModifiedBy>Ayesha Kanwal</cp:lastModifiedBy>
  <cp:revision>4</cp:revision>
  <dcterms:created xsi:type="dcterms:W3CDTF">2014-02-05T17:22:40Z</dcterms:created>
  <dcterms:modified xsi:type="dcterms:W3CDTF">2026-01-27T09:00:11Z</dcterms:modified>
</cp:coreProperties>
</file>